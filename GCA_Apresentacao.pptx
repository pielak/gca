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F6B0D1-5F79-4D3C-90C9-A22726DF2F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142D4C-B480-4AD1-B640-A635A746F8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000BB53-34CA-4E6E-AE53-830EACFD33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18C4D4-17B2-4289-BB5C-11B4294B18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2CE8FAF-8F91-4477-989D-AD95B46D56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3C06919-630D-475C-9A90-E7A883D7F1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EB41BC0-D802-4A04-8293-C54FE0D1DA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5C742DA-A48B-4FFF-B6A8-561FC63B8E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F548109-3D6D-4D9C-A7B4-8409498D79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BE7AF10-AF26-4936-A75C-6DD7E258CD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AE9AD22-EED4-4BB3-9840-E0273B4988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F1F8B5-77FD-401E-AE52-3BF143D81A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32E2CB-8CBE-4A59-BC62-F8A69A6C45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CA2BB4-9C51-44C3-8DBC-095EA2E95A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ADA6E6-FC1E-4DCD-B1B6-8FBA883191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Master 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45F0D4-73FA-4C52-9796-EBB654AFCC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907268-599A-4864-8975-6829C9FEF8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BA2EF2-BDF5-498A-A436-35A62309B6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10AE9D-C6DB-4E37-8E82-5BDA01A446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294335-245B-4437-A54E-DDF9B6E966F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para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editar 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do texto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do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1A166C-48E0-479B-A921-1F0904C414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26EBCD-DA73-4CA0-9186-FE22A7FBFC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gca-logo-200.png"/>
          <p:cNvPicPr/>
          <p:nvPr/>
        </p:nvPicPr>
        <p:blipFill>
          <a:blip r:embed="rId1"/>
          <a:stretch/>
        </p:blipFill>
        <p:spPr>
          <a:xfrm>
            <a:off x="5029200" y="914400"/>
            <a:ext cx="2102760" cy="1408680"/>
          </a:xfrm>
          <a:prstGeom prst="rect">
            <a:avLst/>
          </a:prstGeom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1820520" y="2789640"/>
            <a:ext cx="82292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a78bfa"/>
                </a:solidFill>
                <a:latin typeface="Segoe UI"/>
              </a:rPr>
              <a:t>GCA</a:t>
            </a:r>
            <a:endParaRPr b="0" lang="pt-BR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828800" y="393192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1f5f9"/>
                </a:solidFill>
                <a:latin typeface="Segoe UI"/>
              </a:rPr>
              <a:t>Gestão de Codificação Assistida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828800" y="4754880"/>
            <a:ext cx="8229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94a3b8"/>
                </a:solidFill>
                <a:latin typeface="Segoe UI"/>
              </a:rPr>
              <a:t>Governança inteligente para desenvolvimento de software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1828800" y="5943600"/>
            <a:ext cx="8229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Segoe UI"/>
              </a:rPr>
              <a:t>2026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73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O Problema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720000" y="900000"/>
            <a:ext cx="10515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1f5f9"/>
                </a:solidFill>
                <a:latin typeface="Segoe UI"/>
              </a:rPr>
              <a:t>Projetos de software falham por falta de governança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731520" y="210312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1097280" y="205740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70% dos projetos de TI excedem prazo e orçamento por requisitos mal definidos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ounded Rectangle 6"/>
          <p:cNvSpPr/>
          <p:nvPr/>
        </p:nvSpPr>
        <p:spPr>
          <a:xfrm>
            <a:off x="731520" y="274320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1097280" y="269748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Documentação desatualizada gera retrabalho e código que não atende o negócio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ounded Rectangle 8"/>
          <p:cNvSpPr/>
          <p:nvPr/>
        </p:nvSpPr>
        <p:spPr>
          <a:xfrm>
            <a:off x="731520" y="338328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1097280" y="333756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Decisões de arquitetura sem rastreabilidade comprometem qualidade e segurança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ounded Rectangle 10"/>
          <p:cNvSpPr/>
          <p:nvPr/>
        </p:nvSpPr>
        <p:spPr>
          <a:xfrm>
            <a:off x="731520" y="402336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1097280" y="397764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Equipes gastam 40% do tempo em tarefas que poderiam ser automatizadas por IA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Rounded Rectangle 12"/>
          <p:cNvSpPr/>
          <p:nvPr/>
        </p:nvSpPr>
        <p:spPr>
          <a:xfrm>
            <a:off x="731520" y="466344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1097280" y="461772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Compliance (LGPD, GDPR) é verificado tarde demais — quando já é caro corrigir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ounded Rectangle 14"/>
          <p:cNvSpPr/>
          <p:nvPr/>
        </p:nvSpPr>
        <p:spPr>
          <a:xfrm>
            <a:off x="731520" y="530352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1097280" y="525780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Sem visão unificada, GP não sabe o estado real do projeto até ser tarde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88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A Solução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731520" y="1097280"/>
            <a:ext cx="105152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1f5f9"/>
                </a:solidFill>
                <a:latin typeface="Segoe UI"/>
              </a:rPr>
              <a:t>GCA — Inteligência Artificial aplicada à governança de código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731520" y="2103120"/>
            <a:ext cx="10058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94a3b8"/>
                </a:solidFill>
                <a:latin typeface="Segoe UI"/>
              </a:rPr>
              <a:t>O GCA é uma plataforma que governa todo o ciclo de vida de um projeto de software: da concepção (questionário técnico) até a entrega (código gerado e testado), usando IA para analisar, validar e gerar artefatos com rastreabilidade total.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ounded Rectangle 5"/>
          <p:cNvSpPr/>
          <p:nvPr/>
        </p:nvSpPr>
        <p:spPr>
          <a:xfrm>
            <a:off x="731520" y="347472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1005840" y="3611880"/>
            <a:ext cx="914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1f5f9"/>
                </a:solidFill>
                <a:latin typeface="Segoe UI"/>
              </a:rPr>
              <a:t>🧠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1645920" y="361188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1f5f9"/>
                </a:solidFill>
                <a:latin typeface="Segoe UI"/>
              </a:rPr>
              <a:t>OCG — Inteligência Viva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1645920" y="4023360"/>
            <a:ext cx="3657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Objeto de Contexto Global que evolui com cada documento ingerido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ounded Rectangle 9"/>
          <p:cNvSpPr/>
          <p:nvPr/>
        </p:nvSpPr>
        <p:spPr>
          <a:xfrm>
            <a:off x="6217920" y="347472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6492240" y="3611880"/>
            <a:ext cx="914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1f5f9"/>
                </a:solidFill>
                <a:latin typeface="Segoe UI"/>
              </a:rPr>
              <a:t>🔒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7132320" y="361188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1f5f9"/>
                </a:solidFill>
                <a:latin typeface="Segoe UI"/>
              </a:rPr>
              <a:t>7 Pilares de Qualidade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7132320" y="4023360"/>
            <a:ext cx="3657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Negócio, Compliance, Escopo, Performance, Arquitetura, Dados, Segurança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13"/>
          <p:cNvSpPr/>
          <p:nvPr/>
        </p:nvSpPr>
        <p:spPr>
          <a:xfrm>
            <a:off x="731520" y="484632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1005840" y="4983480"/>
            <a:ext cx="914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1f5f9"/>
                </a:solidFill>
                <a:latin typeface="Segoe UI"/>
              </a:rPr>
              <a:t>🤖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15"/>
          <p:cNvSpPr/>
          <p:nvPr/>
        </p:nvSpPr>
        <p:spPr>
          <a:xfrm>
            <a:off x="1645920" y="498348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1f5f9"/>
                </a:solidFill>
                <a:latin typeface="Segoe UI"/>
              </a:rPr>
              <a:t>8 Agentes de IA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16"/>
          <p:cNvSpPr/>
          <p:nvPr/>
        </p:nvSpPr>
        <p:spPr>
          <a:xfrm>
            <a:off x="1645920" y="5394960"/>
            <a:ext cx="3657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Pipeline que avalia, classifica e consolida requisitos automaticamente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ounded Rectangle 17"/>
          <p:cNvSpPr/>
          <p:nvPr/>
        </p:nvSpPr>
        <p:spPr>
          <a:xfrm>
            <a:off x="6217920" y="484632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6492240" y="4983480"/>
            <a:ext cx="914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1f5f9"/>
                </a:solidFill>
                <a:latin typeface="Segoe UI"/>
              </a:rPr>
              <a:t>📊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19"/>
          <p:cNvSpPr/>
          <p:nvPr/>
        </p:nvSpPr>
        <p:spPr>
          <a:xfrm>
            <a:off x="7132320" y="498348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1f5f9"/>
                </a:solidFill>
                <a:latin typeface="Segoe UI"/>
              </a:rPr>
              <a:t>Billing Transparente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7132320" y="5394960"/>
            <a:ext cx="3657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Custo de IA por projeto, por operação, em tempo real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108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Pipeline do Projeto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731520" y="914400"/>
            <a:ext cx="10515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1f5f9"/>
                </a:solidFill>
                <a:latin typeface="Segoe UI"/>
              </a:rPr>
              <a:t>Do questionário ao código — governado pelo OCG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45720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54864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7c3aed"/>
                </a:solidFill>
                <a:latin typeface="Segoe UI"/>
              </a:rPr>
              <a:t>Questionário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54864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49 perguntas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8 blocos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169164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Rounded Rectangle 8"/>
          <p:cNvSpPr/>
          <p:nvPr/>
        </p:nvSpPr>
        <p:spPr>
          <a:xfrm>
            <a:off x="187452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196596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87171"/>
                </a:solidFill>
                <a:latin typeface="Segoe UI"/>
              </a:rPr>
              <a:t>Repositório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196596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Git do projeto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(bloqueante)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11"/>
          <p:cNvSpPr/>
          <p:nvPr/>
        </p:nvSpPr>
        <p:spPr>
          <a:xfrm>
            <a:off x="310896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Rounded Rectangle 12"/>
          <p:cNvSpPr/>
          <p:nvPr/>
        </p:nvSpPr>
        <p:spPr>
          <a:xfrm>
            <a:off x="329184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338328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Segoe UI"/>
              </a:rPr>
              <a:t>Ingestão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Box 14"/>
          <p:cNvSpPr/>
          <p:nvPr/>
        </p:nvSpPr>
        <p:spPr>
          <a:xfrm>
            <a:off x="338328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Docs, código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PII detection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15"/>
          <p:cNvSpPr/>
          <p:nvPr/>
        </p:nvSpPr>
        <p:spPr>
          <a:xfrm>
            <a:off x="452628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ounded Rectangle 16"/>
          <p:cNvSpPr/>
          <p:nvPr/>
        </p:nvSpPr>
        <p:spPr>
          <a:xfrm>
            <a:off x="470916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480060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bbf24"/>
                </a:solidFill>
                <a:latin typeface="Segoe UI"/>
              </a:rPr>
              <a:t>Gatekeeper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18"/>
          <p:cNvSpPr/>
          <p:nvPr/>
        </p:nvSpPr>
        <p:spPr>
          <a:xfrm>
            <a:off x="480060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7 pilares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scores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9"/>
          <p:cNvSpPr/>
          <p:nvPr/>
        </p:nvSpPr>
        <p:spPr>
          <a:xfrm>
            <a:off x="594360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ounded Rectangle 20"/>
          <p:cNvSpPr/>
          <p:nvPr/>
        </p:nvSpPr>
        <p:spPr>
          <a:xfrm>
            <a:off x="612648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21"/>
          <p:cNvSpPr/>
          <p:nvPr/>
        </p:nvSpPr>
        <p:spPr>
          <a:xfrm>
            <a:off x="621792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4d399"/>
                </a:solidFill>
                <a:latin typeface="Segoe UI"/>
              </a:rPr>
              <a:t>Arguidor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22"/>
          <p:cNvSpPr/>
          <p:nvPr/>
        </p:nvSpPr>
        <p:spPr>
          <a:xfrm>
            <a:off x="621792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Gaps e lacunas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altera OCG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23"/>
          <p:cNvSpPr/>
          <p:nvPr/>
        </p:nvSpPr>
        <p:spPr>
          <a:xfrm>
            <a:off x="736092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ounded Rectangle 24"/>
          <p:cNvSpPr/>
          <p:nvPr/>
        </p:nvSpPr>
        <p:spPr>
          <a:xfrm>
            <a:off x="754380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5"/>
          <p:cNvSpPr/>
          <p:nvPr/>
        </p:nvSpPr>
        <p:spPr>
          <a:xfrm>
            <a:off x="7635240" y="2103120"/>
            <a:ext cx="10969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7c3aed"/>
                </a:solidFill>
                <a:latin typeface="Segoe UI"/>
              </a:rPr>
              <a:t>Geração</a:t>
            </a:r>
            <a:br>
              <a:rPr sz="1100"/>
            </a:br>
            <a:r>
              <a:rPr b="1" lang="en-US" sz="1100" spc="-1" strike="noStrike">
                <a:solidFill>
                  <a:srgbClr val="7c3aed"/>
                </a:solidFill>
                <a:latin typeface="Segoe UI"/>
              </a:rPr>
              <a:t>de Código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26"/>
          <p:cNvSpPr/>
          <p:nvPr/>
        </p:nvSpPr>
        <p:spPr>
          <a:xfrm>
            <a:off x="763524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IA + humano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testes auto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27"/>
          <p:cNvSpPr/>
          <p:nvPr/>
        </p:nvSpPr>
        <p:spPr>
          <a:xfrm>
            <a:off x="877824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ounded Rectangle 28"/>
          <p:cNvSpPr/>
          <p:nvPr/>
        </p:nvSpPr>
        <p:spPr>
          <a:xfrm>
            <a:off x="896112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29"/>
          <p:cNvSpPr/>
          <p:nvPr/>
        </p:nvSpPr>
        <p:spPr>
          <a:xfrm>
            <a:off x="905256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Segoe UI"/>
              </a:rPr>
              <a:t>Backlog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30"/>
          <p:cNvSpPr/>
          <p:nvPr/>
        </p:nvSpPr>
        <p:spPr>
          <a:xfrm>
            <a:off x="905256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33+ itens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do OCG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31"/>
          <p:cNvSpPr/>
          <p:nvPr/>
        </p:nvSpPr>
        <p:spPr>
          <a:xfrm>
            <a:off x="1019556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ounded Rectangle 32"/>
          <p:cNvSpPr/>
          <p:nvPr/>
        </p:nvSpPr>
        <p:spPr>
          <a:xfrm>
            <a:off x="1037844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33"/>
          <p:cNvSpPr/>
          <p:nvPr/>
        </p:nvSpPr>
        <p:spPr>
          <a:xfrm>
            <a:off x="1046988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4d399"/>
                </a:solidFill>
                <a:latin typeface="Segoe UI"/>
              </a:rPr>
              <a:t>Docs Viva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Box 34"/>
          <p:cNvSpPr/>
          <p:nvPr/>
        </p:nvSpPr>
        <p:spPr>
          <a:xfrm>
            <a:off x="1046988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Auto-gerada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do OCG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35"/>
          <p:cNvSpPr/>
          <p:nvPr/>
        </p:nvSpPr>
        <p:spPr>
          <a:xfrm>
            <a:off x="731520" y="4206240"/>
            <a:ext cx="10515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4a3b8"/>
                </a:solidFill>
                <a:latin typeface="Segoe UI"/>
              </a:rPr>
              <a:t>O OCG (Objeto de Contexto Global) é a fonte de verdade — expande com boa documentação, contrai com dados ruins.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36"/>
          <p:cNvSpPr/>
          <p:nvPr/>
        </p:nvSpPr>
        <p:spPr>
          <a:xfrm>
            <a:off x="731520" y="4846320"/>
            <a:ext cx="1051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1f5f9"/>
                </a:solidFill>
                <a:latin typeface="Segoe UI"/>
              </a:rPr>
              <a:t>7 Pilares de Avaliação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Rounded Rectangle 37"/>
          <p:cNvSpPr/>
          <p:nvPr/>
        </p:nvSpPr>
        <p:spPr>
          <a:xfrm>
            <a:off x="73152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38"/>
          <p:cNvSpPr/>
          <p:nvPr/>
        </p:nvSpPr>
        <p:spPr>
          <a:xfrm>
            <a:off x="82296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a78bfa"/>
                </a:solidFill>
                <a:latin typeface="Segoe UI"/>
              </a:rPr>
              <a:t>P1 Negócio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39"/>
          <p:cNvSpPr/>
          <p:nvPr/>
        </p:nvSpPr>
        <p:spPr>
          <a:xfrm>
            <a:off x="82296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10%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Rounded Rectangle 40"/>
          <p:cNvSpPr/>
          <p:nvPr/>
        </p:nvSpPr>
        <p:spPr>
          <a:xfrm>
            <a:off x="228600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41"/>
          <p:cNvSpPr/>
          <p:nvPr/>
        </p:nvSpPr>
        <p:spPr>
          <a:xfrm>
            <a:off x="237744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87171"/>
                </a:solidFill>
                <a:latin typeface="Segoe UI"/>
              </a:rPr>
              <a:t>P2 Compliance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Box 42"/>
          <p:cNvSpPr/>
          <p:nvPr/>
        </p:nvSpPr>
        <p:spPr>
          <a:xfrm>
            <a:off x="237744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15%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Rounded Rectangle 43"/>
          <p:cNvSpPr/>
          <p:nvPr/>
        </p:nvSpPr>
        <p:spPr>
          <a:xfrm>
            <a:off x="384048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44"/>
          <p:cNvSpPr/>
          <p:nvPr/>
        </p:nvSpPr>
        <p:spPr>
          <a:xfrm>
            <a:off x="393192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a78bfa"/>
                </a:solidFill>
                <a:latin typeface="Segoe UI"/>
              </a:rPr>
              <a:t>P3 Escopo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45"/>
          <p:cNvSpPr/>
          <p:nvPr/>
        </p:nvSpPr>
        <p:spPr>
          <a:xfrm>
            <a:off x="393192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20%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Rounded Rectangle 46"/>
          <p:cNvSpPr/>
          <p:nvPr/>
        </p:nvSpPr>
        <p:spPr>
          <a:xfrm>
            <a:off x="539496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47"/>
          <p:cNvSpPr/>
          <p:nvPr/>
        </p:nvSpPr>
        <p:spPr>
          <a:xfrm>
            <a:off x="548640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a78bfa"/>
                </a:solidFill>
                <a:latin typeface="Segoe UI"/>
              </a:rPr>
              <a:t>P4 Performance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48"/>
          <p:cNvSpPr/>
          <p:nvPr/>
        </p:nvSpPr>
        <p:spPr>
          <a:xfrm>
            <a:off x="548640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20%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Rounded Rectangle 49"/>
          <p:cNvSpPr/>
          <p:nvPr/>
        </p:nvSpPr>
        <p:spPr>
          <a:xfrm>
            <a:off x="694944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50"/>
          <p:cNvSpPr/>
          <p:nvPr/>
        </p:nvSpPr>
        <p:spPr>
          <a:xfrm>
            <a:off x="704088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a78bfa"/>
                </a:solidFill>
                <a:latin typeface="Segoe UI"/>
              </a:rPr>
              <a:t>P5 Arquitetura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51"/>
          <p:cNvSpPr/>
          <p:nvPr/>
        </p:nvSpPr>
        <p:spPr>
          <a:xfrm>
            <a:off x="704088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15%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ounded Rectangle 52"/>
          <p:cNvSpPr/>
          <p:nvPr/>
        </p:nvSpPr>
        <p:spPr>
          <a:xfrm>
            <a:off x="850392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53"/>
          <p:cNvSpPr/>
          <p:nvPr/>
        </p:nvSpPr>
        <p:spPr>
          <a:xfrm>
            <a:off x="859536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a78bfa"/>
                </a:solidFill>
                <a:latin typeface="Segoe UI"/>
              </a:rPr>
              <a:t>P6 Dados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Box 54"/>
          <p:cNvSpPr/>
          <p:nvPr/>
        </p:nvSpPr>
        <p:spPr>
          <a:xfrm>
            <a:off x="859536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10%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Rounded Rectangle 55"/>
          <p:cNvSpPr/>
          <p:nvPr/>
        </p:nvSpPr>
        <p:spPr>
          <a:xfrm>
            <a:off x="1005840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56"/>
          <p:cNvSpPr/>
          <p:nvPr/>
        </p:nvSpPr>
        <p:spPr>
          <a:xfrm>
            <a:off x="1014984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87171"/>
                </a:solidFill>
                <a:latin typeface="Segoe UI"/>
              </a:rPr>
              <a:t>P7 Segurança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57"/>
          <p:cNvSpPr/>
          <p:nvPr/>
        </p:nvSpPr>
        <p:spPr>
          <a:xfrm>
            <a:off x="1014984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10%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165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OCG — Objeto de Contexto Global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731520" y="914400"/>
            <a:ext cx="10515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1f5f9"/>
                </a:solidFill>
                <a:latin typeface="Segoe UI"/>
              </a:rPr>
              <a:t>A inteligência viva do seu projeto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731520" y="1828800"/>
            <a:ext cx="100580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O OCG não é um documento estático. É um objeto de estado evolutivo orientado a eventos. Ele expande com boa ingestão de dados e contrai com dados ruins ou conflitantes. Nenhum módulo opera sem antes ler o OCG.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ounded Rectangle 5"/>
          <p:cNvSpPr/>
          <p:nvPr/>
        </p:nvSpPr>
        <p:spPr>
          <a:xfrm>
            <a:off x="731520" y="301752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1005840" y="310896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Perfil do Projeto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1005840" y="336492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Nome, tipo, criticidade, arquitetura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Rounded Rectangle 8"/>
          <p:cNvSpPr/>
          <p:nvPr/>
        </p:nvSpPr>
        <p:spPr>
          <a:xfrm>
            <a:off x="6217920" y="301752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6492240" y="310896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Stack Recomendada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10"/>
          <p:cNvSpPr/>
          <p:nvPr/>
        </p:nvSpPr>
        <p:spPr>
          <a:xfrm>
            <a:off x="6492240" y="336492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Frontend, backend, banco, cache, infra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Rounded Rectangle 11"/>
          <p:cNvSpPr/>
          <p:nvPr/>
        </p:nvSpPr>
        <p:spPr>
          <a:xfrm>
            <a:off x="731520" y="384048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12"/>
          <p:cNvSpPr/>
          <p:nvPr/>
        </p:nvSpPr>
        <p:spPr>
          <a:xfrm>
            <a:off x="1005840" y="393192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Scores por Pilar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1005840" y="418788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7 pilares com pontuação e findings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Rounded Rectangle 14"/>
          <p:cNvSpPr/>
          <p:nvPr/>
        </p:nvSpPr>
        <p:spPr>
          <a:xfrm>
            <a:off x="6217920" y="384048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6492240" y="393192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Compliance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Box 16"/>
          <p:cNvSpPr/>
          <p:nvPr/>
        </p:nvSpPr>
        <p:spPr>
          <a:xfrm>
            <a:off x="6492240" y="418788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LGPD, GDPR, auditoria, PCI-DSS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Rounded Rectangle 17"/>
          <p:cNvSpPr/>
          <p:nvPr/>
        </p:nvSpPr>
        <p:spPr>
          <a:xfrm>
            <a:off x="731520" y="466344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18"/>
          <p:cNvSpPr/>
          <p:nvPr/>
        </p:nvSpPr>
        <p:spPr>
          <a:xfrm>
            <a:off x="1005840" y="475488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Estratégia de Testes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19"/>
          <p:cNvSpPr/>
          <p:nvPr/>
        </p:nvSpPr>
        <p:spPr>
          <a:xfrm>
            <a:off x="1005840" y="501084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Unitários, integração, E2E, segurança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ounded Rectangle 20"/>
          <p:cNvSpPr/>
          <p:nvPr/>
        </p:nvSpPr>
        <p:spPr>
          <a:xfrm>
            <a:off x="6217920" y="466344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21"/>
          <p:cNvSpPr/>
          <p:nvPr/>
        </p:nvSpPr>
        <p:spPr>
          <a:xfrm>
            <a:off x="6492240" y="475488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Análise de Riscos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Box 22"/>
          <p:cNvSpPr/>
          <p:nvPr/>
        </p:nvSpPr>
        <p:spPr>
          <a:xfrm>
            <a:off x="6492240" y="501084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Alto, médio, baixo com mitigações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Rounded Rectangle 23"/>
          <p:cNvSpPr/>
          <p:nvPr/>
        </p:nvSpPr>
        <p:spPr>
          <a:xfrm>
            <a:off x="731520" y="548640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24"/>
          <p:cNvSpPr/>
          <p:nvPr/>
        </p:nvSpPr>
        <p:spPr>
          <a:xfrm>
            <a:off x="1005840" y="557784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Entregáveis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Box 25"/>
          <p:cNvSpPr/>
          <p:nvPr/>
        </p:nvSpPr>
        <p:spPr>
          <a:xfrm>
            <a:off x="1005840" y="583380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Lista do que o projeto deve entregar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ounded Rectangle 26"/>
          <p:cNvSpPr/>
          <p:nvPr/>
        </p:nvSpPr>
        <p:spPr>
          <a:xfrm>
            <a:off x="6217920" y="548640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27"/>
          <p:cNvSpPr/>
          <p:nvPr/>
        </p:nvSpPr>
        <p:spPr>
          <a:xfrm>
            <a:off x="6492240" y="557784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Status de Aprovação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Box 28"/>
          <p:cNvSpPr/>
          <p:nvPr/>
        </p:nvSpPr>
        <p:spPr>
          <a:xfrm>
            <a:off x="6492240" y="583380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READY, NEEDS_REVIEW, AT_RISK, BLOCKED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193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Funcionalidades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731520" y="91440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1f5f9"/>
                </a:solidFill>
                <a:latin typeface="Segoe UI"/>
              </a:rPr>
              <a:t>Tudo o que você precisa para governar projetos de software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Rounded Rectangle 4"/>
          <p:cNvSpPr/>
          <p:nvPr/>
        </p:nvSpPr>
        <p:spPr>
          <a:xfrm>
            <a:off x="457200" y="164592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640080" y="173736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Questionário Externo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6"/>
          <p:cNvSpPr/>
          <p:nvPr/>
        </p:nvSpPr>
        <p:spPr>
          <a:xfrm>
            <a:off x="640080" y="205740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49 perguntas em 8 blocos com validação automática e score de aderência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Rounded Rectangle 7"/>
          <p:cNvSpPr/>
          <p:nvPr/>
        </p:nvSpPr>
        <p:spPr>
          <a:xfrm>
            <a:off x="4297680" y="164592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4480560" y="173736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Repositório do Projeto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4480560" y="205740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Integração Git (GitHub/GitLab/Bitbucket) — bloqueante sem configuração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Rounded Rectangle 10"/>
          <p:cNvSpPr/>
          <p:nvPr/>
        </p:nvSpPr>
        <p:spPr>
          <a:xfrm>
            <a:off x="8138160" y="164592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11"/>
          <p:cNvSpPr/>
          <p:nvPr/>
        </p:nvSpPr>
        <p:spPr>
          <a:xfrm>
            <a:off x="8321040" y="173736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Repositórios Externos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Box 12"/>
          <p:cNvSpPr/>
          <p:nvPr/>
        </p:nvSpPr>
        <p:spPr>
          <a:xfrm>
            <a:off x="8321040" y="205740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Leitura read-only de repos de terceiros para enriquecer o OCG via IA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Rounded Rectangle 13"/>
          <p:cNvSpPr/>
          <p:nvPr/>
        </p:nvSpPr>
        <p:spPr>
          <a:xfrm>
            <a:off x="457200" y="283464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14"/>
          <p:cNvSpPr/>
          <p:nvPr/>
        </p:nvSpPr>
        <p:spPr>
          <a:xfrm>
            <a:off x="640080" y="292608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Ingestão de Documentos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Box 15"/>
          <p:cNvSpPr/>
          <p:nvPr/>
        </p:nvSpPr>
        <p:spPr>
          <a:xfrm>
            <a:off x="640080" y="324612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Upload com detecção de PII, quarentena, hash SHA256, categorização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ounded Rectangle 16"/>
          <p:cNvSpPr/>
          <p:nvPr/>
        </p:nvSpPr>
        <p:spPr>
          <a:xfrm>
            <a:off x="4297680" y="283464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17"/>
          <p:cNvSpPr/>
          <p:nvPr/>
        </p:nvSpPr>
        <p:spPr>
          <a:xfrm>
            <a:off x="4480560" y="292608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Gatekeeper — 7 Pilares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18"/>
          <p:cNvSpPr/>
          <p:nvPr/>
        </p:nvSpPr>
        <p:spPr>
          <a:xfrm>
            <a:off x="4480560" y="324612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Avaliação automática com radar chart, findings e status bloqueante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ounded Rectangle 19"/>
          <p:cNvSpPr/>
          <p:nvPr/>
        </p:nvSpPr>
        <p:spPr>
          <a:xfrm>
            <a:off x="8138160" y="283464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20"/>
          <p:cNvSpPr/>
          <p:nvPr/>
        </p:nvSpPr>
        <p:spPr>
          <a:xfrm>
            <a:off x="8321040" y="292608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Arguidor Técnico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Box 21"/>
          <p:cNvSpPr/>
          <p:nvPr/>
        </p:nvSpPr>
        <p:spPr>
          <a:xfrm>
            <a:off x="8321040" y="324612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Identifica gaps, show-stoppers e lacunas — solicita complementação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Rounded Rectangle 22"/>
          <p:cNvSpPr/>
          <p:nvPr/>
        </p:nvSpPr>
        <p:spPr>
          <a:xfrm>
            <a:off x="457200" y="402336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23"/>
          <p:cNvSpPr/>
          <p:nvPr/>
        </p:nvSpPr>
        <p:spPr>
          <a:xfrm>
            <a:off x="640080" y="411480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Geração de Código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Box 24"/>
          <p:cNvSpPr/>
          <p:nvPr/>
        </p:nvSpPr>
        <p:spPr>
          <a:xfrm>
            <a:off x="640080" y="443484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IA gera código baseado no OCG, GP revisa e aprova, testes automáticos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Rounded Rectangle 25"/>
          <p:cNvSpPr/>
          <p:nvPr/>
        </p:nvSpPr>
        <p:spPr>
          <a:xfrm>
            <a:off x="4297680" y="402336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26"/>
          <p:cNvSpPr/>
          <p:nvPr/>
        </p:nvSpPr>
        <p:spPr>
          <a:xfrm>
            <a:off x="4480560" y="411480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Backlog Vivo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27"/>
          <p:cNvSpPr/>
          <p:nvPr/>
        </p:nvSpPr>
        <p:spPr>
          <a:xfrm>
            <a:off x="4480560" y="443484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Derivado do OCG — regenera automaticamente quando o contexto muda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Rounded Rectangle 28"/>
          <p:cNvSpPr/>
          <p:nvPr/>
        </p:nvSpPr>
        <p:spPr>
          <a:xfrm>
            <a:off x="8138160" y="402336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29"/>
          <p:cNvSpPr/>
          <p:nvPr/>
        </p:nvSpPr>
        <p:spPr>
          <a:xfrm>
            <a:off x="8321040" y="411480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Documentação Viva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Box 30"/>
          <p:cNvSpPr/>
          <p:nvPr/>
        </p:nvSpPr>
        <p:spPr>
          <a:xfrm>
            <a:off x="8321040" y="443484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Gerada e atualizada automaticamente do OCG do projeto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Rounded Rectangle 31"/>
          <p:cNvSpPr/>
          <p:nvPr/>
        </p:nvSpPr>
        <p:spPr>
          <a:xfrm>
            <a:off x="457200" y="521208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32"/>
          <p:cNvSpPr/>
          <p:nvPr/>
        </p:nvSpPr>
        <p:spPr>
          <a:xfrm>
            <a:off x="640080" y="530352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Billing por Projeto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Box 33"/>
          <p:cNvSpPr/>
          <p:nvPr/>
        </p:nvSpPr>
        <p:spPr>
          <a:xfrm>
            <a:off x="640080" y="562356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Custo de IA em USD por projeto, operação e provedor — transparência total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ounded Rectangle 34"/>
          <p:cNvSpPr/>
          <p:nvPr/>
        </p:nvSpPr>
        <p:spPr>
          <a:xfrm>
            <a:off x="4297680" y="521208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35"/>
          <p:cNvSpPr/>
          <p:nvPr/>
        </p:nvSpPr>
        <p:spPr>
          <a:xfrm>
            <a:off x="4480560" y="530352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Auditoria Hash Chain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Box 36"/>
          <p:cNvSpPr/>
          <p:nvPr/>
        </p:nvSpPr>
        <p:spPr>
          <a:xfrm>
            <a:off x="4480560" y="562356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Trilha imutável com hash encadeado, correlation_id, 27 tipos de evento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Rounded Rectangle 37"/>
          <p:cNvSpPr/>
          <p:nvPr/>
        </p:nvSpPr>
        <p:spPr>
          <a:xfrm>
            <a:off x="8138160" y="521208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38"/>
          <p:cNvSpPr/>
          <p:nvPr/>
        </p:nvSpPr>
        <p:spPr>
          <a:xfrm>
            <a:off x="8321040" y="530352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RBAC Compartimentalizado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Box 39"/>
          <p:cNvSpPr/>
          <p:nvPr/>
        </p:nvSpPr>
        <p:spPr>
          <a:xfrm>
            <a:off x="8321040" y="562356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8 papéis, cada projeto isolado, chaves IA separadas Admin vs Projeto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232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Stack Tecnológica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731520" y="91440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1f5f9"/>
                </a:solidFill>
                <a:latin typeface="Segoe UI"/>
              </a:rPr>
              <a:t>Construído com tecnologias modernas e escaláveis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Rounded Rectangle 4"/>
          <p:cNvSpPr/>
          <p:nvPr/>
        </p:nvSpPr>
        <p:spPr>
          <a:xfrm>
            <a:off x="457200" y="1737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5"/>
          <p:cNvSpPr/>
          <p:nvPr/>
        </p:nvSpPr>
        <p:spPr>
          <a:xfrm>
            <a:off x="640080" y="1920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7c3aed"/>
                </a:solidFill>
                <a:latin typeface="Segoe UI"/>
              </a:rPr>
              <a:t>Backend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6"/>
          <p:cNvSpPr/>
          <p:nvPr/>
        </p:nvSpPr>
        <p:spPr>
          <a:xfrm>
            <a:off x="640080" y="2377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Python 3.11 + FastAPI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41 serviços, 24 routers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SQLAlchemy async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ounded Rectangle 7"/>
          <p:cNvSpPr/>
          <p:nvPr/>
        </p:nvSpPr>
        <p:spPr>
          <a:xfrm>
            <a:off x="3291840" y="1737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8"/>
          <p:cNvSpPr/>
          <p:nvPr/>
        </p:nvSpPr>
        <p:spPr>
          <a:xfrm>
            <a:off x="3474720" y="1920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0a5fa"/>
                </a:solidFill>
                <a:latin typeface="Segoe UI"/>
              </a:rPr>
              <a:t>Frontend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3474720" y="2377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React 18 + TypeScript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Vite + Tailwind CSS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28 páginas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Rounded Rectangle 10"/>
          <p:cNvSpPr/>
          <p:nvPr/>
        </p:nvSpPr>
        <p:spPr>
          <a:xfrm>
            <a:off x="6126480" y="1737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6309360" y="1920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4d399"/>
                </a:solidFill>
                <a:latin typeface="Segoe UI"/>
              </a:rPr>
              <a:t>Banco de Dados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Box 12"/>
          <p:cNvSpPr/>
          <p:nvPr/>
        </p:nvSpPr>
        <p:spPr>
          <a:xfrm>
            <a:off x="6309360" y="2377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PostgreSQL 16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50+ tabelas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Migrations SQL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ounded Rectangle 13"/>
          <p:cNvSpPr/>
          <p:nvPr/>
        </p:nvSpPr>
        <p:spPr>
          <a:xfrm>
            <a:off x="8961120" y="1737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9144000" y="1920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bbf24"/>
                </a:solidFill>
                <a:latin typeface="Segoe UI"/>
              </a:rPr>
              <a:t>Cache &amp; Mensageria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9144000" y="2377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Redis 7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Sessões, rate limiting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Locks distribuídos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Rounded Rectangle 16"/>
          <p:cNvSpPr/>
          <p:nvPr/>
        </p:nvSpPr>
        <p:spPr>
          <a:xfrm>
            <a:off x="457200" y="4023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17"/>
          <p:cNvSpPr/>
          <p:nvPr/>
        </p:nvSpPr>
        <p:spPr>
          <a:xfrm>
            <a:off x="640080" y="4206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IA Multi-Provider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Box 18"/>
          <p:cNvSpPr/>
          <p:nvPr/>
        </p:nvSpPr>
        <p:spPr>
          <a:xfrm>
            <a:off x="640080" y="4663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DeepSeek, Anthropic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OpenAI, Grok, Gemini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8 agentes paralelos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Rounded Rectangle 19"/>
          <p:cNvSpPr/>
          <p:nvPr/>
        </p:nvSpPr>
        <p:spPr>
          <a:xfrm>
            <a:off x="3291840" y="4023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20"/>
          <p:cNvSpPr/>
          <p:nvPr/>
        </p:nvSpPr>
        <p:spPr>
          <a:xfrm>
            <a:off x="3474720" y="4206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0a5fa"/>
                </a:solidFill>
                <a:latin typeface="Segoe UI"/>
              </a:rPr>
              <a:t>Automação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Box 21"/>
          <p:cNvSpPr/>
          <p:nvPr/>
        </p:nvSpPr>
        <p:spPr>
          <a:xfrm>
            <a:off x="3474720" y="4663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n8n Workflows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4 pipelines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Webhooks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Rounded Rectangle 22"/>
          <p:cNvSpPr/>
          <p:nvPr/>
        </p:nvSpPr>
        <p:spPr>
          <a:xfrm>
            <a:off x="6126480" y="4023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23"/>
          <p:cNvSpPr/>
          <p:nvPr/>
        </p:nvSpPr>
        <p:spPr>
          <a:xfrm>
            <a:off x="6309360" y="4206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4d399"/>
                </a:solidFill>
                <a:latin typeface="Segoe UI"/>
              </a:rPr>
              <a:t>Infraestrutura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24"/>
          <p:cNvSpPr/>
          <p:nvPr/>
        </p:nvSpPr>
        <p:spPr>
          <a:xfrm>
            <a:off x="6309360" y="4663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Docker Compose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5 serviços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Cloudflare Tunnel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Rounded Rectangle 25"/>
          <p:cNvSpPr/>
          <p:nvPr/>
        </p:nvSpPr>
        <p:spPr>
          <a:xfrm>
            <a:off x="8961120" y="4023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26"/>
          <p:cNvSpPr/>
          <p:nvPr/>
        </p:nvSpPr>
        <p:spPr>
          <a:xfrm>
            <a:off x="9144000" y="4206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87171"/>
                </a:solidFill>
                <a:latin typeface="Segoe UI"/>
              </a:rPr>
              <a:t>Segurança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Box 27"/>
          <p:cNvSpPr/>
          <p:nvPr/>
        </p:nvSpPr>
        <p:spPr>
          <a:xfrm>
            <a:off x="9144000" y="4663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JWT RS256, RBAC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Vault criptografado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Hash chain auditoria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259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Diferenciais Competitivos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Box 3"/>
          <p:cNvSpPr/>
          <p:nvPr/>
        </p:nvSpPr>
        <p:spPr>
          <a:xfrm>
            <a:off x="731520" y="914400"/>
            <a:ext cx="10515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1f5f9"/>
                </a:solidFill>
                <a:latin typeface="Segoe UI"/>
              </a:rPr>
              <a:t>Por que o GCA é diferente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Rounded Rectangle 4"/>
          <p:cNvSpPr/>
          <p:nvPr/>
        </p:nvSpPr>
        <p:spPr>
          <a:xfrm>
            <a:off x="731520" y="1645920"/>
            <a:ext cx="10515240" cy="822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5"/>
          <p:cNvSpPr/>
          <p:nvPr/>
        </p:nvSpPr>
        <p:spPr>
          <a:xfrm>
            <a:off x="1005840" y="1719000"/>
            <a:ext cx="274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a78bfa"/>
                </a:solidFill>
                <a:latin typeface="Segoe UI"/>
              </a:rPr>
              <a:t>OCG Reativo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Box 6"/>
          <p:cNvSpPr/>
          <p:nvPr/>
        </p:nvSpPr>
        <p:spPr>
          <a:xfrm>
            <a:off x="1005840" y="2011680"/>
            <a:ext cx="9875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O contexto do projeto evolui automaticamente com cada documento ingerido. Não é um relatório estático — é inteligência viva que expande ou contrai baseado na qualidade dos dados.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Rounded Rectangle 7"/>
          <p:cNvSpPr/>
          <p:nvPr/>
        </p:nvSpPr>
        <p:spPr>
          <a:xfrm>
            <a:off x="731520" y="2606040"/>
            <a:ext cx="10515240" cy="822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TextBox 8"/>
          <p:cNvSpPr/>
          <p:nvPr/>
        </p:nvSpPr>
        <p:spPr>
          <a:xfrm>
            <a:off x="1005840" y="2679120"/>
            <a:ext cx="274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60a5fa"/>
                </a:solidFill>
                <a:latin typeface="Segoe UI"/>
              </a:rPr>
              <a:t>IA Agnóstica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Box 9"/>
          <p:cNvSpPr/>
          <p:nvPr/>
        </p:nvSpPr>
        <p:spPr>
          <a:xfrm>
            <a:off x="1005840" y="2971800"/>
            <a:ext cx="9875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Suporte a 5 provedores de IA (DeepSeek, Anthropic, OpenAI, Grok, Gemini). O cliente escolhe o provider e modelo. Billing transparente por chamada.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Rounded Rectangle 10"/>
          <p:cNvSpPr/>
          <p:nvPr/>
        </p:nvSpPr>
        <p:spPr>
          <a:xfrm>
            <a:off x="731520" y="3566160"/>
            <a:ext cx="10515240" cy="822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TextBox 11"/>
          <p:cNvSpPr/>
          <p:nvPr/>
        </p:nvSpPr>
        <p:spPr>
          <a:xfrm>
            <a:off x="924480" y="3614400"/>
            <a:ext cx="3395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34d399"/>
                </a:solidFill>
                <a:latin typeface="Segoe UI"/>
              </a:rPr>
              <a:t>Compartimentalização Total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Box 12"/>
          <p:cNvSpPr/>
          <p:nvPr/>
        </p:nvSpPr>
        <p:spPr>
          <a:xfrm>
            <a:off x="1005840" y="3931920"/>
            <a:ext cx="9875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Cada projeto é isolado: repositório próprio, chaves IA próprias, equipe própria, OCG próprio. Dados de um projeto nunca afetam outro.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ounded Rectangle 13"/>
          <p:cNvSpPr/>
          <p:nvPr/>
        </p:nvSpPr>
        <p:spPr>
          <a:xfrm>
            <a:off x="731520" y="4526280"/>
            <a:ext cx="10515240" cy="822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TextBox 14"/>
          <p:cNvSpPr/>
          <p:nvPr/>
        </p:nvSpPr>
        <p:spPr>
          <a:xfrm>
            <a:off x="1005840" y="4599360"/>
            <a:ext cx="274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bbf24"/>
                </a:solidFill>
                <a:latin typeface="Segoe UI"/>
              </a:rPr>
              <a:t>Governança End-to-End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Box 15"/>
          <p:cNvSpPr/>
          <p:nvPr/>
        </p:nvSpPr>
        <p:spPr>
          <a:xfrm>
            <a:off x="1005840" y="4892040"/>
            <a:ext cx="9875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Do questionário inicial ao código gerado e testado — cada etapa é rastreada, auditada e versionada com hash chain imutável.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Rounded Rectangle 16"/>
          <p:cNvSpPr/>
          <p:nvPr/>
        </p:nvSpPr>
        <p:spPr>
          <a:xfrm>
            <a:off x="731520" y="5486400"/>
            <a:ext cx="10515240" cy="822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TextBox 17"/>
          <p:cNvSpPr/>
          <p:nvPr/>
        </p:nvSpPr>
        <p:spPr>
          <a:xfrm>
            <a:off x="1005840" y="5559480"/>
            <a:ext cx="274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87171"/>
                </a:solidFill>
                <a:latin typeface="Segoe UI"/>
              </a:rPr>
              <a:t>Código Aberto ao Humano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Box 18"/>
          <p:cNvSpPr/>
          <p:nvPr/>
        </p:nvSpPr>
        <p:spPr>
          <a:xfrm>
            <a:off x="1005840" y="5852160"/>
            <a:ext cx="9875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A IA gera, mas o humano decide. Cada módulo de código passa por revisão do GP antes de ser commitado. IA + Humano = qualidade.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277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Entregáveis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3"/>
          <p:cNvSpPr/>
          <p:nvPr/>
        </p:nvSpPr>
        <p:spPr>
          <a:xfrm>
            <a:off x="731520" y="91440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1f5f9"/>
                </a:solidFill>
                <a:latin typeface="Segoe UI"/>
              </a:rPr>
              <a:t>O que o cliente recebe ao usar o GCA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Rounded Rectangle 4"/>
          <p:cNvSpPr/>
          <p:nvPr/>
        </p:nvSpPr>
        <p:spPr>
          <a:xfrm>
            <a:off x="731520" y="164592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TextBox 5"/>
          <p:cNvSpPr/>
          <p:nvPr/>
        </p:nvSpPr>
        <p:spPr>
          <a:xfrm>
            <a:off x="1005840" y="157284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OCG completo do projeto com scores de 7 pilares e status de aprovação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Rounded Rectangle 6"/>
          <p:cNvSpPr/>
          <p:nvPr/>
        </p:nvSpPr>
        <p:spPr>
          <a:xfrm>
            <a:off x="6217920" y="164592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7"/>
          <p:cNvSpPr/>
          <p:nvPr/>
        </p:nvSpPr>
        <p:spPr>
          <a:xfrm>
            <a:off x="6492240" y="157284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Análise de stack tecnológica recomendada com justificativa por camada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Rounded Rectangle 8"/>
          <p:cNvSpPr/>
          <p:nvPr/>
        </p:nvSpPr>
        <p:spPr>
          <a:xfrm>
            <a:off x="731520" y="251460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TextBox 9"/>
          <p:cNvSpPr/>
          <p:nvPr/>
        </p:nvSpPr>
        <p:spPr>
          <a:xfrm>
            <a:off x="1005840" y="244152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Checklist de conformidade (LGPD, GDPR, PCI-DSS) com responsáveis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ounded Rectangle 10"/>
          <p:cNvSpPr/>
          <p:nvPr/>
        </p:nvSpPr>
        <p:spPr>
          <a:xfrm>
            <a:off x="6217920" y="251460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TextBox 11"/>
          <p:cNvSpPr/>
          <p:nvPr/>
        </p:nvSpPr>
        <p:spPr>
          <a:xfrm>
            <a:off x="6492240" y="2441520"/>
            <a:ext cx="5028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Análise de riscos com mitigações e responsáveis atribuídos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Rounded Rectangle 12"/>
          <p:cNvSpPr/>
          <p:nvPr/>
        </p:nvSpPr>
        <p:spPr>
          <a:xfrm>
            <a:off x="731520" y="338328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TextBox 13"/>
          <p:cNvSpPr/>
          <p:nvPr/>
        </p:nvSpPr>
        <p:spPr>
          <a:xfrm>
            <a:off x="1005840" y="331020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Backlog vivo com itens priorizados por categoria (módulos, testes, compliance)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ounded Rectangle 14"/>
          <p:cNvSpPr/>
          <p:nvPr/>
        </p:nvSpPr>
        <p:spPr>
          <a:xfrm>
            <a:off x="6217920" y="338328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TextBox 15"/>
          <p:cNvSpPr/>
          <p:nvPr/>
        </p:nvSpPr>
        <p:spPr>
          <a:xfrm>
            <a:off x="6492240" y="331020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Código gerado por IA, revisado pelo GP, com testes unitários automáticos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Rounded Rectangle 16"/>
          <p:cNvSpPr/>
          <p:nvPr/>
        </p:nvSpPr>
        <p:spPr>
          <a:xfrm>
            <a:off x="731520" y="425196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TextBox 17"/>
          <p:cNvSpPr/>
          <p:nvPr/>
        </p:nvSpPr>
        <p:spPr>
          <a:xfrm>
            <a:off x="1005840" y="417888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Documentação viva que se atualiza automaticamente com o OCG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Rounded Rectangle 18"/>
          <p:cNvSpPr/>
          <p:nvPr/>
        </p:nvSpPr>
        <p:spPr>
          <a:xfrm>
            <a:off x="6217920" y="425196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19"/>
          <p:cNvSpPr/>
          <p:nvPr/>
        </p:nvSpPr>
        <p:spPr>
          <a:xfrm>
            <a:off x="6492240" y="417888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Trilha de auditoria completa com hash chain (rastreabilidade total)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Rounded Rectangle 20"/>
          <p:cNvSpPr/>
          <p:nvPr/>
        </p:nvSpPr>
        <p:spPr>
          <a:xfrm>
            <a:off x="731520" y="512064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TextBox 21"/>
          <p:cNvSpPr/>
          <p:nvPr/>
        </p:nvSpPr>
        <p:spPr>
          <a:xfrm>
            <a:off x="1005840" y="504756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Billing detalhado de uso de IA por projeto (custo, tokens, operações)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Rounded Rectangle 22"/>
          <p:cNvSpPr/>
          <p:nvPr/>
        </p:nvSpPr>
        <p:spPr>
          <a:xfrm>
            <a:off x="6217920" y="512064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TextBox 23"/>
          <p:cNvSpPr/>
          <p:nvPr/>
        </p:nvSpPr>
        <p:spPr>
          <a:xfrm>
            <a:off x="6492240" y="504756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Dashboard executivo com radar de pilares, health do contexto e status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Picture 1" descr="gca-logo-200.png"/>
          <p:cNvPicPr/>
          <p:nvPr/>
        </p:nvPicPr>
        <p:blipFill>
          <a:blip r:embed="rId1"/>
          <a:stretch/>
        </p:blipFill>
        <p:spPr>
          <a:xfrm>
            <a:off x="5029200" y="1371600"/>
            <a:ext cx="2102760" cy="1408680"/>
          </a:xfrm>
          <a:prstGeom prst="rect">
            <a:avLst/>
          </a:prstGeom>
          <a:ln w="0">
            <a:noFill/>
          </a:ln>
        </p:spPr>
      </p:pic>
      <p:sp>
        <p:nvSpPr>
          <p:cNvPr id="300" name="TextBox 2"/>
          <p:cNvSpPr/>
          <p:nvPr/>
        </p:nvSpPr>
        <p:spPr>
          <a:xfrm>
            <a:off x="1828800" y="3200400"/>
            <a:ext cx="82292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a78bfa"/>
                </a:solidFill>
                <a:latin typeface="Segoe UI"/>
              </a:rPr>
              <a:t>GCA</a:t>
            </a:r>
            <a:endParaRPr b="0" lang="pt-B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1828800" y="3840480"/>
            <a:ext cx="8229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1f5f9"/>
                </a:solidFill>
                <a:latin typeface="Segoe UI"/>
              </a:rPr>
              <a:t>Gestão de Codificação Assistida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Box 4"/>
          <p:cNvSpPr/>
          <p:nvPr/>
        </p:nvSpPr>
        <p:spPr>
          <a:xfrm>
            <a:off x="1828800" y="4572000"/>
            <a:ext cx="8229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94a3b8"/>
                </a:solidFill>
                <a:latin typeface="Segoe UI"/>
              </a:rPr>
              <a:t>Governança inteligente. IA assistida. Código rastreável.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2026-04-09T21:43:32Z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