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0287000" cy="128587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14080" y="513000"/>
            <a:ext cx="9257760" cy="214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14080" y="3008880"/>
            <a:ext cx="9257760" cy="74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83C348-A998-4407-81AE-7FC017A896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1D5D0-9654-4A06-9C38-920C8E46F7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1F19EA1-7766-4BBC-976C-D7D0FA8623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4080" y="513000"/>
            <a:ext cx="9257760" cy="214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4080" y="3008880"/>
            <a:ext cx="9257760" cy="74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F72F29E-5C1B-4AC5-A0A2-19B847C548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665684B-59FB-4505-A2EB-D858564399A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14080" y="513000"/>
            <a:ext cx="9257760" cy="214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14080" y="3008880"/>
            <a:ext cx="4517640" cy="74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258160" y="3008880"/>
            <a:ext cx="4517640" cy="74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041563A-D21C-42CA-8067-8208E7086D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9FADF4D-3FED-45E9-9D20-A7D1B0D9F3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14080" y="513000"/>
            <a:ext cx="9257760" cy="214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A6D38E3-AB41-4814-829A-AE8DE9E529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C07CC4B-AF71-4E06-8398-27B857D824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18B7CAF-A233-4766-A09C-F1591C5A1D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7CC527F-387C-4A2D-9D1A-9E6B35CE2C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2F6FAF-361B-46AF-945B-B1BEC04F03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8009FF-7DE8-485F-A4FF-F07E0F9902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C4EE0C-DB9C-45D2-8083-1D7E9DB5E1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72FF03-3FC9-46E6-8E7B-B347F90D7E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Master 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43D681-1458-40ED-999C-733D39A928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336BE2-C31D-4FA1-B9BD-711B297A27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94EDA6-8A1A-4F20-BC40-8BF16F4493A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F7A2B6-A370-4A9F-B6C9-7D367425F2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6C0BC0-8518-4D08-9DD7-CEE8D586A8F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514080" y="513000"/>
            <a:ext cx="9257760" cy="214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514080" y="3008880"/>
            <a:ext cx="9257760" cy="745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D04A3A-A9AC-4E39-BFA8-1639C1A3329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6B91D1-83F6-4F25-8428-200A9C2B2B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Oval 2"/>
          <p:cNvSpPr/>
          <p:nvPr/>
        </p:nvSpPr>
        <p:spPr>
          <a:xfrm>
            <a:off x="7360920" y="-1371600"/>
            <a:ext cx="4571640" cy="4571640"/>
          </a:xfrm>
          <a:prstGeom prst="ellipse">
            <a:avLst/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9" name="Picture 3" descr="gca-logo.png"/>
          <p:cNvPicPr/>
          <p:nvPr/>
        </p:nvPicPr>
        <p:blipFill>
          <a:blip r:embed="rId1"/>
          <a:stretch/>
        </p:blipFill>
        <p:spPr>
          <a:xfrm>
            <a:off x="685800" y="685800"/>
            <a:ext cx="1089360" cy="731160"/>
          </a:xfrm>
          <a:prstGeom prst="rect">
            <a:avLst/>
          </a:prstGeom>
          <a:ln w="0">
            <a:noFill/>
          </a:ln>
        </p:spPr>
      </p:pic>
      <p:sp>
        <p:nvSpPr>
          <p:cNvPr id="70" name="Rounded Rectangle 4"/>
          <p:cNvSpPr/>
          <p:nvPr/>
        </p:nvSpPr>
        <p:spPr>
          <a:xfrm>
            <a:off x="685800" y="3108960"/>
            <a:ext cx="2669760" cy="43848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 w="63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36640" y="3251520"/>
            <a:ext cx="236772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a78bfa"/>
                </a:solidFill>
                <a:latin typeface="Inter"/>
              </a:rPr>
              <a:t>PRODUTO INSTALÁVEL · ON-PREMISES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685800" y="3611880"/>
            <a:ext cx="8915040" cy="17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pt-BR" sz="5600" spc="-1" strike="noStrike">
                <a:solidFill>
                  <a:srgbClr val="f1f5f9"/>
                </a:solidFill>
                <a:latin typeface="Inter"/>
              </a:rPr>
              <a:t>Entregar software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2000"/>
              </a:lnSpc>
            </a:pPr>
            <a:r>
              <a:rPr b="1" lang="pt-BR" sz="5600" spc="-1" strike="noStrike">
                <a:solidFill>
                  <a:srgbClr val="f1f5f9"/>
                </a:solidFill>
                <a:latin typeface="Inter"/>
              </a:rPr>
              <a:t>virou roleta.</a:t>
            </a:r>
            <a:endParaRPr b="0" lang="pt-BR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685800" y="6675120"/>
            <a:ext cx="891504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3000" spc="-1" strike="noStrike">
                <a:solidFill>
                  <a:srgbClr val="a78bfa"/>
                </a:solidFill>
                <a:latin typeface="Inter"/>
              </a:rPr>
              <a:t>O GCA é o fim da roleta.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685800" y="7772400"/>
            <a:ext cx="8915040" cy="174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700" spc="-1" strike="noStrike">
                <a:solidFill>
                  <a:srgbClr val="cbd5e1"/>
                </a:solidFill>
                <a:latin typeface="Inter"/>
              </a:rPr>
              <a:t>Governança de Codificação Assistida por IA — um produto instalável que transforma requisitos, decisões arquiteturais, geração de código, testes e documentação em um pipeline auditável ponta a ponta.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700" spc="-1" strike="noStrike">
                <a:solidFill>
                  <a:srgbClr val="cbd5e1"/>
                </a:solidFill>
                <a:latin typeface="Inter"/>
              </a:rPr>
              <a:t>Não substitui – performance e qualidade de ponta a ponta do projeto. 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685800" y="10938600"/>
            <a:ext cx="8915040" cy="36360"/>
          </a:xfrm>
          <a:prstGeom prst="roundRect">
            <a:avLst>
              <a:gd name="adj" fmla="val 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85800" y="11167200"/>
            <a:ext cx="8915040" cy="24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400" spc="-1" strike="noStrike">
                <a:solidFill>
                  <a:srgbClr val="94a3b8"/>
                </a:solidFill>
                <a:latin typeface="Inter"/>
              </a:rPr>
              <a:t>Arraste para ver como →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85800" y="11761560"/>
            <a:ext cx="8915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64748b"/>
                </a:solidFill>
                <a:latin typeface="Inter"/>
              </a:rPr>
              <a:t>Luiz Pielak  ·  engenharia de produto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A DOR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685800" y="960120"/>
            <a:ext cx="8915040" cy="6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pt-BR" sz="4000" spc="-1" strike="noStrike">
                <a:solidFill>
                  <a:srgbClr val="f1f5f9"/>
                </a:solidFill>
                <a:latin typeface="Inter"/>
              </a:rPr>
              <a:t>Você reconhece.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5"/>
          <p:cNvSpPr/>
          <p:nvPr/>
        </p:nvSpPr>
        <p:spPr>
          <a:xfrm>
            <a:off x="685800" y="2560320"/>
            <a:ext cx="8915040" cy="178272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Oval 6"/>
          <p:cNvSpPr/>
          <p:nvPr/>
        </p:nvSpPr>
        <p:spPr>
          <a:xfrm>
            <a:off x="1005840" y="2944440"/>
            <a:ext cx="292320" cy="292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1554480" y="2880360"/>
            <a:ext cx="78177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800" spc="-1" strike="noStrike">
                <a:solidFill>
                  <a:srgbClr val="f1f5f9"/>
                </a:solidFill>
                <a:latin typeface="Inter"/>
              </a:rPr>
              <a:t>Requisitos espalhados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1554480" y="3383280"/>
            <a:ext cx="7817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PDF, e-mail, WhatsApp, ata de reunião.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Ninguém sabe qual é a versão canônica.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9"/>
          <p:cNvSpPr/>
          <p:nvPr/>
        </p:nvSpPr>
        <p:spPr>
          <a:xfrm>
            <a:off x="685800" y="4480560"/>
            <a:ext cx="8915040" cy="178272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Oval 10"/>
          <p:cNvSpPr/>
          <p:nvPr/>
        </p:nvSpPr>
        <p:spPr>
          <a:xfrm>
            <a:off x="1005840" y="4864680"/>
            <a:ext cx="292320" cy="292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1"/>
          <p:cNvSpPr/>
          <p:nvPr/>
        </p:nvSpPr>
        <p:spPr>
          <a:xfrm>
            <a:off x="1554480" y="4800600"/>
            <a:ext cx="78177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800" spc="-1" strike="noStrike">
                <a:solidFill>
                  <a:srgbClr val="f1f5f9"/>
                </a:solidFill>
                <a:latin typeface="Inter"/>
              </a:rPr>
              <a:t>IA gera dívida técnica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2"/>
          <p:cNvSpPr/>
          <p:nvPr/>
        </p:nvSpPr>
        <p:spPr>
          <a:xfrm>
            <a:off x="1554480" y="5303520"/>
            <a:ext cx="7817760" cy="77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Copilot + Cursor entregam velocidade,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mas o código nasce sem contrato.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Vira dívida em 2 sprints.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ounded Rectangle 13"/>
          <p:cNvSpPr/>
          <p:nvPr/>
        </p:nvSpPr>
        <p:spPr>
          <a:xfrm>
            <a:off x="685800" y="6400800"/>
            <a:ext cx="8915040" cy="178272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Oval 14"/>
          <p:cNvSpPr/>
          <p:nvPr/>
        </p:nvSpPr>
        <p:spPr>
          <a:xfrm>
            <a:off x="1005840" y="6784920"/>
            <a:ext cx="292320" cy="292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TextBox 15"/>
          <p:cNvSpPr/>
          <p:nvPr/>
        </p:nvSpPr>
        <p:spPr>
          <a:xfrm>
            <a:off x="1554480" y="6720840"/>
            <a:ext cx="78177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800" spc="-1" strike="noStrike">
                <a:solidFill>
                  <a:srgbClr val="f1f5f9"/>
                </a:solidFill>
                <a:latin typeface="Inter"/>
              </a:rPr>
              <a:t>Documentação morre antes do deploy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6"/>
          <p:cNvSpPr/>
          <p:nvPr/>
        </p:nvSpPr>
        <p:spPr>
          <a:xfrm>
            <a:off x="1554480" y="7223760"/>
            <a:ext cx="7817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ERS, manual, arquitetura — tudo escrito uma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vez, desatualizado no dia seguinte.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7"/>
          <p:cNvSpPr/>
          <p:nvPr/>
        </p:nvSpPr>
        <p:spPr>
          <a:xfrm>
            <a:off x="685800" y="8321040"/>
            <a:ext cx="8915040" cy="178272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Oval 18"/>
          <p:cNvSpPr/>
          <p:nvPr/>
        </p:nvSpPr>
        <p:spPr>
          <a:xfrm>
            <a:off x="1005840" y="8705160"/>
            <a:ext cx="292320" cy="292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19"/>
          <p:cNvSpPr/>
          <p:nvPr/>
        </p:nvSpPr>
        <p:spPr>
          <a:xfrm>
            <a:off x="1554480" y="8641080"/>
            <a:ext cx="78177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800" spc="-1" strike="noStrike">
                <a:solidFill>
                  <a:srgbClr val="f1f5f9"/>
                </a:solidFill>
                <a:latin typeface="Inter"/>
              </a:rPr>
              <a:t>Auditoria é retroativa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20"/>
          <p:cNvSpPr/>
          <p:nvPr/>
        </p:nvSpPr>
        <p:spPr>
          <a:xfrm>
            <a:off x="1554480" y="9144000"/>
            <a:ext cx="7817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Quem aprovou? Por quê? Baseado em qual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decisão? Ninguém responde sem arqueologia.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1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22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02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A PROPOSTA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685800" y="960120"/>
            <a:ext cx="8915040" cy="21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2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Governança não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2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é processo.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2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É infraestrutura.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685800" y="4754880"/>
            <a:ext cx="891504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500" spc="-1" strike="noStrike">
                <a:solidFill>
                  <a:srgbClr val="cbd5e1"/>
                </a:solidFill>
                <a:latin typeface="Inter"/>
              </a:rPr>
              <a:t>O GCA é um produto instalável que embute em infraestrutura: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6"/>
          <p:cNvSpPr/>
          <p:nvPr/>
        </p:nvSpPr>
        <p:spPr>
          <a:xfrm>
            <a:off x="685800" y="5577840"/>
            <a:ext cx="2849400" cy="329148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ounded Rectangle 7"/>
          <p:cNvSpPr/>
          <p:nvPr/>
        </p:nvSpPr>
        <p:spPr>
          <a:xfrm>
            <a:off x="685800" y="5577840"/>
            <a:ext cx="2849400" cy="9108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960120" y="5897880"/>
            <a:ext cx="2300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2200" spc="-1" strike="noStrike">
                <a:solidFill>
                  <a:srgbClr val="f1f5f9"/>
                </a:solidFill>
                <a:latin typeface="Inter"/>
              </a:rPr>
              <a:t>OCG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9"/>
          <p:cNvSpPr/>
          <p:nvPr/>
        </p:nvSpPr>
        <p:spPr>
          <a:xfrm>
            <a:off x="960120" y="6629400"/>
            <a:ext cx="230076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1" lang="pt-BR" sz="1200" spc="-1" strike="noStrike">
                <a:solidFill>
                  <a:srgbClr val="cbd5e1"/>
                </a:solidFill>
                <a:latin typeface="Inter"/>
              </a:rPr>
              <a:t>Objeto de Contexto Global.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Fonte única de verdade viva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do projeto. Versionado,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auditável, reativo.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ounded Rectangle 10"/>
          <p:cNvSpPr/>
          <p:nvPr/>
        </p:nvSpPr>
        <p:spPr>
          <a:xfrm>
            <a:off x="3718440" y="5577840"/>
            <a:ext cx="2849400" cy="329148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ounded Rectangle 11"/>
          <p:cNvSpPr/>
          <p:nvPr/>
        </p:nvSpPr>
        <p:spPr>
          <a:xfrm>
            <a:off x="3718440" y="5577840"/>
            <a:ext cx="2849400" cy="9108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3992760" y="5897880"/>
            <a:ext cx="2300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2200" spc="-1" strike="noStrike">
                <a:solidFill>
                  <a:srgbClr val="f1f5f9"/>
                </a:solidFill>
                <a:latin typeface="Inter"/>
              </a:rPr>
              <a:t>Pipeline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3992760" y="6629400"/>
            <a:ext cx="230076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Questionário → OCG → CodeGen →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Testes → Docs. Cada etapa lê 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OCG antes, atualiza depois.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14"/>
          <p:cNvSpPr/>
          <p:nvPr/>
        </p:nvSpPr>
        <p:spPr>
          <a:xfrm>
            <a:off x="6751440" y="5577840"/>
            <a:ext cx="2849400" cy="329148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Rounded Rectangle 15"/>
          <p:cNvSpPr/>
          <p:nvPr/>
        </p:nvSpPr>
        <p:spPr>
          <a:xfrm>
            <a:off x="6751440" y="5577840"/>
            <a:ext cx="2849400" cy="9108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16"/>
          <p:cNvSpPr/>
          <p:nvPr/>
        </p:nvSpPr>
        <p:spPr>
          <a:xfrm>
            <a:off x="7025760" y="5897880"/>
            <a:ext cx="2300760" cy="38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2200" spc="-1" strike="noStrike">
                <a:solidFill>
                  <a:srgbClr val="f1f5f9"/>
                </a:solidFill>
                <a:latin typeface="Inter"/>
              </a:rPr>
              <a:t>Evidência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7"/>
          <p:cNvSpPr/>
          <p:nvPr/>
        </p:nvSpPr>
        <p:spPr>
          <a:xfrm>
            <a:off x="7025760" y="6629400"/>
            <a:ext cx="23007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RBAC de 5 papéis + auditoria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SHA-256 + LGPD/GDPR +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Billing por IA embutidos.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8"/>
          <p:cNvSpPr/>
          <p:nvPr/>
        </p:nvSpPr>
        <p:spPr>
          <a:xfrm>
            <a:off x="685800" y="9509760"/>
            <a:ext cx="8915040" cy="102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pt-BR" sz="1800" spc="-1" strike="noStrike">
                <a:solidFill>
                  <a:srgbClr val="a78bfa"/>
                </a:solidFill>
                <a:latin typeface="Inter"/>
              </a:rPr>
              <a:t>Uma instância por cliente.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b="1" lang="pt-BR" sz="1800" spc="-1" strike="noStrike">
                <a:solidFill>
                  <a:srgbClr val="a78bfa"/>
                </a:solidFill>
                <a:latin typeface="Inter"/>
              </a:rPr>
              <a:t>Um projeto por vez.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b="1" lang="pt-BR" sz="1800" spc="-1" strike="noStrike">
                <a:solidFill>
                  <a:srgbClr val="a78bfa"/>
                </a:solidFill>
                <a:latin typeface="Inter"/>
              </a:rPr>
              <a:t>Uma fonte de verdade.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9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20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03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COMO FUNCIONA · 01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685800" y="960120"/>
            <a:ext cx="891504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pt-BR" sz="2800" spc="-1" strike="noStrike">
                <a:solidFill>
                  <a:srgbClr val="f1f5f9"/>
                </a:solidFill>
                <a:latin typeface="Inter"/>
              </a:rPr>
              <a:t>OCG — a inteligência viva do projeto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5"/>
          <p:cNvSpPr/>
          <p:nvPr/>
        </p:nvSpPr>
        <p:spPr>
          <a:xfrm>
            <a:off x="685800" y="3108960"/>
            <a:ext cx="8915040" cy="566892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ounded Rectangle 6"/>
          <p:cNvSpPr/>
          <p:nvPr/>
        </p:nvSpPr>
        <p:spPr>
          <a:xfrm>
            <a:off x="685800" y="3108960"/>
            <a:ext cx="8915040" cy="548280"/>
          </a:xfrm>
          <a:prstGeom prst="roundRect">
            <a:avLst>
              <a:gd name="adj" fmla="val 12000"/>
            </a:avLst>
          </a:prstGeom>
          <a:solidFill>
            <a:srgbClr val="1720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960120" y="3218760"/>
            <a:ext cx="8366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JetBrains Mono"/>
              </a:rPr>
              <a:t>gca.local  ·  /projects/financehub-pro/ocg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1005840" y="3886200"/>
            <a:ext cx="827496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800" spc="-1" strike="noStrike">
                <a:solidFill>
                  <a:srgbClr val="f1f5f9"/>
                </a:solidFill>
                <a:latin typeface="Inter"/>
              </a:rPr>
              <a:t>OCG v7  ·  FinanceHub Pro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ounded Rectangle 9"/>
          <p:cNvSpPr/>
          <p:nvPr/>
        </p:nvSpPr>
        <p:spPr>
          <a:xfrm>
            <a:off x="6675120" y="3950280"/>
            <a:ext cx="1791720" cy="438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861600" y="4092840"/>
            <a:ext cx="141840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0a0f1f"/>
                </a:solidFill>
                <a:latin typeface="Inter"/>
              </a:rPr>
              <a:t>NEEDS_REVIEW  82/100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1"/>
          <p:cNvSpPr/>
          <p:nvPr/>
        </p:nvSpPr>
        <p:spPr>
          <a:xfrm>
            <a:off x="1005840" y="4343400"/>
            <a:ext cx="82749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i="1" lang="pt-BR" sz="1000" spc="-1" strike="noStrike">
                <a:solidFill>
                  <a:srgbClr val="94a3b8"/>
                </a:solidFill>
                <a:latin typeface="Inter"/>
              </a:rPr>
              <a:t>atualizado há 12 min  ·  delta: DOCUMENT_INGESTED (2 docs)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ounded Rectangle 12"/>
          <p:cNvSpPr/>
          <p:nvPr/>
        </p:nvSpPr>
        <p:spPr>
          <a:xfrm>
            <a:off x="105156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13"/>
          <p:cNvSpPr/>
          <p:nvPr/>
        </p:nvSpPr>
        <p:spPr>
          <a:xfrm>
            <a:off x="105156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4"/>
          <p:cNvSpPr/>
          <p:nvPr/>
        </p:nvSpPr>
        <p:spPr>
          <a:xfrm>
            <a:off x="105156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10b981"/>
                </a:solidFill>
                <a:latin typeface="Inter"/>
              </a:rPr>
              <a:t>88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15"/>
          <p:cNvSpPr/>
          <p:nvPr/>
        </p:nvSpPr>
        <p:spPr>
          <a:xfrm>
            <a:off x="118872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Rounded Rectangle 16"/>
          <p:cNvSpPr/>
          <p:nvPr/>
        </p:nvSpPr>
        <p:spPr>
          <a:xfrm>
            <a:off x="1188720" y="5669280"/>
            <a:ext cx="718200" cy="72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ounded Rectangle 17"/>
          <p:cNvSpPr/>
          <p:nvPr/>
        </p:nvSpPr>
        <p:spPr>
          <a:xfrm>
            <a:off x="223380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8"/>
          <p:cNvSpPr/>
          <p:nvPr/>
        </p:nvSpPr>
        <p:spPr>
          <a:xfrm>
            <a:off x="223380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9"/>
          <p:cNvSpPr/>
          <p:nvPr/>
        </p:nvSpPr>
        <p:spPr>
          <a:xfrm>
            <a:off x="223380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f59e0b"/>
                </a:solidFill>
                <a:latin typeface="Inter"/>
              </a:rPr>
              <a:t>74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20"/>
          <p:cNvSpPr/>
          <p:nvPr/>
        </p:nvSpPr>
        <p:spPr>
          <a:xfrm>
            <a:off x="237096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ounded Rectangle 21"/>
          <p:cNvSpPr/>
          <p:nvPr/>
        </p:nvSpPr>
        <p:spPr>
          <a:xfrm>
            <a:off x="2370960" y="5669280"/>
            <a:ext cx="603720" cy="72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ounded Rectangle 22"/>
          <p:cNvSpPr/>
          <p:nvPr/>
        </p:nvSpPr>
        <p:spPr>
          <a:xfrm>
            <a:off x="341604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23"/>
          <p:cNvSpPr/>
          <p:nvPr/>
        </p:nvSpPr>
        <p:spPr>
          <a:xfrm>
            <a:off x="341604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4"/>
          <p:cNvSpPr/>
          <p:nvPr/>
        </p:nvSpPr>
        <p:spPr>
          <a:xfrm>
            <a:off x="341604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10b981"/>
                </a:solidFill>
                <a:latin typeface="Inter"/>
              </a:rPr>
              <a:t>91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25"/>
          <p:cNvSpPr/>
          <p:nvPr/>
        </p:nvSpPr>
        <p:spPr>
          <a:xfrm>
            <a:off x="355320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Rounded Rectangle 26"/>
          <p:cNvSpPr/>
          <p:nvPr/>
        </p:nvSpPr>
        <p:spPr>
          <a:xfrm>
            <a:off x="3553200" y="5669280"/>
            <a:ext cx="742680" cy="72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ounded Rectangle 27"/>
          <p:cNvSpPr/>
          <p:nvPr/>
        </p:nvSpPr>
        <p:spPr>
          <a:xfrm>
            <a:off x="459828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28"/>
          <p:cNvSpPr/>
          <p:nvPr/>
        </p:nvSpPr>
        <p:spPr>
          <a:xfrm>
            <a:off x="459828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29"/>
          <p:cNvSpPr/>
          <p:nvPr/>
        </p:nvSpPr>
        <p:spPr>
          <a:xfrm>
            <a:off x="459828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f59e0b"/>
                </a:solidFill>
                <a:latin typeface="Inter"/>
              </a:rPr>
              <a:t>79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30"/>
          <p:cNvSpPr/>
          <p:nvPr/>
        </p:nvSpPr>
        <p:spPr>
          <a:xfrm>
            <a:off x="473544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Rounded Rectangle 31"/>
          <p:cNvSpPr/>
          <p:nvPr/>
        </p:nvSpPr>
        <p:spPr>
          <a:xfrm>
            <a:off x="4735440" y="5669280"/>
            <a:ext cx="644760" cy="72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ounded Rectangle 32"/>
          <p:cNvSpPr/>
          <p:nvPr/>
        </p:nvSpPr>
        <p:spPr>
          <a:xfrm>
            <a:off x="578016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33"/>
          <p:cNvSpPr/>
          <p:nvPr/>
        </p:nvSpPr>
        <p:spPr>
          <a:xfrm>
            <a:off x="578016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4"/>
          <p:cNvSpPr/>
          <p:nvPr/>
        </p:nvSpPr>
        <p:spPr>
          <a:xfrm>
            <a:off x="578016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10b981"/>
                </a:solidFill>
                <a:latin typeface="Inter"/>
              </a:rPr>
              <a:t>86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35"/>
          <p:cNvSpPr/>
          <p:nvPr/>
        </p:nvSpPr>
        <p:spPr>
          <a:xfrm>
            <a:off x="591732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Rounded Rectangle 36"/>
          <p:cNvSpPr/>
          <p:nvPr/>
        </p:nvSpPr>
        <p:spPr>
          <a:xfrm>
            <a:off x="5917320" y="5669280"/>
            <a:ext cx="701640" cy="72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6" name="Rounded Rectangle 37"/>
          <p:cNvSpPr/>
          <p:nvPr/>
        </p:nvSpPr>
        <p:spPr>
          <a:xfrm>
            <a:off x="696240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38"/>
          <p:cNvSpPr/>
          <p:nvPr/>
        </p:nvSpPr>
        <p:spPr>
          <a:xfrm>
            <a:off x="696240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9"/>
          <p:cNvSpPr/>
          <p:nvPr/>
        </p:nvSpPr>
        <p:spPr>
          <a:xfrm>
            <a:off x="696240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10b981"/>
                </a:solidFill>
                <a:latin typeface="Inter"/>
              </a:rPr>
              <a:t>81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40"/>
          <p:cNvSpPr/>
          <p:nvPr/>
        </p:nvSpPr>
        <p:spPr>
          <a:xfrm>
            <a:off x="709956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Rounded Rectangle 41"/>
          <p:cNvSpPr/>
          <p:nvPr/>
        </p:nvSpPr>
        <p:spPr>
          <a:xfrm>
            <a:off x="7099560" y="5669280"/>
            <a:ext cx="660960" cy="727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ounded Rectangle 42"/>
          <p:cNvSpPr/>
          <p:nvPr/>
        </p:nvSpPr>
        <p:spPr>
          <a:xfrm>
            <a:off x="8144640" y="4800600"/>
            <a:ext cx="1090440" cy="105120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TextBox 43"/>
          <p:cNvSpPr/>
          <p:nvPr/>
        </p:nvSpPr>
        <p:spPr>
          <a:xfrm>
            <a:off x="8144640" y="4910400"/>
            <a:ext cx="10904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P7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44"/>
          <p:cNvSpPr/>
          <p:nvPr/>
        </p:nvSpPr>
        <p:spPr>
          <a:xfrm>
            <a:off x="8144640" y="5212080"/>
            <a:ext cx="109044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f59e0b"/>
                </a:solidFill>
                <a:latin typeface="Inter"/>
              </a:rPr>
              <a:t>72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45"/>
          <p:cNvSpPr/>
          <p:nvPr/>
        </p:nvSpPr>
        <p:spPr>
          <a:xfrm>
            <a:off x="8281800" y="5669280"/>
            <a:ext cx="816120" cy="72720"/>
          </a:xfrm>
          <a:prstGeom prst="roundRect">
            <a:avLst>
              <a:gd name="adj" fmla="val 50000"/>
            </a:avLst>
          </a:prstGeom>
          <a:solidFill>
            <a:srgbClr val="2b36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ounded Rectangle 46"/>
          <p:cNvSpPr/>
          <p:nvPr/>
        </p:nvSpPr>
        <p:spPr>
          <a:xfrm>
            <a:off x="8281800" y="5669280"/>
            <a:ext cx="587520" cy="727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6840" bIns="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47"/>
          <p:cNvSpPr/>
          <p:nvPr/>
        </p:nvSpPr>
        <p:spPr>
          <a:xfrm>
            <a:off x="1005840" y="6080760"/>
            <a:ext cx="82749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STACK RECOMENDADO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48"/>
          <p:cNvSpPr/>
          <p:nvPr/>
        </p:nvSpPr>
        <p:spPr>
          <a:xfrm>
            <a:off x="1005840" y="6400800"/>
            <a:ext cx="8274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JetBrains Mono"/>
              </a:rPr>
              <a:t>Python · FastAPI · PostgreSQL 16 · Redis · React + Vite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49"/>
          <p:cNvSpPr/>
          <p:nvPr/>
        </p:nvSpPr>
        <p:spPr>
          <a:xfrm>
            <a:off x="1005840" y="7040880"/>
            <a:ext cx="8274960" cy="82260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solidFill>
              <a:srgbClr val="f59e0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50"/>
          <p:cNvSpPr/>
          <p:nvPr/>
        </p:nvSpPr>
        <p:spPr>
          <a:xfrm>
            <a:off x="1234440" y="7178040"/>
            <a:ext cx="36540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800" spc="-1" strike="noStrike">
                <a:solidFill>
                  <a:srgbClr val="f59e0b"/>
                </a:solidFill>
                <a:latin typeface="Inter"/>
              </a:rPr>
              <a:t>⚠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51"/>
          <p:cNvSpPr/>
          <p:nvPr/>
        </p:nvSpPr>
        <p:spPr>
          <a:xfrm>
            <a:off x="1691640" y="7178040"/>
            <a:ext cx="726912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59e0b"/>
                </a:solidFill>
                <a:latin typeface="Inter"/>
              </a:rPr>
              <a:t>CRITICAL_FINDING · P2 LGPD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Box 52"/>
          <p:cNvSpPr/>
          <p:nvPr/>
        </p:nvSpPr>
        <p:spPr>
          <a:xfrm>
            <a:off x="1691640" y="7498080"/>
            <a:ext cx="726912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Ausência de política de retenção bloqueia CodeGen do módulo Pagamentos.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53"/>
          <p:cNvSpPr/>
          <p:nvPr/>
        </p:nvSpPr>
        <p:spPr>
          <a:xfrm>
            <a:off x="1005840" y="7955280"/>
            <a:ext cx="82749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ÚLTIMOS DELTAS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54"/>
          <p:cNvSpPr/>
          <p:nvPr/>
        </p:nvSpPr>
        <p:spPr>
          <a:xfrm>
            <a:off x="1005840" y="822960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JetBrains Mono"/>
              </a:rPr>
              <a:t>+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55"/>
          <p:cNvSpPr/>
          <p:nvPr/>
        </p:nvSpPr>
        <p:spPr>
          <a:xfrm>
            <a:off x="1325880" y="8229600"/>
            <a:ext cx="80006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BUSINESS_RULES: Nota fiscal até 24h pós-venda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56"/>
          <p:cNvSpPr/>
          <p:nvPr/>
        </p:nvSpPr>
        <p:spPr>
          <a:xfrm>
            <a:off x="1005840" y="850392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59e0b"/>
                </a:solidFill>
                <a:latin typeface="JetBrains Mono"/>
              </a:rPr>
              <a:t>~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57"/>
          <p:cNvSpPr/>
          <p:nvPr/>
        </p:nvSpPr>
        <p:spPr>
          <a:xfrm>
            <a:off x="1325880" y="8503920"/>
            <a:ext cx="80006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PILLAR_SCORES.P2: 81 → 74 (doc conflitante)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58"/>
          <p:cNvSpPr/>
          <p:nvPr/>
        </p:nvSpPr>
        <p:spPr>
          <a:xfrm>
            <a:off x="1005840" y="8778240"/>
            <a:ext cx="228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JetBrains Mono"/>
              </a:rPr>
              <a:t>+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59"/>
          <p:cNvSpPr/>
          <p:nvPr/>
        </p:nvSpPr>
        <p:spPr>
          <a:xfrm>
            <a:off x="1325880" y="8778240"/>
            <a:ext cx="80006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COMPLIANCE_CHECKLIST: item LGPD-03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60"/>
          <p:cNvSpPr/>
          <p:nvPr/>
        </p:nvSpPr>
        <p:spPr>
          <a:xfrm>
            <a:off x="685800" y="9052560"/>
            <a:ext cx="8915040" cy="53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300" spc="-1" strike="noStrike">
                <a:solidFill>
                  <a:srgbClr val="cbd5e1"/>
                </a:solidFill>
                <a:latin typeface="Inter"/>
              </a:rPr>
              <a:t>12 seções canônicas · versionado a cada evento do pipeline · expande com boa ingestão, contrai com conflito · bloqueia CodeGen quando P2 ou P7 &lt; 70.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61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62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04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COMO FUNCIONA · 02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4"/>
          <p:cNvSpPr/>
          <p:nvPr/>
        </p:nvSpPr>
        <p:spPr>
          <a:xfrm>
            <a:off x="685800" y="960120"/>
            <a:ext cx="8915040" cy="10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pt-BR" sz="3200" spc="-1" strike="noStrike">
                <a:solidFill>
                  <a:srgbClr val="f1f5f9"/>
                </a:solidFill>
                <a:latin typeface="Inter"/>
              </a:rPr>
              <a:t>Pipeline governado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pt-BR" sz="3200" spc="-1" strike="noStrike">
                <a:solidFill>
                  <a:srgbClr val="f1f5f9"/>
                </a:solidFill>
                <a:latin typeface="Inter"/>
              </a:rPr>
              <a:t>ponta a ponta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5"/>
          <p:cNvSpPr/>
          <p:nvPr/>
        </p:nvSpPr>
        <p:spPr>
          <a:xfrm>
            <a:off x="685800" y="3017520"/>
            <a:ext cx="8915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i="1" lang="pt-BR" sz="1300" spc="-1" strike="noStrike">
                <a:solidFill>
                  <a:srgbClr val="94a3b8"/>
                </a:solidFill>
                <a:latin typeface="Inter"/>
              </a:rPr>
              <a:t>Cada etapa lê o OCG antes, atualiza o OCG depois. Audit SHA-256 em toda transição.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Rounded Rectangle 6"/>
          <p:cNvSpPr/>
          <p:nvPr/>
        </p:nvSpPr>
        <p:spPr>
          <a:xfrm>
            <a:off x="685800" y="393192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Oval 7"/>
          <p:cNvSpPr/>
          <p:nvPr/>
        </p:nvSpPr>
        <p:spPr>
          <a:xfrm>
            <a:off x="822960" y="4069080"/>
            <a:ext cx="347040" cy="3470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9" name="TextBox 8"/>
          <p:cNvSpPr/>
          <p:nvPr/>
        </p:nvSpPr>
        <p:spPr>
          <a:xfrm>
            <a:off x="822960" y="414576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9"/>
          <p:cNvSpPr/>
          <p:nvPr/>
        </p:nvSpPr>
        <p:spPr>
          <a:xfrm>
            <a:off x="822960" y="457200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Questionário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0"/>
          <p:cNvSpPr/>
          <p:nvPr/>
        </p:nvSpPr>
        <p:spPr>
          <a:xfrm>
            <a:off x="822960" y="498348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Kickoff externo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ounded Rectangle 11"/>
          <p:cNvSpPr/>
          <p:nvPr/>
        </p:nvSpPr>
        <p:spPr>
          <a:xfrm>
            <a:off x="2505600" y="393192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Oval 12"/>
          <p:cNvSpPr/>
          <p:nvPr/>
        </p:nvSpPr>
        <p:spPr>
          <a:xfrm>
            <a:off x="2642760" y="4069080"/>
            <a:ext cx="347040" cy="3470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13"/>
          <p:cNvSpPr/>
          <p:nvPr/>
        </p:nvSpPr>
        <p:spPr>
          <a:xfrm>
            <a:off x="2642760" y="414576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4"/>
          <p:cNvSpPr/>
          <p:nvPr/>
        </p:nvSpPr>
        <p:spPr>
          <a:xfrm>
            <a:off x="2642760" y="4572000"/>
            <a:ext cx="13622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Repos + Ingestão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5"/>
          <p:cNvSpPr/>
          <p:nvPr/>
        </p:nvSpPr>
        <p:spPr>
          <a:xfrm>
            <a:off x="2642760" y="498348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Código legado + docs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6"/>
          <p:cNvSpPr/>
          <p:nvPr/>
        </p:nvSpPr>
        <p:spPr>
          <a:xfrm>
            <a:off x="4325040" y="393192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Oval 17"/>
          <p:cNvSpPr/>
          <p:nvPr/>
        </p:nvSpPr>
        <p:spPr>
          <a:xfrm>
            <a:off x="4462200" y="4069080"/>
            <a:ext cx="347040" cy="3470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TextBox 18"/>
          <p:cNvSpPr/>
          <p:nvPr/>
        </p:nvSpPr>
        <p:spPr>
          <a:xfrm>
            <a:off x="4462200" y="414576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19"/>
          <p:cNvSpPr/>
          <p:nvPr/>
        </p:nvSpPr>
        <p:spPr>
          <a:xfrm>
            <a:off x="4462200" y="457200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Gatekeeper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20"/>
          <p:cNvSpPr/>
          <p:nvPr/>
        </p:nvSpPr>
        <p:spPr>
          <a:xfrm>
            <a:off x="4462200" y="498348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Scoring 7 pilares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ounded Rectangle 21"/>
          <p:cNvSpPr/>
          <p:nvPr/>
        </p:nvSpPr>
        <p:spPr>
          <a:xfrm>
            <a:off x="6144840" y="393192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Oval 22"/>
          <p:cNvSpPr/>
          <p:nvPr/>
        </p:nvSpPr>
        <p:spPr>
          <a:xfrm>
            <a:off x="6282000" y="4069080"/>
            <a:ext cx="347040" cy="34704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TextBox 23"/>
          <p:cNvSpPr/>
          <p:nvPr/>
        </p:nvSpPr>
        <p:spPr>
          <a:xfrm>
            <a:off x="6282000" y="414576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24"/>
          <p:cNvSpPr/>
          <p:nvPr/>
        </p:nvSpPr>
        <p:spPr>
          <a:xfrm>
            <a:off x="6282000" y="457200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Arguidor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25"/>
          <p:cNvSpPr/>
          <p:nvPr/>
        </p:nvSpPr>
        <p:spPr>
          <a:xfrm>
            <a:off x="6282000" y="498348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Perguntas dirigidas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ounded Rectangle 26"/>
          <p:cNvSpPr/>
          <p:nvPr/>
        </p:nvSpPr>
        <p:spPr>
          <a:xfrm>
            <a:off x="7964280" y="393192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Oval 27"/>
          <p:cNvSpPr/>
          <p:nvPr/>
        </p:nvSpPr>
        <p:spPr>
          <a:xfrm>
            <a:off x="8101440" y="4069080"/>
            <a:ext cx="347040" cy="347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TextBox 28"/>
          <p:cNvSpPr/>
          <p:nvPr/>
        </p:nvSpPr>
        <p:spPr>
          <a:xfrm>
            <a:off x="8101440" y="414576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29"/>
          <p:cNvSpPr/>
          <p:nvPr/>
        </p:nvSpPr>
        <p:spPr>
          <a:xfrm>
            <a:off x="8101440" y="457200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OCG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30"/>
          <p:cNvSpPr/>
          <p:nvPr/>
        </p:nvSpPr>
        <p:spPr>
          <a:xfrm>
            <a:off x="8101440" y="498348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Consolidação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Rounded Rectangle 31"/>
          <p:cNvSpPr/>
          <p:nvPr/>
        </p:nvSpPr>
        <p:spPr>
          <a:xfrm>
            <a:off x="685800" y="589788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Oval 32"/>
          <p:cNvSpPr/>
          <p:nvPr/>
        </p:nvSpPr>
        <p:spPr>
          <a:xfrm>
            <a:off x="822960" y="6035040"/>
            <a:ext cx="347040" cy="347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33"/>
          <p:cNvSpPr/>
          <p:nvPr/>
        </p:nvSpPr>
        <p:spPr>
          <a:xfrm>
            <a:off x="822960" y="611172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34"/>
          <p:cNvSpPr/>
          <p:nvPr/>
        </p:nvSpPr>
        <p:spPr>
          <a:xfrm>
            <a:off x="822960" y="653796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CodeGen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35"/>
          <p:cNvSpPr/>
          <p:nvPr/>
        </p:nvSpPr>
        <p:spPr>
          <a:xfrm>
            <a:off x="822960" y="694944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Scaffold + módulo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36"/>
          <p:cNvSpPr/>
          <p:nvPr/>
        </p:nvSpPr>
        <p:spPr>
          <a:xfrm>
            <a:off x="2505600" y="589788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Oval 37"/>
          <p:cNvSpPr/>
          <p:nvPr/>
        </p:nvSpPr>
        <p:spPr>
          <a:xfrm>
            <a:off x="2642760" y="6035040"/>
            <a:ext cx="347040" cy="347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9" name="TextBox 38"/>
          <p:cNvSpPr/>
          <p:nvPr/>
        </p:nvSpPr>
        <p:spPr>
          <a:xfrm>
            <a:off x="2642760" y="611172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39"/>
          <p:cNvSpPr/>
          <p:nvPr/>
        </p:nvSpPr>
        <p:spPr>
          <a:xfrm>
            <a:off x="2642760" y="653796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Testes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40"/>
          <p:cNvSpPr/>
          <p:nvPr/>
        </p:nvSpPr>
        <p:spPr>
          <a:xfrm>
            <a:off x="2642760" y="694944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Unit + Int + E2E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ounded Rectangle 41"/>
          <p:cNvSpPr/>
          <p:nvPr/>
        </p:nvSpPr>
        <p:spPr>
          <a:xfrm>
            <a:off x="4325040" y="589788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Oval 42"/>
          <p:cNvSpPr/>
          <p:nvPr/>
        </p:nvSpPr>
        <p:spPr>
          <a:xfrm>
            <a:off x="4462200" y="6035040"/>
            <a:ext cx="347040" cy="347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43"/>
          <p:cNvSpPr/>
          <p:nvPr/>
        </p:nvSpPr>
        <p:spPr>
          <a:xfrm>
            <a:off x="4462200" y="611172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44"/>
          <p:cNvSpPr/>
          <p:nvPr/>
        </p:nvSpPr>
        <p:spPr>
          <a:xfrm>
            <a:off x="4462200" y="653796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QA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45"/>
          <p:cNvSpPr/>
          <p:nvPr/>
        </p:nvSpPr>
        <p:spPr>
          <a:xfrm>
            <a:off x="4462200" y="694944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Revisão + execução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46"/>
          <p:cNvSpPr/>
          <p:nvPr/>
        </p:nvSpPr>
        <p:spPr>
          <a:xfrm>
            <a:off x="6144840" y="589788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8" name="Oval 47"/>
          <p:cNvSpPr/>
          <p:nvPr/>
        </p:nvSpPr>
        <p:spPr>
          <a:xfrm>
            <a:off x="6282000" y="6035040"/>
            <a:ext cx="347040" cy="34704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48"/>
          <p:cNvSpPr/>
          <p:nvPr/>
        </p:nvSpPr>
        <p:spPr>
          <a:xfrm>
            <a:off x="6282000" y="611172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9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49"/>
          <p:cNvSpPr/>
          <p:nvPr/>
        </p:nvSpPr>
        <p:spPr>
          <a:xfrm>
            <a:off x="6282000" y="653796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Roadmap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50"/>
          <p:cNvSpPr/>
          <p:nvPr/>
        </p:nvSpPr>
        <p:spPr>
          <a:xfrm>
            <a:off x="6282000" y="694944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Backlog priorizado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ounded Rectangle 51"/>
          <p:cNvSpPr/>
          <p:nvPr/>
        </p:nvSpPr>
        <p:spPr>
          <a:xfrm>
            <a:off x="7964280" y="5897880"/>
            <a:ext cx="1636560" cy="15998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Oval 52"/>
          <p:cNvSpPr/>
          <p:nvPr/>
        </p:nvSpPr>
        <p:spPr>
          <a:xfrm>
            <a:off x="8101440" y="6035040"/>
            <a:ext cx="347040" cy="347040"/>
          </a:xfrm>
          <a:prstGeom prst="ellipse">
            <a:avLst/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4" name="TextBox 53"/>
          <p:cNvSpPr/>
          <p:nvPr/>
        </p:nvSpPr>
        <p:spPr>
          <a:xfrm>
            <a:off x="8101440" y="6111720"/>
            <a:ext cx="34704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10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54"/>
          <p:cNvSpPr/>
          <p:nvPr/>
        </p:nvSpPr>
        <p:spPr>
          <a:xfrm>
            <a:off x="8101440" y="6537960"/>
            <a:ext cx="1362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f1f5f9"/>
                </a:solidFill>
                <a:latin typeface="Inter"/>
              </a:rPr>
              <a:t>Docs Vivas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55"/>
          <p:cNvSpPr/>
          <p:nvPr/>
        </p:nvSpPr>
        <p:spPr>
          <a:xfrm>
            <a:off x="8101440" y="6949440"/>
            <a:ext cx="1362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Inter"/>
              </a:rPr>
              <a:t>ERS · LiveDocs · Matriz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ounded Rectangle 56"/>
          <p:cNvSpPr/>
          <p:nvPr/>
        </p:nvSpPr>
        <p:spPr>
          <a:xfrm>
            <a:off x="685800" y="7772400"/>
            <a:ext cx="8915040" cy="137124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57"/>
          <p:cNvSpPr/>
          <p:nvPr/>
        </p:nvSpPr>
        <p:spPr>
          <a:xfrm>
            <a:off x="960120" y="7955280"/>
            <a:ext cx="836640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a78bfa"/>
                </a:solidFill>
                <a:latin typeface="Inter"/>
              </a:rPr>
              <a:t>Sem OCG, sem avanço.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58"/>
          <p:cNvSpPr/>
          <p:nvPr/>
        </p:nvSpPr>
        <p:spPr>
          <a:xfrm>
            <a:off x="960120" y="8412480"/>
            <a:ext cx="8366400" cy="24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Dados ruins ou conflitantes contraem o OCG, param o pipeline e pedem resolução ao GP. Nada de caixa-preta.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Box 59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60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05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COMO FUNCIONA · 03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685800" y="960120"/>
            <a:ext cx="891504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pt-BR" sz="2800" spc="-1" strike="noStrike">
                <a:solidFill>
                  <a:srgbClr val="f1f5f9"/>
                </a:solidFill>
                <a:latin typeface="Inter"/>
              </a:rPr>
              <a:t>CodeGen — código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pt-BR" sz="2800" spc="-1" strike="noStrike">
                <a:solidFill>
                  <a:srgbClr val="f1f5f9"/>
                </a:solidFill>
                <a:latin typeface="Inter"/>
              </a:rPr>
              <a:t>nasce dentro do contrato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5"/>
          <p:cNvSpPr/>
          <p:nvPr/>
        </p:nvSpPr>
        <p:spPr>
          <a:xfrm>
            <a:off x="685800" y="3200400"/>
            <a:ext cx="8915040" cy="512028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ounded Rectangle 6"/>
          <p:cNvSpPr/>
          <p:nvPr/>
        </p:nvSpPr>
        <p:spPr>
          <a:xfrm>
            <a:off x="685800" y="3200400"/>
            <a:ext cx="8915040" cy="548280"/>
          </a:xfrm>
          <a:prstGeom prst="roundRect">
            <a:avLst>
              <a:gd name="adj" fmla="val 12000"/>
            </a:avLst>
          </a:prstGeom>
          <a:solidFill>
            <a:srgbClr val="1720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7"/>
          <p:cNvSpPr/>
          <p:nvPr/>
        </p:nvSpPr>
        <p:spPr>
          <a:xfrm>
            <a:off x="960120" y="3310200"/>
            <a:ext cx="8366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JetBrains Mono"/>
              </a:rPr>
              <a:t>gca.local  ·  /projects/financehub-pro/codegen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8"/>
          <p:cNvSpPr/>
          <p:nvPr/>
        </p:nvSpPr>
        <p:spPr>
          <a:xfrm>
            <a:off x="1005840" y="3977640"/>
            <a:ext cx="827496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f1f5f9"/>
                </a:solidFill>
                <a:latin typeface="Inter"/>
              </a:rPr>
              <a:t>Scaffold gerado  ·  RF-003 · Regras de Pagamento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ounded Rectangle 9"/>
          <p:cNvSpPr/>
          <p:nvPr/>
        </p:nvSpPr>
        <p:spPr>
          <a:xfrm>
            <a:off x="7315200" y="4041720"/>
            <a:ext cx="1645560" cy="43848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 w="63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TextBox 10"/>
          <p:cNvSpPr/>
          <p:nvPr/>
        </p:nvSpPr>
        <p:spPr>
          <a:xfrm>
            <a:off x="7565760" y="4184280"/>
            <a:ext cx="11440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a78bfa"/>
                </a:solidFill>
                <a:latin typeface="Inter"/>
              </a:rPr>
              <a:t>Java + Spring Boot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1"/>
          <p:cNvSpPr/>
          <p:nvPr/>
        </p:nvSpPr>
        <p:spPr>
          <a:xfrm>
            <a:off x="1005840" y="4434840"/>
            <a:ext cx="827496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i="1" lang="pt-BR" sz="1000" spc="-1" strike="noStrike">
                <a:solidFill>
                  <a:srgbClr val="94a3b8"/>
                </a:solidFill>
                <a:latin typeface="Inter"/>
              </a:rPr>
              <a:t>OCG v7  ·  10 arquivos  ·  commit 7b3f41c  ·  todos com docstring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2"/>
          <p:cNvSpPr/>
          <p:nvPr/>
        </p:nvSpPr>
        <p:spPr>
          <a:xfrm>
            <a:off x="1143000" y="489204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src/main/java/com/financehub/payment/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3"/>
          <p:cNvSpPr/>
          <p:nvPr/>
        </p:nvSpPr>
        <p:spPr>
          <a:xfrm>
            <a:off x="1143000" y="516636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PaymentController.java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4"/>
          <p:cNvSpPr/>
          <p:nvPr/>
        </p:nvSpPr>
        <p:spPr>
          <a:xfrm>
            <a:off x="6480720" y="516636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JetBrains Mono"/>
              </a:rPr>
              <a:t>API REST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5"/>
          <p:cNvSpPr/>
          <p:nvPr/>
        </p:nvSpPr>
        <p:spPr>
          <a:xfrm>
            <a:off x="1143000" y="544068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PaymentService.java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16"/>
          <p:cNvSpPr/>
          <p:nvPr/>
        </p:nvSpPr>
        <p:spPr>
          <a:xfrm>
            <a:off x="6480720" y="544068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JetBrains Mono"/>
              </a:rPr>
              <a:t>domínio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17"/>
          <p:cNvSpPr/>
          <p:nvPr/>
        </p:nvSpPr>
        <p:spPr>
          <a:xfrm>
            <a:off x="1143000" y="571500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PaymentRepository.java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18"/>
          <p:cNvSpPr/>
          <p:nvPr/>
        </p:nvSpPr>
        <p:spPr>
          <a:xfrm>
            <a:off x="6480720" y="571500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JetBrains Mono"/>
              </a:rPr>
              <a:t>JPA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9"/>
          <p:cNvSpPr/>
          <p:nvPr/>
        </p:nvSpPr>
        <p:spPr>
          <a:xfrm>
            <a:off x="1143000" y="598932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rules/NotaFiscalRule.java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20"/>
          <p:cNvSpPr/>
          <p:nvPr/>
        </p:nvSpPr>
        <p:spPr>
          <a:xfrm>
            <a:off x="6480720" y="598932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JetBrains Mono"/>
              </a:rPr>
              <a:t>BR-001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21"/>
          <p:cNvSpPr/>
          <p:nvPr/>
        </p:nvSpPr>
        <p:spPr>
          <a:xfrm>
            <a:off x="1143000" y="626364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rules/EstoqueRule.java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2"/>
          <p:cNvSpPr/>
          <p:nvPr/>
        </p:nvSpPr>
        <p:spPr>
          <a:xfrm>
            <a:off x="6480720" y="626364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JetBrains Mono"/>
              </a:rPr>
              <a:t>BR-002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3"/>
          <p:cNvSpPr/>
          <p:nvPr/>
        </p:nvSpPr>
        <p:spPr>
          <a:xfrm>
            <a:off x="1143000" y="653796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src/test/java/.../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24"/>
          <p:cNvSpPr/>
          <p:nvPr/>
        </p:nvSpPr>
        <p:spPr>
          <a:xfrm>
            <a:off x="1143000" y="681228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PaymentServiceTest.java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25"/>
          <p:cNvSpPr/>
          <p:nvPr/>
        </p:nvSpPr>
        <p:spPr>
          <a:xfrm>
            <a:off x="6480720" y="681228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38bdf8"/>
                </a:solidFill>
                <a:latin typeface="JetBrains Mono"/>
              </a:rPr>
              <a:t>unit · JUnit 5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26"/>
          <p:cNvSpPr/>
          <p:nvPr/>
        </p:nvSpPr>
        <p:spPr>
          <a:xfrm>
            <a:off x="1143000" y="708660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├──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PaymentIntegrationTest.java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Box 27"/>
          <p:cNvSpPr/>
          <p:nvPr/>
        </p:nvSpPr>
        <p:spPr>
          <a:xfrm>
            <a:off x="6480720" y="708660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38bdf8"/>
                </a:solidFill>
                <a:latin typeface="JetBrains Mono"/>
              </a:rPr>
              <a:t>integração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Box 28"/>
          <p:cNvSpPr/>
          <p:nvPr/>
        </p:nvSpPr>
        <p:spPr>
          <a:xfrm>
            <a:off x="1143000" y="7360920"/>
            <a:ext cx="552708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└── </a:t>
            </a:r>
            <a:r>
              <a:rPr b="0" lang="pt-BR" sz="1100" spc="-1" strike="noStrike">
                <a:solidFill>
                  <a:srgbClr val="cbd5e1"/>
                </a:solidFill>
                <a:latin typeface="JetBrains Mono"/>
              </a:rPr>
              <a:t>PaymentE2ETest.java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29"/>
          <p:cNvSpPr/>
          <p:nvPr/>
        </p:nvSpPr>
        <p:spPr>
          <a:xfrm>
            <a:off x="6480720" y="7360920"/>
            <a:ext cx="26744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38bdf8"/>
                </a:solidFill>
                <a:latin typeface="JetBrains Mono"/>
              </a:rPr>
              <a:t>end-to-end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ounded Rectangle 30"/>
          <p:cNvSpPr/>
          <p:nvPr/>
        </p:nvSpPr>
        <p:spPr>
          <a:xfrm>
            <a:off x="1005840" y="7589520"/>
            <a:ext cx="8274960" cy="502560"/>
          </a:xfrm>
          <a:prstGeom prst="roundRect">
            <a:avLst>
              <a:gd name="adj" fmla="val 18000"/>
            </a:avLst>
          </a:prstGeom>
          <a:solidFill>
            <a:srgbClr val="1e293b"/>
          </a:solidFill>
          <a:ln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31"/>
          <p:cNvSpPr/>
          <p:nvPr/>
        </p:nvSpPr>
        <p:spPr>
          <a:xfrm>
            <a:off x="1234440" y="7699320"/>
            <a:ext cx="78177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10b981"/>
                </a:solidFill>
                <a:latin typeface="Inter"/>
              </a:rPr>
              <a:t>✓  </a:t>
            </a:r>
            <a:r>
              <a:rPr b="1" lang="pt-BR" sz="1100" spc="-1" strike="noStrike">
                <a:solidFill>
                  <a:srgbClr val="10b981"/>
                </a:solidFill>
                <a:latin typeface="Inter"/>
              </a:rPr>
              <a:t>Rastreável a RF-003 na matriz §4 do ERS  ·  Auditado na trilha SHA-256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32"/>
          <p:cNvSpPr/>
          <p:nvPr/>
        </p:nvSpPr>
        <p:spPr>
          <a:xfrm>
            <a:off x="685800" y="8641080"/>
            <a:ext cx="891504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Inter"/>
              </a:rPr>
              <a:t>8 LINGUAGENS  ·  10 SCAFFOLDERS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ounded Rectangle 33"/>
          <p:cNvSpPr/>
          <p:nvPr/>
        </p:nvSpPr>
        <p:spPr>
          <a:xfrm>
            <a:off x="685800" y="9144000"/>
            <a:ext cx="76788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34"/>
          <p:cNvSpPr/>
          <p:nvPr/>
        </p:nvSpPr>
        <p:spPr>
          <a:xfrm>
            <a:off x="844200" y="9286560"/>
            <a:ext cx="45072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Python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ounded Rectangle 35"/>
          <p:cNvSpPr/>
          <p:nvPr/>
        </p:nvSpPr>
        <p:spPr>
          <a:xfrm>
            <a:off x="1563480" y="9144000"/>
            <a:ext cx="157248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36"/>
          <p:cNvSpPr/>
          <p:nvPr/>
        </p:nvSpPr>
        <p:spPr>
          <a:xfrm>
            <a:off x="1814040" y="9286560"/>
            <a:ext cx="107100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Node.js / Express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Rounded Rectangle 37"/>
          <p:cNvSpPr/>
          <p:nvPr/>
        </p:nvSpPr>
        <p:spPr>
          <a:xfrm>
            <a:off x="3246120" y="9144000"/>
            <a:ext cx="149940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38"/>
          <p:cNvSpPr/>
          <p:nvPr/>
        </p:nvSpPr>
        <p:spPr>
          <a:xfrm>
            <a:off x="3495960" y="9286560"/>
            <a:ext cx="99936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Node.js / NestJS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ounded Rectangle 39"/>
          <p:cNvSpPr/>
          <p:nvPr/>
        </p:nvSpPr>
        <p:spPr>
          <a:xfrm>
            <a:off x="4855320" y="9144000"/>
            <a:ext cx="164556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40"/>
          <p:cNvSpPr/>
          <p:nvPr/>
        </p:nvSpPr>
        <p:spPr>
          <a:xfrm>
            <a:off x="5116680" y="9286560"/>
            <a:ext cx="11228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Java / Spring Boot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ounded Rectangle 41"/>
          <p:cNvSpPr/>
          <p:nvPr/>
        </p:nvSpPr>
        <p:spPr>
          <a:xfrm>
            <a:off x="6611040" y="9144000"/>
            <a:ext cx="135288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42"/>
          <p:cNvSpPr/>
          <p:nvPr/>
        </p:nvSpPr>
        <p:spPr>
          <a:xfrm>
            <a:off x="6823440" y="9286560"/>
            <a:ext cx="92772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Java / Quarkus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ounded Rectangle 43"/>
          <p:cNvSpPr/>
          <p:nvPr/>
        </p:nvSpPr>
        <p:spPr>
          <a:xfrm>
            <a:off x="8074080" y="9144000"/>
            <a:ext cx="142596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44"/>
          <p:cNvSpPr/>
          <p:nvPr/>
        </p:nvSpPr>
        <p:spPr>
          <a:xfrm>
            <a:off x="8334720" y="9286560"/>
            <a:ext cx="9046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Kotlin / Spring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ounded Rectangle 45"/>
          <p:cNvSpPr/>
          <p:nvPr/>
        </p:nvSpPr>
        <p:spPr>
          <a:xfrm>
            <a:off x="9610200" y="9144000"/>
            <a:ext cx="120672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46"/>
          <p:cNvSpPr/>
          <p:nvPr/>
        </p:nvSpPr>
        <p:spPr>
          <a:xfrm>
            <a:off x="9821880" y="9286560"/>
            <a:ext cx="78300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C# / ASP.NET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Rounded Rectangle 47"/>
          <p:cNvSpPr/>
          <p:nvPr/>
        </p:nvSpPr>
        <p:spPr>
          <a:xfrm>
            <a:off x="685800" y="9646920"/>
            <a:ext cx="120672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48"/>
          <p:cNvSpPr/>
          <p:nvPr/>
        </p:nvSpPr>
        <p:spPr>
          <a:xfrm>
            <a:off x="897480" y="9789480"/>
            <a:ext cx="78300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C# / ASP.NET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ounded Rectangle 49"/>
          <p:cNvSpPr/>
          <p:nvPr/>
        </p:nvSpPr>
        <p:spPr>
          <a:xfrm>
            <a:off x="2002680" y="9646920"/>
            <a:ext cx="47520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50"/>
          <p:cNvSpPr/>
          <p:nvPr/>
        </p:nvSpPr>
        <p:spPr>
          <a:xfrm>
            <a:off x="2154960" y="9789480"/>
            <a:ext cx="1702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Go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ounded Rectangle 51"/>
          <p:cNvSpPr/>
          <p:nvPr/>
        </p:nvSpPr>
        <p:spPr>
          <a:xfrm>
            <a:off x="2587680" y="9646920"/>
            <a:ext cx="127980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52"/>
          <p:cNvSpPr/>
          <p:nvPr/>
        </p:nvSpPr>
        <p:spPr>
          <a:xfrm>
            <a:off x="2808720" y="9789480"/>
            <a:ext cx="83772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PHP / Laravel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ounded Rectangle 53"/>
          <p:cNvSpPr/>
          <p:nvPr/>
        </p:nvSpPr>
        <p:spPr>
          <a:xfrm>
            <a:off x="3977640" y="9646920"/>
            <a:ext cx="1133640" cy="438480"/>
          </a:xfrm>
          <a:prstGeom prst="roundRect">
            <a:avLst>
              <a:gd name="adj" fmla="val 50000"/>
            </a:avLst>
          </a:prstGeom>
          <a:solidFill>
            <a:srgbClr val="172039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54"/>
          <p:cNvSpPr/>
          <p:nvPr/>
        </p:nvSpPr>
        <p:spPr>
          <a:xfrm>
            <a:off x="4157640" y="9789480"/>
            <a:ext cx="77364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f1f5f9"/>
                </a:solidFill>
                <a:latin typeface="Inter"/>
              </a:rPr>
              <a:t>C++ / CMake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55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56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06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COMO FUNCIONA · 04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4"/>
          <p:cNvSpPr/>
          <p:nvPr/>
        </p:nvSpPr>
        <p:spPr>
          <a:xfrm>
            <a:off x="685800" y="960120"/>
            <a:ext cx="8915040" cy="8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pt-BR" sz="2800" spc="-1" strike="noStrike">
                <a:solidFill>
                  <a:srgbClr val="f1f5f9"/>
                </a:solidFill>
                <a:latin typeface="Inter"/>
              </a:rPr>
              <a:t>ERS vivo — IEEE 830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pt-BR" sz="2800" spc="-1" strike="noStrike">
                <a:solidFill>
                  <a:srgbClr val="f1f5f9"/>
                </a:solidFill>
                <a:latin typeface="Inter"/>
              </a:rPr>
              <a:t>que não envelhece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ounded Rectangle 5"/>
          <p:cNvSpPr/>
          <p:nvPr/>
        </p:nvSpPr>
        <p:spPr>
          <a:xfrm>
            <a:off x="685800" y="3200400"/>
            <a:ext cx="8915040" cy="58518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Rounded Rectangle 6"/>
          <p:cNvSpPr/>
          <p:nvPr/>
        </p:nvSpPr>
        <p:spPr>
          <a:xfrm>
            <a:off x="685800" y="3200400"/>
            <a:ext cx="8915040" cy="548280"/>
          </a:xfrm>
          <a:prstGeom prst="roundRect">
            <a:avLst>
              <a:gd name="adj" fmla="val 12000"/>
            </a:avLst>
          </a:prstGeom>
          <a:solidFill>
            <a:srgbClr val="17203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960120" y="3310200"/>
            <a:ext cx="83664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94a3b8"/>
                </a:solidFill>
                <a:latin typeface="JetBrains Mono"/>
              </a:rPr>
              <a:t>docs/ERS.md  ·  regenerado há 3 min  ·  commit e9a214f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1005840" y="3977640"/>
            <a:ext cx="8274960" cy="28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f1f5f9"/>
                </a:solidFill>
                <a:latin typeface="Inter"/>
              </a:rPr>
              <a:t>ERS — Especificação de Requisitos de Software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ounded Rectangle 9"/>
          <p:cNvSpPr/>
          <p:nvPr/>
        </p:nvSpPr>
        <p:spPr>
          <a:xfrm>
            <a:off x="1005840" y="4434840"/>
            <a:ext cx="1279800" cy="43848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 w="63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TextBox 10"/>
          <p:cNvSpPr/>
          <p:nvPr/>
        </p:nvSpPr>
        <p:spPr>
          <a:xfrm>
            <a:off x="1224360" y="4577400"/>
            <a:ext cx="84240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a78bfa"/>
                </a:solidFill>
                <a:latin typeface="Inter"/>
              </a:rPr>
              <a:t>IEEE 830-1998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ounded Rectangle 11"/>
          <p:cNvSpPr/>
          <p:nvPr/>
        </p:nvSpPr>
        <p:spPr>
          <a:xfrm>
            <a:off x="2468880" y="4434840"/>
            <a:ext cx="767880" cy="43848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2629080" y="4577400"/>
            <a:ext cx="44748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cbd5e1"/>
                </a:solidFill>
                <a:latin typeface="Inter"/>
              </a:rPr>
              <a:t>OCG v7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ounded Rectangle 13"/>
          <p:cNvSpPr/>
          <p:nvPr/>
        </p:nvSpPr>
        <p:spPr>
          <a:xfrm>
            <a:off x="3383280" y="4434840"/>
            <a:ext cx="1352880" cy="43848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14"/>
          <p:cNvSpPr/>
          <p:nvPr/>
        </p:nvSpPr>
        <p:spPr>
          <a:xfrm>
            <a:off x="3589560" y="4577400"/>
            <a:ext cx="939960" cy="1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Inter"/>
              </a:rPr>
              <a:t>✓ </a:t>
            </a:r>
            <a:r>
              <a:rPr b="1" lang="pt-BR" sz="1000" spc="-1" strike="noStrike">
                <a:solidFill>
                  <a:srgbClr val="10b981"/>
                </a:solidFill>
                <a:latin typeface="Inter"/>
              </a:rPr>
              <a:t>sincronizado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Rounded Rectangle 15"/>
          <p:cNvSpPr/>
          <p:nvPr/>
        </p:nvSpPr>
        <p:spPr>
          <a:xfrm>
            <a:off x="1005840" y="5120640"/>
            <a:ext cx="8274960" cy="54828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3" name="TextBox 16"/>
          <p:cNvSpPr/>
          <p:nvPr/>
        </p:nvSpPr>
        <p:spPr>
          <a:xfrm>
            <a:off x="1234440" y="5257800"/>
            <a:ext cx="46904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f1f5f9"/>
                </a:solidFill>
                <a:latin typeface="Inter"/>
              </a:rPr>
              <a:t>1.3 Definições, Siglas e Abreviaturas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17"/>
          <p:cNvSpPr/>
          <p:nvPr/>
        </p:nvSpPr>
        <p:spPr>
          <a:xfrm>
            <a:off x="5925240" y="5257800"/>
            <a:ext cx="31269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JetBrains Mono"/>
              </a:rPr>
              <a:t>12 termos aprovados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ounded Rectangle 18"/>
          <p:cNvSpPr/>
          <p:nvPr/>
        </p:nvSpPr>
        <p:spPr>
          <a:xfrm>
            <a:off x="1005840" y="5779080"/>
            <a:ext cx="8274960" cy="54828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TextBox 19"/>
          <p:cNvSpPr/>
          <p:nvPr/>
        </p:nvSpPr>
        <p:spPr>
          <a:xfrm>
            <a:off x="1234440" y="5916240"/>
            <a:ext cx="46904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f1f5f9"/>
                </a:solidFill>
                <a:latin typeface="Inter"/>
              </a:rPr>
              <a:t>3.1 Requisitos Funcionais (RF)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5925240" y="5916240"/>
            <a:ext cx="31269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JetBrains Mono"/>
              </a:rPr>
              <a:t>27 requisitos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ounded Rectangle 21"/>
          <p:cNvSpPr/>
          <p:nvPr/>
        </p:nvSpPr>
        <p:spPr>
          <a:xfrm>
            <a:off x="1005840" y="6437520"/>
            <a:ext cx="8274960" cy="54828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22"/>
          <p:cNvSpPr/>
          <p:nvPr/>
        </p:nvSpPr>
        <p:spPr>
          <a:xfrm>
            <a:off x="1234440" y="6574680"/>
            <a:ext cx="46904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f1f5f9"/>
                </a:solidFill>
                <a:latin typeface="Inter"/>
              </a:rPr>
              <a:t>3.2 Requisitos Não-Funcionais (RNF)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23"/>
          <p:cNvSpPr/>
          <p:nvPr/>
        </p:nvSpPr>
        <p:spPr>
          <a:xfrm>
            <a:off x="5925240" y="6574680"/>
            <a:ext cx="31269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JetBrains Mono"/>
              </a:rPr>
              <a:t>14 requisitos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ounded Rectangle 24"/>
          <p:cNvSpPr/>
          <p:nvPr/>
        </p:nvSpPr>
        <p:spPr>
          <a:xfrm>
            <a:off x="1005840" y="7095600"/>
            <a:ext cx="8274960" cy="54828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25"/>
          <p:cNvSpPr/>
          <p:nvPr/>
        </p:nvSpPr>
        <p:spPr>
          <a:xfrm>
            <a:off x="1234440" y="7232760"/>
            <a:ext cx="46904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f1f5f9"/>
                </a:solidFill>
                <a:latin typeface="Inter"/>
              </a:rPr>
              <a:t>3.3 Regras de Negócio (BR)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26"/>
          <p:cNvSpPr/>
          <p:nvPr/>
        </p:nvSpPr>
        <p:spPr>
          <a:xfrm>
            <a:off x="5925240" y="7232760"/>
            <a:ext cx="31269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JetBrains Mono"/>
              </a:rPr>
              <a:t>9 regras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ounded Rectangle 27"/>
          <p:cNvSpPr/>
          <p:nvPr/>
        </p:nvSpPr>
        <p:spPr>
          <a:xfrm>
            <a:off x="1005840" y="7754040"/>
            <a:ext cx="8274960" cy="54828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28"/>
          <p:cNvSpPr/>
          <p:nvPr/>
        </p:nvSpPr>
        <p:spPr>
          <a:xfrm>
            <a:off x="1234440" y="7891200"/>
            <a:ext cx="46904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f1f5f9"/>
                </a:solidFill>
                <a:latin typeface="Inter"/>
              </a:rPr>
              <a:t>4.0 Matriz de Rastreabilidade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29"/>
          <p:cNvSpPr/>
          <p:nvPr/>
        </p:nvSpPr>
        <p:spPr>
          <a:xfrm>
            <a:off x="5925240" y="7891200"/>
            <a:ext cx="312696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JetBrains Mono"/>
              </a:rPr>
              <a:t>18 / 27 rastreados (spec + código)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ounded Rectangle 30"/>
          <p:cNvSpPr/>
          <p:nvPr/>
        </p:nvSpPr>
        <p:spPr>
          <a:xfrm>
            <a:off x="1005840" y="8549640"/>
            <a:ext cx="8274960" cy="1279800"/>
          </a:xfrm>
          <a:prstGeom prst="roundRect">
            <a:avLst>
              <a:gd name="adj" fmla="val 18000"/>
            </a:avLst>
          </a:prstGeom>
          <a:solidFill>
            <a:srgbClr val="0a0f1f"/>
          </a:solidFill>
          <a:ln>
            <a:solidFill>
              <a:srgbClr val="3d4a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TextBox 31"/>
          <p:cNvSpPr/>
          <p:nvPr/>
        </p:nvSpPr>
        <p:spPr>
          <a:xfrm>
            <a:off x="1188720" y="8641080"/>
            <a:ext cx="80920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10b981"/>
                </a:solidFill>
                <a:latin typeface="JetBrains Mono"/>
              </a:rPr>
              <a:t>$ git log -p docs/ERS.md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Box 32"/>
          <p:cNvSpPr/>
          <p:nvPr/>
        </p:nvSpPr>
        <p:spPr>
          <a:xfrm>
            <a:off x="1188720" y="8961120"/>
            <a:ext cx="822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JetBrains Mono"/>
              </a:rPr>
              <a:t>e9a214f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33"/>
          <p:cNvSpPr/>
          <p:nvPr/>
        </p:nvSpPr>
        <p:spPr>
          <a:xfrm>
            <a:off x="2103120" y="8961120"/>
            <a:ext cx="7177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JetBrains Mono"/>
              </a:rPr>
              <a:t>docs(ers): regen a partir do OCG v7 — DOCUMENT_INGESTED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34"/>
          <p:cNvSpPr/>
          <p:nvPr/>
        </p:nvSpPr>
        <p:spPr>
          <a:xfrm>
            <a:off x="1188720" y="9217080"/>
            <a:ext cx="822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JetBrains Mono"/>
              </a:rPr>
              <a:t>7b3f41c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Box 35"/>
          <p:cNvSpPr/>
          <p:nvPr/>
        </p:nvSpPr>
        <p:spPr>
          <a:xfrm>
            <a:off x="2103120" y="9217080"/>
            <a:ext cx="7177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JetBrains Mono"/>
              </a:rPr>
              <a:t>docs(ers): regen a partir do OCG v6 — OCG_CONSOLIDATED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36"/>
          <p:cNvSpPr/>
          <p:nvPr/>
        </p:nvSpPr>
        <p:spPr>
          <a:xfrm>
            <a:off x="1188720" y="9473040"/>
            <a:ext cx="8226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JetBrains Mono"/>
              </a:rPr>
              <a:t>5a1c902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37"/>
          <p:cNvSpPr/>
          <p:nvPr/>
        </p:nvSpPr>
        <p:spPr>
          <a:xfrm>
            <a:off x="2103120" y="9473040"/>
            <a:ext cx="71776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JetBrains Mono"/>
              </a:rPr>
              <a:t>docs(ers): regen a partir do OCG v5 — BACKLOG_REGENERATED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38"/>
          <p:cNvSpPr/>
          <p:nvPr/>
        </p:nvSpPr>
        <p:spPr>
          <a:xfrm>
            <a:off x="1005840" y="8321040"/>
            <a:ext cx="82749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1" i="1" lang="pt-BR" sz="1200" spc="-1" strike="noStrike">
                <a:solidFill>
                  <a:srgbClr val="a78bfa"/>
                </a:solidFill>
                <a:latin typeface="Inter"/>
              </a:rPr>
              <a:t>Regenerado no Git do projeto. Histórico nativo. Zero snapshot em banco.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39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40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07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COMO FUNCIONA · 05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4"/>
          <p:cNvSpPr/>
          <p:nvPr/>
        </p:nvSpPr>
        <p:spPr>
          <a:xfrm>
            <a:off x="685800" y="960120"/>
            <a:ext cx="8915040" cy="9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pt-BR" sz="3000" spc="-1" strike="noStrike">
                <a:solidFill>
                  <a:srgbClr val="f1f5f9"/>
                </a:solidFill>
                <a:latin typeface="Inter"/>
              </a:rPr>
              <a:t>Documentação que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pt-BR" sz="3000" spc="-1" strike="noStrike">
                <a:solidFill>
                  <a:srgbClr val="f1f5f9"/>
                </a:solidFill>
                <a:latin typeface="Inter"/>
              </a:rPr>
              <a:t>acompanha o código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5"/>
          <p:cNvSpPr/>
          <p:nvPr/>
        </p:nvSpPr>
        <p:spPr>
          <a:xfrm>
            <a:off x="685800" y="2926080"/>
            <a:ext cx="891504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i="1" lang="pt-BR" sz="1400" spc="-1" strike="noStrike">
                <a:solidFill>
                  <a:srgbClr val="94a3b8"/>
                </a:solidFill>
                <a:latin typeface="Inter"/>
              </a:rPr>
              <a:t>Cada commit de código atualiza o contexto. O contexto atualiza a doc.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6"/>
          <p:cNvSpPr/>
          <p:nvPr/>
        </p:nvSpPr>
        <p:spPr>
          <a:xfrm>
            <a:off x="685800" y="3840480"/>
            <a:ext cx="8915040" cy="2194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Rounded Rectangle 7"/>
          <p:cNvSpPr/>
          <p:nvPr/>
        </p:nvSpPr>
        <p:spPr>
          <a:xfrm>
            <a:off x="685800" y="3840480"/>
            <a:ext cx="109440" cy="21942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8"/>
          <p:cNvSpPr/>
          <p:nvPr/>
        </p:nvSpPr>
        <p:spPr>
          <a:xfrm>
            <a:off x="1097280" y="4114800"/>
            <a:ext cx="8092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f1f5f9"/>
                </a:solidFill>
                <a:latin typeface="Inter"/>
              </a:rPr>
              <a:t>LiveDocs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9"/>
          <p:cNvSpPr/>
          <p:nvPr/>
        </p:nvSpPr>
        <p:spPr>
          <a:xfrm>
            <a:off x="1097280" y="4553640"/>
            <a:ext cx="809208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200" spc="-1" strike="noStrike">
                <a:solidFill>
                  <a:srgbClr val="7c3aed"/>
                </a:solidFill>
                <a:latin typeface="Inter"/>
              </a:rPr>
              <a:t>Documentação por módulo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10"/>
          <p:cNvSpPr/>
          <p:nvPr/>
        </p:nvSpPr>
        <p:spPr>
          <a:xfrm>
            <a:off x="1097280" y="4983480"/>
            <a:ext cx="80920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Geradas por LLM a partir do OCG.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Cada doc carrega sua procedência: 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versão do OCG, ingestões, modelo.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Marca stale quando o OCG avança.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Rounded Rectangle 11"/>
          <p:cNvSpPr/>
          <p:nvPr/>
        </p:nvSpPr>
        <p:spPr>
          <a:xfrm>
            <a:off x="685800" y="6172200"/>
            <a:ext cx="8915040" cy="2194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Rounded Rectangle 12"/>
          <p:cNvSpPr/>
          <p:nvPr/>
        </p:nvSpPr>
        <p:spPr>
          <a:xfrm>
            <a:off x="685800" y="6172200"/>
            <a:ext cx="109440" cy="219420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13"/>
          <p:cNvSpPr/>
          <p:nvPr/>
        </p:nvSpPr>
        <p:spPr>
          <a:xfrm>
            <a:off x="1097280" y="6446520"/>
            <a:ext cx="8092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f1f5f9"/>
                </a:solidFill>
                <a:latin typeface="Inter"/>
              </a:rPr>
              <a:t>ERS IEEE 830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14"/>
          <p:cNvSpPr/>
          <p:nvPr/>
        </p:nvSpPr>
        <p:spPr>
          <a:xfrm>
            <a:off x="1097280" y="6885360"/>
            <a:ext cx="809208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200" spc="-1" strike="noStrike">
                <a:solidFill>
                  <a:srgbClr val="10b981"/>
                </a:solidFill>
                <a:latin typeface="Inter"/>
              </a:rPr>
              <a:t>docs/ERS.md no Git do projeto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15"/>
          <p:cNvSpPr/>
          <p:nvPr/>
        </p:nvSpPr>
        <p:spPr>
          <a:xfrm>
            <a:off x="1097280" y="7315200"/>
            <a:ext cx="80920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Especificação completa regenerada a cada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mudança do contexto. Glossário vivo,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matriz de rastreabilidade, regras de negócio.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Histórico nativo via git log.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ounded Rectangle 16"/>
          <p:cNvSpPr/>
          <p:nvPr/>
        </p:nvSpPr>
        <p:spPr>
          <a:xfrm>
            <a:off x="685800" y="8503920"/>
            <a:ext cx="8915040" cy="2194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ounded Rectangle 17"/>
          <p:cNvSpPr/>
          <p:nvPr/>
        </p:nvSpPr>
        <p:spPr>
          <a:xfrm>
            <a:off x="685800" y="8503920"/>
            <a:ext cx="109440" cy="219420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18"/>
          <p:cNvSpPr/>
          <p:nvPr/>
        </p:nvSpPr>
        <p:spPr>
          <a:xfrm>
            <a:off x="1097280" y="8778240"/>
            <a:ext cx="8092080" cy="3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2000" spc="-1" strike="noStrike">
                <a:solidFill>
                  <a:srgbClr val="f1f5f9"/>
                </a:solidFill>
                <a:latin typeface="Inter"/>
              </a:rPr>
              <a:t>Matriz §4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19"/>
          <p:cNvSpPr/>
          <p:nvPr/>
        </p:nvSpPr>
        <p:spPr>
          <a:xfrm>
            <a:off x="1097280" y="9217080"/>
            <a:ext cx="809208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200" spc="-1" strike="noStrike">
                <a:solidFill>
                  <a:srgbClr val="38bdf8"/>
                </a:solidFill>
                <a:latin typeface="Inter"/>
              </a:rPr>
              <a:t>Requisito × teste × código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20"/>
          <p:cNvSpPr/>
          <p:nvPr/>
        </p:nvSpPr>
        <p:spPr>
          <a:xfrm>
            <a:off x="1097280" y="9646920"/>
            <a:ext cx="80920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Cruza cada RF/RNF/BR com as specs de teste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e os arquivos Git gerados. Cobertura agregada: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quantos têm spec, quantos têm código,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200" spc="-1" strike="noStrike">
                <a:solidFill>
                  <a:srgbClr val="cbd5e1"/>
                </a:solidFill>
                <a:latin typeface="Inter"/>
              </a:rPr>
              <a:t>quantos estão 100% rastreados.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21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22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08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COMO FUNCIONA · 06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4"/>
          <p:cNvSpPr/>
          <p:nvPr/>
        </p:nvSpPr>
        <p:spPr>
          <a:xfrm>
            <a:off x="685800" y="960120"/>
            <a:ext cx="8915040" cy="10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pt-BR" sz="3200" spc="-1" strike="noStrike">
                <a:solidFill>
                  <a:srgbClr val="f1f5f9"/>
                </a:solidFill>
                <a:latin typeface="Inter"/>
              </a:rPr>
              <a:t>Governança embutida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b="1" lang="pt-BR" sz="3200" spc="-1" strike="noStrike">
                <a:solidFill>
                  <a:srgbClr val="f1f5f9"/>
                </a:solidFill>
                <a:latin typeface="Inter"/>
              </a:rPr>
              <a:t>no produto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5"/>
          <p:cNvSpPr/>
          <p:nvPr/>
        </p:nvSpPr>
        <p:spPr>
          <a:xfrm>
            <a:off x="685800" y="3017520"/>
            <a:ext cx="8915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i="1" lang="pt-BR" sz="1300" spc="-1" strike="noStrike">
                <a:solidFill>
                  <a:srgbClr val="94a3b8"/>
                </a:solidFill>
                <a:latin typeface="Inter"/>
              </a:rPr>
              <a:t>Sem planilha paralela. Sem playbook esquecido no Confluence.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Rounded Rectangle 6"/>
          <p:cNvSpPr/>
          <p:nvPr/>
        </p:nvSpPr>
        <p:spPr>
          <a:xfrm>
            <a:off x="685800" y="3931920"/>
            <a:ext cx="4343040" cy="30171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6" name="Rounded Rectangle 7"/>
          <p:cNvSpPr/>
          <p:nvPr/>
        </p:nvSpPr>
        <p:spPr>
          <a:xfrm>
            <a:off x="685800" y="3931920"/>
            <a:ext cx="4343040" cy="9108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8"/>
          <p:cNvSpPr/>
          <p:nvPr/>
        </p:nvSpPr>
        <p:spPr>
          <a:xfrm>
            <a:off x="960120" y="4206240"/>
            <a:ext cx="37944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700" spc="-1" strike="noStrike">
                <a:solidFill>
                  <a:srgbClr val="f1f5f9"/>
                </a:solidFill>
                <a:latin typeface="Inter"/>
              </a:rPr>
              <a:t>RBAC canônico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9"/>
          <p:cNvSpPr/>
          <p:nvPr/>
        </p:nvSpPr>
        <p:spPr>
          <a:xfrm>
            <a:off x="960120" y="4709160"/>
            <a:ext cx="37944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100" spc="-1" strike="noStrike">
                <a:solidFill>
                  <a:srgbClr val="7c3aed"/>
                </a:solidFill>
                <a:latin typeface="Inter"/>
              </a:rPr>
              <a:t>5 papéis travados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10"/>
          <p:cNvSpPr/>
          <p:nvPr/>
        </p:nvSpPr>
        <p:spPr>
          <a:xfrm>
            <a:off x="960120" y="5166360"/>
            <a:ext cx="37944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Admin · GP · Dev · Tester · QA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Cada papel tem fronteira de ação clara.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GP aprova, Dev não aprova.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ounded Rectangle 11"/>
          <p:cNvSpPr/>
          <p:nvPr/>
        </p:nvSpPr>
        <p:spPr>
          <a:xfrm>
            <a:off x="5257800" y="3931920"/>
            <a:ext cx="4343040" cy="30171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Rounded Rectangle 12"/>
          <p:cNvSpPr/>
          <p:nvPr/>
        </p:nvSpPr>
        <p:spPr>
          <a:xfrm>
            <a:off x="5257800" y="3931920"/>
            <a:ext cx="4343040" cy="91080"/>
          </a:xfrm>
          <a:prstGeom prst="roundRect">
            <a:avLst>
              <a:gd name="adj" fmla="val 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13"/>
          <p:cNvSpPr/>
          <p:nvPr/>
        </p:nvSpPr>
        <p:spPr>
          <a:xfrm>
            <a:off x="5532120" y="4206240"/>
            <a:ext cx="37944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700" spc="-1" strike="noStrike">
                <a:solidFill>
                  <a:srgbClr val="f1f5f9"/>
                </a:solidFill>
                <a:latin typeface="Inter"/>
              </a:rPr>
              <a:t>Auditoria SHA-256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14"/>
          <p:cNvSpPr/>
          <p:nvPr/>
        </p:nvSpPr>
        <p:spPr>
          <a:xfrm>
            <a:off x="5532120" y="4709160"/>
            <a:ext cx="37944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100" spc="-1" strike="noStrike">
                <a:solidFill>
                  <a:srgbClr val="10b981"/>
                </a:solidFill>
                <a:latin typeface="Inter"/>
              </a:rPr>
              <a:t>Hash chain em toda ação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5"/>
          <p:cNvSpPr/>
          <p:nvPr/>
        </p:nvSpPr>
        <p:spPr>
          <a:xfrm>
            <a:off x="5532120" y="5166360"/>
            <a:ext cx="37944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Cada evento do pipeline gera log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imutável encadeado. Quem fez, quando,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por quê, sobre qual OCG.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Rounded Rectangle 16"/>
          <p:cNvSpPr/>
          <p:nvPr/>
        </p:nvSpPr>
        <p:spPr>
          <a:xfrm>
            <a:off x="685800" y="7178040"/>
            <a:ext cx="4343040" cy="30171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Rounded Rectangle 17"/>
          <p:cNvSpPr/>
          <p:nvPr/>
        </p:nvSpPr>
        <p:spPr>
          <a:xfrm>
            <a:off x="685800" y="7178040"/>
            <a:ext cx="4343040" cy="91080"/>
          </a:xfrm>
          <a:prstGeom prst="roundRect">
            <a:avLst>
              <a:gd name="adj" fmla="val 0"/>
            </a:avLst>
          </a:prstGeom>
          <a:solidFill>
            <a:srgbClr val="38bd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8"/>
          <p:cNvSpPr/>
          <p:nvPr/>
        </p:nvSpPr>
        <p:spPr>
          <a:xfrm>
            <a:off x="960120" y="7452360"/>
            <a:ext cx="37944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700" spc="-1" strike="noStrike">
                <a:solidFill>
                  <a:srgbClr val="f1f5f9"/>
                </a:solidFill>
                <a:latin typeface="Inter"/>
              </a:rPr>
              <a:t>LGPD / GDPR embutidos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19"/>
          <p:cNvSpPr/>
          <p:nvPr/>
        </p:nvSpPr>
        <p:spPr>
          <a:xfrm>
            <a:off x="960120" y="7955280"/>
            <a:ext cx="37944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100" spc="-1" strike="noStrike">
                <a:solidFill>
                  <a:srgbClr val="38bdf8"/>
                </a:solidFill>
                <a:latin typeface="Inter"/>
              </a:rPr>
              <a:t>Quarentena de PII automática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20"/>
          <p:cNvSpPr/>
          <p:nvPr/>
        </p:nvSpPr>
        <p:spPr>
          <a:xfrm>
            <a:off x="960120" y="8412480"/>
            <a:ext cx="37944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Documento com dado pessoal vai pra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quarentena. GP libera ou descarta.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Compliance não é post-mortem.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ounded Rectangle 21"/>
          <p:cNvSpPr/>
          <p:nvPr/>
        </p:nvSpPr>
        <p:spPr>
          <a:xfrm>
            <a:off x="5257800" y="7178040"/>
            <a:ext cx="4343040" cy="30171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Rounded Rectangle 22"/>
          <p:cNvSpPr/>
          <p:nvPr/>
        </p:nvSpPr>
        <p:spPr>
          <a:xfrm>
            <a:off x="5257800" y="7178040"/>
            <a:ext cx="4343040" cy="9108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2" name="TextBox 23"/>
          <p:cNvSpPr/>
          <p:nvPr/>
        </p:nvSpPr>
        <p:spPr>
          <a:xfrm>
            <a:off x="5532120" y="7452360"/>
            <a:ext cx="379440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700" spc="-1" strike="noStrike">
                <a:solidFill>
                  <a:srgbClr val="f1f5f9"/>
                </a:solidFill>
                <a:latin typeface="Inter"/>
              </a:rPr>
              <a:t>Billing por IA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4"/>
          <p:cNvSpPr/>
          <p:nvPr/>
        </p:nvSpPr>
        <p:spPr>
          <a:xfrm>
            <a:off x="5532120" y="7955280"/>
            <a:ext cx="3794400" cy="1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i="1" lang="pt-BR" sz="1100" spc="-1" strike="noStrike">
                <a:solidFill>
                  <a:srgbClr val="f59e0b"/>
                </a:solidFill>
                <a:latin typeface="Inter"/>
              </a:rPr>
              <a:t>Custo USD por projeto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25"/>
          <p:cNvSpPr/>
          <p:nvPr/>
        </p:nvSpPr>
        <p:spPr>
          <a:xfrm>
            <a:off x="5532120" y="8412480"/>
            <a:ext cx="37944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Toda chamada de LLM registra provider,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modelo, operação e custo.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5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O GP vê onde gasta antes da fatura.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26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27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09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POR QUE NÃO É MAIS UM COPILOT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4"/>
          <p:cNvSpPr/>
          <p:nvPr/>
        </p:nvSpPr>
        <p:spPr>
          <a:xfrm>
            <a:off x="685800" y="960120"/>
            <a:ext cx="8915040" cy="85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pt-BR" sz="2600" spc="-1" strike="noStrike">
                <a:solidFill>
                  <a:srgbClr val="f1f5f9"/>
                </a:solidFill>
                <a:latin typeface="Inter"/>
              </a:rPr>
              <a:t>Copilot gera código.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pt-BR" sz="2600" spc="-1" strike="noStrike">
                <a:solidFill>
                  <a:srgbClr val="f1f5f9"/>
                </a:solidFill>
                <a:latin typeface="Inter"/>
              </a:rPr>
              <a:t>GCA gera produto governado.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ounded Rectangle 5"/>
          <p:cNvSpPr/>
          <p:nvPr/>
        </p:nvSpPr>
        <p:spPr>
          <a:xfrm>
            <a:off x="685800" y="301752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172039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6"/>
          <p:cNvSpPr/>
          <p:nvPr/>
        </p:nvSpPr>
        <p:spPr>
          <a:xfrm>
            <a:off x="868680" y="3249720"/>
            <a:ext cx="39178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94a3b8"/>
                </a:solidFill>
                <a:latin typeface="Inter"/>
              </a:rPr>
              <a:t>Recurso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7"/>
          <p:cNvSpPr/>
          <p:nvPr/>
        </p:nvSpPr>
        <p:spPr>
          <a:xfrm>
            <a:off x="4832640" y="3249720"/>
            <a:ext cx="11116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Copilot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8"/>
          <p:cNvSpPr/>
          <p:nvPr/>
        </p:nvSpPr>
        <p:spPr>
          <a:xfrm>
            <a:off x="6036120" y="3249720"/>
            <a:ext cx="11116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Cursor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9"/>
          <p:cNvSpPr/>
          <p:nvPr/>
        </p:nvSpPr>
        <p:spPr>
          <a:xfrm>
            <a:off x="7239600" y="3249720"/>
            <a:ext cx="11116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f1f5f9"/>
                </a:solidFill>
                <a:latin typeface="Inter"/>
              </a:rPr>
              <a:t>v0 / Lovable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Rounded Rectangle 10"/>
          <p:cNvSpPr/>
          <p:nvPr/>
        </p:nvSpPr>
        <p:spPr>
          <a:xfrm>
            <a:off x="8397720" y="301752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11"/>
          <p:cNvSpPr/>
          <p:nvPr/>
        </p:nvSpPr>
        <p:spPr>
          <a:xfrm>
            <a:off x="8443440" y="3249720"/>
            <a:ext cx="1111680" cy="19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Inter"/>
              </a:rPr>
              <a:t>GCA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Rounded Rectangle 12"/>
          <p:cNvSpPr/>
          <p:nvPr/>
        </p:nvSpPr>
        <p:spPr>
          <a:xfrm>
            <a:off x="685800" y="358452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9" name="TextBox 13"/>
          <p:cNvSpPr/>
          <p:nvPr/>
        </p:nvSpPr>
        <p:spPr>
          <a:xfrm>
            <a:off x="868680" y="382536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Autocomplete IA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14"/>
          <p:cNvSpPr/>
          <p:nvPr/>
        </p:nvSpPr>
        <p:spPr>
          <a:xfrm>
            <a:off x="4832640" y="3799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15"/>
          <p:cNvSpPr/>
          <p:nvPr/>
        </p:nvSpPr>
        <p:spPr>
          <a:xfrm>
            <a:off x="6036120" y="3799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16"/>
          <p:cNvSpPr/>
          <p:nvPr/>
        </p:nvSpPr>
        <p:spPr>
          <a:xfrm>
            <a:off x="7239600" y="3799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ounded Rectangle 17"/>
          <p:cNvSpPr/>
          <p:nvPr/>
        </p:nvSpPr>
        <p:spPr>
          <a:xfrm>
            <a:off x="8397720" y="358452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18"/>
          <p:cNvSpPr/>
          <p:nvPr/>
        </p:nvSpPr>
        <p:spPr>
          <a:xfrm>
            <a:off x="8443440" y="3799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ounded Rectangle 19"/>
          <p:cNvSpPr/>
          <p:nvPr/>
        </p:nvSpPr>
        <p:spPr>
          <a:xfrm>
            <a:off x="685800" y="415152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0a0f1f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6" name="TextBox 20"/>
          <p:cNvSpPr/>
          <p:nvPr/>
        </p:nvSpPr>
        <p:spPr>
          <a:xfrm>
            <a:off x="868680" y="439236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Geração de módulo completo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21"/>
          <p:cNvSpPr/>
          <p:nvPr/>
        </p:nvSpPr>
        <p:spPr>
          <a:xfrm>
            <a:off x="4832640" y="4366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Box 22"/>
          <p:cNvSpPr/>
          <p:nvPr/>
        </p:nvSpPr>
        <p:spPr>
          <a:xfrm>
            <a:off x="6036120" y="4392360"/>
            <a:ext cx="11116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Inter"/>
              </a:rPr>
              <a:t>parcial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Box 23"/>
          <p:cNvSpPr/>
          <p:nvPr/>
        </p:nvSpPr>
        <p:spPr>
          <a:xfrm>
            <a:off x="7239600" y="4366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ounded Rectangle 24"/>
          <p:cNvSpPr/>
          <p:nvPr/>
        </p:nvSpPr>
        <p:spPr>
          <a:xfrm>
            <a:off x="8397720" y="415152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TextBox 25"/>
          <p:cNvSpPr/>
          <p:nvPr/>
        </p:nvSpPr>
        <p:spPr>
          <a:xfrm>
            <a:off x="8443440" y="436608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ounded Rectangle 26"/>
          <p:cNvSpPr/>
          <p:nvPr/>
        </p:nvSpPr>
        <p:spPr>
          <a:xfrm>
            <a:off x="685800" y="471816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TextBox 27"/>
          <p:cNvSpPr/>
          <p:nvPr/>
        </p:nvSpPr>
        <p:spPr>
          <a:xfrm>
            <a:off x="868680" y="495900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Contexto vivo do projeto (OCG)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Box 28"/>
          <p:cNvSpPr/>
          <p:nvPr/>
        </p:nvSpPr>
        <p:spPr>
          <a:xfrm>
            <a:off x="4832640" y="4932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29"/>
          <p:cNvSpPr/>
          <p:nvPr/>
        </p:nvSpPr>
        <p:spPr>
          <a:xfrm>
            <a:off x="6036120" y="4932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30"/>
          <p:cNvSpPr/>
          <p:nvPr/>
        </p:nvSpPr>
        <p:spPr>
          <a:xfrm>
            <a:off x="7239600" y="4932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Rounded Rectangle 31"/>
          <p:cNvSpPr/>
          <p:nvPr/>
        </p:nvSpPr>
        <p:spPr>
          <a:xfrm>
            <a:off x="8397720" y="471816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TextBox 32"/>
          <p:cNvSpPr/>
          <p:nvPr/>
        </p:nvSpPr>
        <p:spPr>
          <a:xfrm>
            <a:off x="8443440" y="4932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Rounded Rectangle 33"/>
          <p:cNvSpPr/>
          <p:nvPr/>
        </p:nvSpPr>
        <p:spPr>
          <a:xfrm>
            <a:off x="685800" y="528516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0a0f1f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TextBox 34"/>
          <p:cNvSpPr/>
          <p:nvPr/>
        </p:nvSpPr>
        <p:spPr>
          <a:xfrm>
            <a:off x="868680" y="552600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Stack escolhida com base em 7 pilares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35"/>
          <p:cNvSpPr/>
          <p:nvPr/>
        </p:nvSpPr>
        <p:spPr>
          <a:xfrm>
            <a:off x="4832640" y="5499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36"/>
          <p:cNvSpPr/>
          <p:nvPr/>
        </p:nvSpPr>
        <p:spPr>
          <a:xfrm>
            <a:off x="6036120" y="5499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37"/>
          <p:cNvSpPr/>
          <p:nvPr/>
        </p:nvSpPr>
        <p:spPr>
          <a:xfrm>
            <a:off x="7239600" y="5499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ounded Rectangle 38"/>
          <p:cNvSpPr/>
          <p:nvPr/>
        </p:nvSpPr>
        <p:spPr>
          <a:xfrm>
            <a:off x="8397720" y="528516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39"/>
          <p:cNvSpPr/>
          <p:nvPr/>
        </p:nvSpPr>
        <p:spPr>
          <a:xfrm>
            <a:off x="8443440" y="5499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Rounded Rectangle 40"/>
          <p:cNvSpPr/>
          <p:nvPr/>
        </p:nvSpPr>
        <p:spPr>
          <a:xfrm>
            <a:off x="685800" y="585216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41"/>
          <p:cNvSpPr/>
          <p:nvPr/>
        </p:nvSpPr>
        <p:spPr>
          <a:xfrm>
            <a:off x="868680" y="609300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ERS IEEE 830 auto-regenerado no Git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42"/>
          <p:cNvSpPr/>
          <p:nvPr/>
        </p:nvSpPr>
        <p:spPr>
          <a:xfrm>
            <a:off x="4832640" y="6066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Box 43"/>
          <p:cNvSpPr/>
          <p:nvPr/>
        </p:nvSpPr>
        <p:spPr>
          <a:xfrm>
            <a:off x="6036120" y="6066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Box 44"/>
          <p:cNvSpPr/>
          <p:nvPr/>
        </p:nvSpPr>
        <p:spPr>
          <a:xfrm>
            <a:off x="7239600" y="6066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ounded Rectangle 45"/>
          <p:cNvSpPr/>
          <p:nvPr/>
        </p:nvSpPr>
        <p:spPr>
          <a:xfrm>
            <a:off x="8397720" y="585216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TextBox 46"/>
          <p:cNvSpPr/>
          <p:nvPr/>
        </p:nvSpPr>
        <p:spPr>
          <a:xfrm>
            <a:off x="8443440" y="6066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Rounded Rectangle 47"/>
          <p:cNvSpPr/>
          <p:nvPr/>
        </p:nvSpPr>
        <p:spPr>
          <a:xfrm>
            <a:off x="685800" y="641916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0a0f1f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4" name="TextBox 48"/>
          <p:cNvSpPr/>
          <p:nvPr/>
        </p:nvSpPr>
        <p:spPr>
          <a:xfrm>
            <a:off x="868680" y="666000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Matriz requisito × teste × código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49"/>
          <p:cNvSpPr/>
          <p:nvPr/>
        </p:nvSpPr>
        <p:spPr>
          <a:xfrm>
            <a:off x="4832640" y="6633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50"/>
          <p:cNvSpPr/>
          <p:nvPr/>
        </p:nvSpPr>
        <p:spPr>
          <a:xfrm>
            <a:off x="6036120" y="6633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Box 51"/>
          <p:cNvSpPr/>
          <p:nvPr/>
        </p:nvSpPr>
        <p:spPr>
          <a:xfrm>
            <a:off x="7239600" y="6633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Rounded Rectangle 52"/>
          <p:cNvSpPr/>
          <p:nvPr/>
        </p:nvSpPr>
        <p:spPr>
          <a:xfrm>
            <a:off x="8397720" y="641916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9" name="TextBox 53"/>
          <p:cNvSpPr/>
          <p:nvPr/>
        </p:nvSpPr>
        <p:spPr>
          <a:xfrm>
            <a:off x="8443440" y="6633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Rounded Rectangle 54"/>
          <p:cNvSpPr/>
          <p:nvPr/>
        </p:nvSpPr>
        <p:spPr>
          <a:xfrm>
            <a:off x="685800" y="698616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TextBox 55"/>
          <p:cNvSpPr/>
          <p:nvPr/>
        </p:nvSpPr>
        <p:spPr>
          <a:xfrm>
            <a:off x="868680" y="722700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RBAC + auditoria SHA-256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56"/>
          <p:cNvSpPr/>
          <p:nvPr/>
        </p:nvSpPr>
        <p:spPr>
          <a:xfrm>
            <a:off x="4832640" y="7200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57"/>
          <p:cNvSpPr/>
          <p:nvPr/>
        </p:nvSpPr>
        <p:spPr>
          <a:xfrm>
            <a:off x="6036120" y="7200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58"/>
          <p:cNvSpPr/>
          <p:nvPr/>
        </p:nvSpPr>
        <p:spPr>
          <a:xfrm>
            <a:off x="7239600" y="7200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Rounded Rectangle 59"/>
          <p:cNvSpPr/>
          <p:nvPr/>
        </p:nvSpPr>
        <p:spPr>
          <a:xfrm>
            <a:off x="8397720" y="698616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TextBox 60"/>
          <p:cNvSpPr/>
          <p:nvPr/>
        </p:nvSpPr>
        <p:spPr>
          <a:xfrm>
            <a:off x="8443440" y="720072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ounded Rectangle 61"/>
          <p:cNvSpPr/>
          <p:nvPr/>
        </p:nvSpPr>
        <p:spPr>
          <a:xfrm>
            <a:off x="685800" y="755280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0a0f1f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62"/>
          <p:cNvSpPr/>
          <p:nvPr/>
        </p:nvSpPr>
        <p:spPr>
          <a:xfrm>
            <a:off x="868680" y="779364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LGPD / GDPR + quarentena de PII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63"/>
          <p:cNvSpPr/>
          <p:nvPr/>
        </p:nvSpPr>
        <p:spPr>
          <a:xfrm>
            <a:off x="4832640" y="7767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64"/>
          <p:cNvSpPr/>
          <p:nvPr/>
        </p:nvSpPr>
        <p:spPr>
          <a:xfrm>
            <a:off x="6036120" y="7767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Box 65"/>
          <p:cNvSpPr/>
          <p:nvPr/>
        </p:nvSpPr>
        <p:spPr>
          <a:xfrm>
            <a:off x="7239600" y="7767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Rounded Rectangle 66"/>
          <p:cNvSpPr/>
          <p:nvPr/>
        </p:nvSpPr>
        <p:spPr>
          <a:xfrm>
            <a:off x="8397720" y="755280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67"/>
          <p:cNvSpPr/>
          <p:nvPr/>
        </p:nvSpPr>
        <p:spPr>
          <a:xfrm>
            <a:off x="8443440" y="7767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Rounded Rectangle 68"/>
          <p:cNvSpPr/>
          <p:nvPr/>
        </p:nvSpPr>
        <p:spPr>
          <a:xfrm>
            <a:off x="685800" y="811980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69"/>
          <p:cNvSpPr/>
          <p:nvPr/>
        </p:nvSpPr>
        <p:spPr>
          <a:xfrm>
            <a:off x="868680" y="836064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Multi-linguagem governada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70"/>
          <p:cNvSpPr/>
          <p:nvPr/>
        </p:nvSpPr>
        <p:spPr>
          <a:xfrm>
            <a:off x="4832640" y="8360640"/>
            <a:ext cx="11116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Inter"/>
              </a:rPr>
              <a:t>parcial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Box 71"/>
          <p:cNvSpPr/>
          <p:nvPr/>
        </p:nvSpPr>
        <p:spPr>
          <a:xfrm>
            <a:off x="6036120" y="8360640"/>
            <a:ext cx="11116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Inter"/>
              </a:rPr>
              <a:t>parcial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Box 72"/>
          <p:cNvSpPr/>
          <p:nvPr/>
        </p:nvSpPr>
        <p:spPr>
          <a:xfrm>
            <a:off x="7239600" y="8334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Rounded Rectangle 73"/>
          <p:cNvSpPr/>
          <p:nvPr/>
        </p:nvSpPr>
        <p:spPr>
          <a:xfrm>
            <a:off x="8397720" y="811980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TextBox 74"/>
          <p:cNvSpPr/>
          <p:nvPr/>
        </p:nvSpPr>
        <p:spPr>
          <a:xfrm>
            <a:off x="8443440" y="8360640"/>
            <a:ext cx="11116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f59e0b"/>
                </a:solidFill>
                <a:latin typeface="Inter"/>
              </a:rPr>
              <a:t>8 langs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Rounded Rectangle 75"/>
          <p:cNvSpPr/>
          <p:nvPr/>
        </p:nvSpPr>
        <p:spPr>
          <a:xfrm>
            <a:off x="685800" y="8686800"/>
            <a:ext cx="8915040" cy="566640"/>
          </a:xfrm>
          <a:prstGeom prst="roundRect">
            <a:avLst>
              <a:gd name="adj" fmla="val 18000"/>
            </a:avLst>
          </a:prstGeom>
          <a:solidFill>
            <a:srgbClr val="0a0f1f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TextBox 76"/>
          <p:cNvSpPr/>
          <p:nvPr/>
        </p:nvSpPr>
        <p:spPr>
          <a:xfrm>
            <a:off x="868680" y="8927640"/>
            <a:ext cx="391788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15000"/>
              </a:lnSpc>
            </a:pPr>
            <a:r>
              <a:rPr b="0" lang="pt-BR" sz="1000" spc="-1" strike="noStrike">
                <a:solidFill>
                  <a:srgbClr val="cbd5e1"/>
                </a:solidFill>
                <a:latin typeface="Inter"/>
              </a:rPr>
              <a:t>Instalável on-premises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Box 77"/>
          <p:cNvSpPr/>
          <p:nvPr/>
        </p:nvSpPr>
        <p:spPr>
          <a:xfrm>
            <a:off x="4832640" y="8901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Box 78"/>
          <p:cNvSpPr/>
          <p:nvPr/>
        </p:nvSpPr>
        <p:spPr>
          <a:xfrm>
            <a:off x="6036120" y="8901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Box 79"/>
          <p:cNvSpPr/>
          <p:nvPr/>
        </p:nvSpPr>
        <p:spPr>
          <a:xfrm>
            <a:off x="7239600" y="8901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ef4444"/>
                </a:solidFill>
                <a:latin typeface="Inter"/>
              </a:rPr>
              <a:t>✗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Rounded Rectangle 80"/>
          <p:cNvSpPr/>
          <p:nvPr/>
        </p:nvSpPr>
        <p:spPr>
          <a:xfrm>
            <a:off x="8397720" y="8686800"/>
            <a:ext cx="1203120" cy="566640"/>
          </a:xfrm>
          <a:prstGeom prst="roundRect">
            <a:avLst>
              <a:gd name="adj" fmla="val 18000"/>
            </a:avLst>
          </a:prstGeom>
          <a:solidFill>
            <a:srgbClr val="4c1d9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81"/>
          <p:cNvSpPr/>
          <p:nvPr/>
        </p:nvSpPr>
        <p:spPr>
          <a:xfrm>
            <a:off x="8443440" y="8901360"/>
            <a:ext cx="11116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300" spc="-1" strike="noStrike">
                <a:solidFill>
                  <a:srgbClr val="10b981"/>
                </a:solidFill>
                <a:latin typeface="Inter"/>
              </a:rPr>
              <a:t>✓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82"/>
          <p:cNvSpPr/>
          <p:nvPr/>
        </p:nvSpPr>
        <p:spPr>
          <a:xfrm>
            <a:off x="685800" y="9482400"/>
            <a:ext cx="891504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1" i="1" lang="pt-BR" sz="1300" spc="-1" strike="noStrike">
                <a:solidFill>
                  <a:srgbClr val="a78bfa"/>
                </a:solidFill>
                <a:latin typeface="Inter"/>
              </a:rPr>
              <a:t>Ferramentas de IA aceleram o teclado. O GCA acelera a entrega auditável.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83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Box 84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10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2" name="Rectangle 2"/>
          <p:cNvSpPr/>
          <p:nvPr/>
        </p:nvSpPr>
        <p:spPr>
          <a:xfrm>
            <a:off x="0" y="0"/>
            <a:ext cx="10286640" cy="10944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TextBox 3"/>
          <p:cNvSpPr/>
          <p:nvPr/>
        </p:nvSpPr>
        <p:spPr>
          <a:xfrm>
            <a:off x="685800" y="548640"/>
            <a:ext cx="891504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200" spc="-1" strike="noStrike">
                <a:solidFill>
                  <a:srgbClr val="a78bfa"/>
                </a:solidFill>
                <a:latin typeface="Inter"/>
              </a:rPr>
              <a:t>PARA QUEM É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4"/>
          <p:cNvSpPr/>
          <p:nvPr/>
        </p:nvSpPr>
        <p:spPr>
          <a:xfrm>
            <a:off x="685800" y="960120"/>
            <a:ext cx="8915040" cy="17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</a:pPr>
            <a:r>
              <a:rPr b="1" lang="pt-BR" sz="3600" spc="-1" strike="noStrike">
                <a:solidFill>
                  <a:srgbClr val="f1f5f9"/>
                </a:solidFill>
                <a:latin typeface="Inter"/>
              </a:rPr>
              <a:t>Feito pra times que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1" lang="pt-BR" sz="3600" spc="-1" strike="noStrike">
                <a:solidFill>
                  <a:srgbClr val="f1f5f9"/>
                </a:solidFill>
                <a:latin typeface="Inter"/>
              </a:rPr>
              <a:t>precisam de entrega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1" lang="pt-BR" sz="3600" spc="-1" strike="noStrike">
                <a:solidFill>
                  <a:srgbClr val="f1f5f9"/>
                </a:solidFill>
                <a:latin typeface="Inter"/>
              </a:rPr>
              <a:t>previsível.</a:t>
            </a:r>
            <a:endParaRPr b="0" lang="pt-B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Rounded Rectangle 5"/>
          <p:cNvSpPr/>
          <p:nvPr/>
        </p:nvSpPr>
        <p:spPr>
          <a:xfrm>
            <a:off x="685800" y="5029200"/>
            <a:ext cx="8915040" cy="1051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6" name="Oval 6"/>
          <p:cNvSpPr/>
          <p:nvPr/>
        </p:nvSpPr>
        <p:spPr>
          <a:xfrm>
            <a:off x="960120" y="5321880"/>
            <a:ext cx="456840" cy="456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7"/>
          <p:cNvSpPr/>
          <p:nvPr/>
        </p:nvSpPr>
        <p:spPr>
          <a:xfrm>
            <a:off x="960120" y="5409720"/>
            <a:ext cx="456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0a0f1f"/>
                </a:solidFill>
                <a:latin typeface="Inter"/>
              </a:rPr>
              <a:t>✓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8"/>
          <p:cNvSpPr/>
          <p:nvPr/>
        </p:nvSpPr>
        <p:spPr>
          <a:xfrm>
            <a:off x="1645920" y="5166360"/>
            <a:ext cx="77263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500" spc="-1" strike="noStrike">
                <a:solidFill>
                  <a:srgbClr val="f1f5f9"/>
                </a:solidFill>
                <a:latin typeface="Inter"/>
              </a:rPr>
              <a:t>Velocidade com contrato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Box 9"/>
          <p:cNvSpPr/>
          <p:nvPr/>
        </p:nvSpPr>
        <p:spPr>
          <a:xfrm>
            <a:off x="1645920" y="5577840"/>
            <a:ext cx="7726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Não aceita mais trocar dívida técnica por sprint rápido.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ounded Rectangle 10"/>
          <p:cNvSpPr/>
          <p:nvPr/>
        </p:nvSpPr>
        <p:spPr>
          <a:xfrm>
            <a:off x="685800" y="6172200"/>
            <a:ext cx="8915040" cy="1051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1" name="Oval 11"/>
          <p:cNvSpPr/>
          <p:nvPr/>
        </p:nvSpPr>
        <p:spPr>
          <a:xfrm>
            <a:off x="960120" y="6464880"/>
            <a:ext cx="456840" cy="456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12"/>
          <p:cNvSpPr/>
          <p:nvPr/>
        </p:nvSpPr>
        <p:spPr>
          <a:xfrm>
            <a:off x="960120" y="6552720"/>
            <a:ext cx="456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0a0f1f"/>
                </a:solidFill>
                <a:latin typeface="Inter"/>
              </a:rPr>
              <a:t>✓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13"/>
          <p:cNvSpPr/>
          <p:nvPr/>
        </p:nvSpPr>
        <p:spPr>
          <a:xfrm>
            <a:off x="1645920" y="6309360"/>
            <a:ext cx="77263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500" spc="-1" strike="noStrike">
                <a:solidFill>
                  <a:srgbClr val="f1f5f9"/>
                </a:solidFill>
                <a:latin typeface="Inter"/>
              </a:rPr>
              <a:t>Auditoria desde o dia 1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14"/>
          <p:cNvSpPr/>
          <p:nvPr/>
        </p:nvSpPr>
        <p:spPr>
          <a:xfrm>
            <a:off x="1645920" y="6720840"/>
            <a:ext cx="7726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Reguladores, auditor externo, compliance interno.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5"/>
          <p:cNvSpPr/>
          <p:nvPr/>
        </p:nvSpPr>
        <p:spPr>
          <a:xfrm>
            <a:off x="685800" y="7315200"/>
            <a:ext cx="8915040" cy="1051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Oval 16"/>
          <p:cNvSpPr/>
          <p:nvPr/>
        </p:nvSpPr>
        <p:spPr>
          <a:xfrm>
            <a:off x="960120" y="7607880"/>
            <a:ext cx="456840" cy="456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TextBox 17"/>
          <p:cNvSpPr/>
          <p:nvPr/>
        </p:nvSpPr>
        <p:spPr>
          <a:xfrm>
            <a:off x="960120" y="7695720"/>
            <a:ext cx="456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0a0f1f"/>
                </a:solidFill>
                <a:latin typeface="Inter"/>
              </a:rPr>
              <a:t>✓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18"/>
          <p:cNvSpPr/>
          <p:nvPr/>
        </p:nvSpPr>
        <p:spPr>
          <a:xfrm>
            <a:off x="1645920" y="7452360"/>
            <a:ext cx="77263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500" spc="-1" strike="noStrike">
                <a:solidFill>
                  <a:srgbClr val="f1f5f9"/>
                </a:solidFill>
                <a:latin typeface="Inter"/>
              </a:rPr>
              <a:t>IA governada, não caixa-preta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19"/>
          <p:cNvSpPr/>
          <p:nvPr/>
        </p:nvSpPr>
        <p:spPr>
          <a:xfrm>
            <a:off x="1645920" y="7863840"/>
            <a:ext cx="7726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Cada decisão do modelo com provider, custo, motivo.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ounded Rectangle 20"/>
          <p:cNvSpPr/>
          <p:nvPr/>
        </p:nvSpPr>
        <p:spPr>
          <a:xfrm>
            <a:off x="685800" y="8458200"/>
            <a:ext cx="8915040" cy="1051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Oval 21"/>
          <p:cNvSpPr/>
          <p:nvPr/>
        </p:nvSpPr>
        <p:spPr>
          <a:xfrm>
            <a:off x="960120" y="8750880"/>
            <a:ext cx="456840" cy="456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22"/>
          <p:cNvSpPr/>
          <p:nvPr/>
        </p:nvSpPr>
        <p:spPr>
          <a:xfrm>
            <a:off x="960120" y="8838720"/>
            <a:ext cx="456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0a0f1f"/>
                </a:solidFill>
                <a:latin typeface="Inter"/>
              </a:rPr>
              <a:t>✓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23"/>
          <p:cNvSpPr/>
          <p:nvPr/>
        </p:nvSpPr>
        <p:spPr>
          <a:xfrm>
            <a:off x="1645920" y="8595360"/>
            <a:ext cx="77263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500" spc="-1" strike="noStrike">
                <a:solidFill>
                  <a:srgbClr val="f1f5f9"/>
                </a:solidFill>
                <a:latin typeface="Inter"/>
              </a:rPr>
              <a:t>Documentação que sobrevive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24"/>
          <p:cNvSpPr/>
          <p:nvPr/>
        </p:nvSpPr>
        <p:spPr>
          <a:xfrm>
            <a:off x="1645920" y="9006840"/>
            <a:ext cx="7726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ERS que não é artesanato de reunião.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Rounded Rectangle 25"/>
          <p:cNvSpPr/>
          <p:nvPr/>
        </p:nvSpPr>
        <p:spPr>
          <a:xfrm>
            <a:off x="685800" y="9601200"/>
            <a:ext cx="8915040" cy="105120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Oval 26"/>
          <p:cNvSpPr/>
          <p:nvPr/>
        </p:nvSpPr>
        <p:spPr>
          <a:xfrm>
            <a:off x="960120" y="9893880"/>
            <a:ext cx="456840" cy="4568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TextBox 27"/>
          <p:cNvSpPr/>
          <p:nvPr/>
        </p:nvSpPr>
        <p:spPr>
          <a:xfrm>
            <a:off x="960120" y="9981720"/>
            <a:ext cx="45684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600" spc="-1" strike="noStrike">
                <a:solidFill>
                  <a:srgbClr val="0a0f1f"/>
                </a:solidFill>
                <a:latin typeface="Inter"/>
              </a:rPr>
              <a:t>✓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Box 28"/>
          <p:cNvSpPr/>
          <p:nvPr/>
        </p:nvSpPr>
        <p:spPr>
          <a:xfrm>
            <a:off x="1645920" y="9738360"/>
            <a:ext cx="7726320" cy="26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1500" spc="-1" strike="noStrike">
                <a:solidFill>
                  <a:srgbClr val="f1f5f9"/>
                </a:solidFill>
                <a:latin typeface="Inter"/>
              </a:rPr>
              <a:t>On-premises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TextBox 29"/>
          <p:cNvSpPr/>
          <p:nvPr/>
        </p:nvSpPr>
        <p:spPr>
          <a:xfrm>
            <a:off x="1645920" y="10149840"/>
            <a:ext cx="772632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pt-BR" sz="1100" spc="-1" strike="noStrike">
                <a:solidFill>
                  <a:srgbClr val="cbd5e1"/>
                </a:solidFill>
                <a:latin typeface="Inter"/>
              </a:rPr>
              <a:t>Dados do cliente não saem da infraestrutura do cliente.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TextBox 30"/>
          <p:cNvSpPr/>
          <p:nvPr/>
        </p:nvSpPr>
        <p:spPr>
          <a:xfrm>
            <a:off x="68580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64748b"/>
                </a:solidFill>
                <a:latin typeface="Inter"/>
              </a:rPr>
              <a:t>GCA — Gestão de Codificação Assistida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31"/>
          <p:cNvSpPr/>
          <p:nvPr/>
        </p:nvSpPr>
        <p:spPr>
          <a:xfrm>
            <a:off x="5143680" y="12355920"/>
            <a:ext cx="44575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15000"/>
              </a:lnSpc>
            </a:pPr>
            <a:r>
              <a:rPr b="1" lang="pt-BR" sz="900" spc="-1" strike="noStrike">
                <a:solidFill>
                  <a:srgbClr val="94a3b8"/>
                </a:solidFill>
                <a:latin typeface="Inter"/>
              </a:rPr>
              <a:t>11 / 12  →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Rectangle 1"/>
          <p:cNvSpPr/>
          <p:nvPr/>
        </p:nvSpPr>
        <p:spPr>
          <a:xfrm>
            <a:off x="0" y="0"/>
            <a:ext cx="10286640" cy="12858480"/>
          </a:xfrm>
          <a:prstGeom prst="rect">
            <a:avLst/>
          </a:prstGeom>
          <a:solidFill>
            <a:srgbClr val="0a0f1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03" name="Picture 3" descr="gca-logo.png"/>
          <p:cNvPicPr/>
          <p:nvPr/>
        </p:nvPicPr>
        <p:blipFill>
          <a:blip r:embed="rId1"/>
          <a:stretch/>
        </p:blipFill>
        <p:spPr>
          <a:xfrm>
            <a:off x="685800" y="685800"/>
            <a:ext cx="1225800" cy="822600"/>
          </a:xfrm>
          <a:prstGeom prst="rect">
            <a:avLst/>
          </a:prstGeom>
          <a:ln w="0">
            <a:noFill/>
          </a:ln>
        </p:spPr>
      </p:pic>
      <p:sp>
        <p:nvSpPr>
          <p:cNvPr id="504" name="Rounded Rectangle 4"/>
          <p:cNvSpPr/>
          <p:nvPr/>
        </p:nvSpPr>
        <p:spPr>
          <a:xfrm>
            <a:off x="685800" y="3474720"/>
            <a:ext cx="3035520" cy="438480"/>
          </a:xfrm>
          <a:prstGeom prst="roundRect">
            <a:avLst>
              <a:gd name="adj" fmla="val 50000"/>
            </a:avLst>
          </a:prstGeom>
          <a:solidFill>
            <a:srgbClr val="4c1d95"/>
          </a:solidFill>
          <a:ln w="63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5" name="TextBox 5"/>
          <p:cNvSpPr/>
          <p:nvPr/>
        </p:nvSpPr>
        <p:spPr>
          <a:xfrm>
            <a:off x="749160" y="3609720"/>
            <a:ext cx="2908800" cy="16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pt-BR" sz="1100" spc="-1" strike="noStrike">
                <a:solidFill>
                  <a:srgbClr val="a78bfa"/>
                </a:solidFill>
                <a:latin typeface="Inter"/>
              </a:rPr>
              <a:t>GCA · GESTÃO DE CODIFICAÇÃO ASSISTIDA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Box 6"/>
          <p:cNvSpPr/>
          <p:nvPr/>
        </p:nvSpPr>
        <p:spPr>
          <a:xfrm>
            <a:off x="685800" y="4023360"/>
            <a:ext cx="8915040" cy="28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O primeiro produto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que trata governança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de IA como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pt-BR" sz="4600" spc="-1" strike="noStrike">
                <a:solidFill>
                  <a:srgbClr val="f1f5f9"/>
                </a:solidFill>
                <a:latin typeface="Inter"/>
              </a:rPr>
              <a:t>infraestrutura.</a:t>
            </a:r>
            <a:endParaRPr b="0" lang="pt-BR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Rounded Rectangle 7"/>
          <p:cNvSpPr/>
          <p:nvPr/>
        </p:nvSpPr>
        <p:spPr>
          <a:xfrm>
            <a:off x="685800" y="8229600"/>
            <a:ext cx="2125800" cy="11883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8" name="TextBox 8"/>
          <p:cNvSpPr/>
          <p:nvPr/>
        </p:nvSpPr>
        <p:spPr>
          <a:xfrm>
            <a:off x="685800" y="8451360"/>
            <a:ext cx="21258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3200" spc="-1" strike="noStrike">
                <a:solidFill>
                  <a:srgbClr val="a78bfa"/>
                </a:solidFill>
                <a:latin typeface="Inter"/>
              </a:rPr>
              <a:t>8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Box 9"/>
          <p:cNvSpPr/>
          <p:nvPr/>
        </p:nvSpPr>
        <p:spPr>
          <a:xfrm>
            <a:off x="685800" y="9052560"/>
            <a:ext cx="212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94a3b8"/>
                </a:solidFill>
                <a:latin typeface="Inter"/>
              </a:rPr>
              <a:t>linguagens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Rounded Rectangle 10"/>
          <p:cNvSpPr/>
          <p:nvPr/>
        </p:nvSpPr>
        <p:spPr>
          <a:xfrm>
            <a:off x="2949120" y="8229600"/>
            <a:ext cx="2125800" cy="11883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TextBox 11"/>
          <p:cNvSpPr/>
          <p:nvPr/>
        </p:nvSpPr>
        <p:spPr>
          <a:xfrm>
            <a:off x="2949120" y="8451360"/>
            <a:ext cx="21258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3200" spc="-1" strike="noStrike">
                <a:solidFill>
                  <a:srgbClr val="a78bfa"/>
                </a:solidFill>
                <a:latin typeface="Inter"/>
              </a:rPr>
              <a:t>7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Box 12"/>
          <p:cNvSpPr/>
          <p:nvPr/>
        </p:nvSpPr>
        <p:spPr>
          <a:xfrm>
            <a:off x="2949120" y="9052560"/>
            <a:ext cx="212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94a3b8"/>
                </a:solidFill>
                <a:latin typeface="Inter"/>
              </a:rPr>
              <a:t>pilares do OCG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Rounded Rectangle 13"/>
          <p:cNvSpPr/>
          <p:nvPr/>
        </p:nvSpPr>
        <p:spPr>
          <a:xfrm>
            <a:off x="5212080" y="8229600"/>
            <a:ext cx="2125800" cy="11883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4" name="TextBox 14"/>
          <p:cNvSpPr/>
          <p:nvPr/>
        </p:nvSpPr>
        <p:spPr>
          <a:xfrm>
            <a:off x="5212080" y="8451360"/>
            <a:ext cx="21258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3200" spc="-1" strike="noStrike">
                <a:solidFill>
                  <a:srgbClr val="a78bfa"/>
                </a:solidFill>
                <a:latin typeface="Inter"/>
              </a:rPr>
              <a:t>5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Box 15"/>
          <p:cNvSpPr/>
          <p:nvPr/>
        </p:nvSpPr>
        <p:spPr>
          <a:xfrm>
            <a:off x="5212080" y="9052560"/>
            <a:ext cx="212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94a3b8"/>
                </a:solidFill>
                <a:latin typeface="Inter"/>
              </a:rPr>
              <a:t>papéis RBAC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Rounded Rectangle 16"/>
          <p:cNvSpPr/>
          <p:nvPr/>
        </p:nvSpPr>
        <p:spPr>
          <a:xfrm>
            <a:off x="7475400" y="8229600"/>
            <a:ext cx="2125800" cy="1188360"/>
          </a:xfrm>
          <a:prstGeom prst="roundRect">
            <a:avLst>
              <a:gd name="adj" fmla="val 18000"/>
            </a:avLst>
          </a:prstGeom>
          <a:solidFill>
            <a:srgbClr val="10172a"/>
          </a:solidFill>
          <a:ln>
            <a:solidFill>
              <a:srgbClr val="2b364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7" name="TextBox 17"/>
          <p:cNvSpPr/>
          <p:nvPr/>
        </p:nvSpPr>
        <p:spPr>
          <a:xfrm>
            <a:off x="7475400" y="8451360"/>
            <a:ext cx="212580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3200" spc="-1" strike="noStrike">
                <a:solidFill>
                  <a:srgbClr val="a78bfa"/>
                </a:solidFill>
                <a:latin typeface="Inter"/>
              </a:rPr>
              <a:t>1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18"/>
          <p:cNvSpPr/>
          <p:nvPr/>
        </p:nvSpPr>
        <p:spPr>
          <a:xfrm>
            <a:off x="7475400" y="9052560"/>
            <a:ext cx="212580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pt-BR" sz="1000" spc="-1" strike="noStrike">
                <a:solidFill>
                  <a:srgbClr val="94a3b8"/>
                </a:solidFill>
                <a:latin typeface="Inter"/>
              </a:rPr>
              <a:t>fonte de verdade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cp:lastPrinted>2026-04-21T18:13:42Z</cp:lastPrinted>
  <dcterms:modified xsi:type="dcterms:W3CDTF">2026-04-21T19:00:58Z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