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_rels/presentation.xml.rels" ContentType="application/vnd.openxmlformats-package.relationships+xml"/>
  <Override PartName="/ppt/media/image1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  <p:sldId id="268" r:id="rId25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slide" Target="slides/slide13.xml"/><Relationship Id="rId2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1B1851BC-7E43-477A-AE41-9C09F4309A0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5CB4CA75-39EC-4557-BDE3-7330E5D130C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BA800EC7-6FE7-4111-A592-136E6B9B062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BCFE1899-99AA-43F9-BACF-3B8EABBE64C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C3E3CBDD-DD72-47C8-82C7-B7624F97026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88D16CD1-70CA-4B49-8CF6-1FA7E77C81A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4E988B74-28AB-4E11-ADB6-63958702D6D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FEB1B5E7-83EC-4CFA-A4B0-F77470B9473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4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87EAF07E-9DD4-4183-895D-D3B8214DB2E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7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9"/>
          </p:nvPr>
        </p:nvSpPr>
        <p:spPr/>
        <p:txBody>
          <a:bodyPr/>
          <a:p>
            <a:fld id="{FD543CE2-0E61-40F3-BF19-CDD52B1636C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0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2"/>
          </p:nvPr>
        </p:nvSpPr>
        <p:spPr/>
        <p:txBody>
          <a:bodyPr/>
          <a:p>
            <a:fld id="{FEE39A73-2889-4771-9562-E241DD4D803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3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Clique </a:t>
            </a: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para </a:t>
            </a: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editar </a:t>
            </a: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o </a:t>
            </a: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format</a:t>
            </a: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o do </a:t>
            </a: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texto </a:t>
            </a: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do </a:t>
            </a: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título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1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&lt;rodapé&gt;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2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49145CDA-CDB0-46B7-A782-84011D42875A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3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&lt;data/hora&gt;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ftr" idx="4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&lt;rodapé&gt;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sldNum" idx="5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0AE2FFE0-E4DA-4C1A-86A2-F74BA36848AD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6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&lt;data/hora&gt;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ftr" idx="7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&lt;rodapé&gt;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sldNum" idx="8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2F4FCE6E-3182-4CD5-ACDC-778A4D394F24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dt" idx="9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&lt;data/hora&gt;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Clique </a:t>
            </a: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para </a:t>
            </a: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editar </a:t>
            </a: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o </a:t>
            </a: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format</a:t>
            </a: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o do </a:t>
            </a: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texto </a:t>
            </a: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do </a:t>
            </a: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título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7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Clique para editar o formato de texto dos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2.º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3.º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4.º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5.º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6.º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7.º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ftr" idx="10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&lt;rodapé&gt;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sldNum" idx="11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A7D83040-E2AC-4046-A18C-AF8D58208BC5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dt" idx="12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&lt;data/hora&gt;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ftr" idx="13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&lt;rodapé&gt;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sldNum" idx="14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1498D843-3BC6-4287-9DEA-1DB6E27A30D0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dt" idx="15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&lt;data/hora&gt;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Clique para editar o formato </a:t>
            </a: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do texto do título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Clique para editar o formato de texto dos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2.º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3.º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4.º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5.º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6.º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7.º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Clique para editar o formato de texto dos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2.º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3.º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4.º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5.º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6.º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7.º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ftr" idx="16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&lt;rodapé&gt;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sldNum" idx="17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F015AB34-1553-4E8E-B3AE-9C4A8FCA6BD3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6"/>
          <p:cNvSpPr>
            <a:spLocks noGrp="1"/>
          </p:cNvSpPr>
          <p:nvPr>
            <p:ph type="dt" idx="18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&lt;data/hora&gt;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ftr" idx="19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&lt;rodapé&gt;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sldNum" idx="20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EFF28380-F951-44FA-91D6-6B9279011306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dt" idx="21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&lt;data/hora&gt;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Clique para editar o formato do texto do título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ftr" idx="22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&lt;rodapé&gt;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sldNum" idx="23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A0CDC682-309C-4608-945A-8C3DD2A8C935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dt" idx="24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&lt;data/hora&gt;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ftr" idx="25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&lt;rodapé&gt;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sldNum" idx="26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49EED0B8-CC09-4215-9346-13D525E12AE2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 type="dt" idx="27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&lt;data/hora&gt;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pt-BR" sz="4400" spc="-1" strike="noStrike">
                <a:solidFill>
                  <a:srgbClr val="000000"/>
                </a:solidFill>
                <a:latin typeface="Arial"/>
              </a:rPr>
              <a:t>Clique para editar o formato do texto do título</a:t>
            </a: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3200" spc="-1" strike="noStrike">
                <a:solidFill>
                  <a:srgbClr val="000000"/>
                </a:solidFill>
                <a:latin typeface="Arial"/>
              </a:rPr>
              <a:t>Clique para editar o formato de texto dos tópicos</a:t>
            </a: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800" spc="-1" strike="noStrike">
                <a:solidFill>
                  <a:srgbClr val="000000"/>
                </a:solidFill>
                <a:latin typeface="Arial"/>
              </a:rPr>
              <a:t>2.º nível de tópicos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400" spc="-1" strike="noStrike">
                <a:solidFill>
                  <a:srgbClr val="000000"/>
                </a:solidFill>
                <a:latin typeface="Arial"/>
              </a:rPr>
              <a:t>3.º nível de tópicos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4.º nível de tópicos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5.º nível de tópicos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6.º nível de tópicos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7.º nível de tópicos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ftr" idx="28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&lt;rodapé&gt;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sldNum" idx="29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F2BD9242-0F36-4BAF-AF62-37895C633002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dt" idx="30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&lt;data/hora&gt;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ftr" idx="31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&lt;rodapé&gt;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sldNum" idx="32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AC19C4AB-593B-4C30-BACB-D64DF38718CA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dt" idx="33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&lt;data/hora&gt;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Rectangle 1"/>
          <p:cNvSpPr/>
          <p:nvPr/>
        </p:nvSpPr>
        <p:spPr>
          <a:xfrm>
            <a:off x="0" y="0"/>
            <a:ext cx="365040" cy="6857280"/>
          </a:xfrm>
          <a:prstGeom prst="rect">
            <a:avLst/>
          </a:prstGeom>
          <a:solidFill>
            <a:srgbClr val="1e2d5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51" name="Picture 2" descr="logogca.png"/>
          <p:cNvPicPr/>
          <p:nvPr/>
        </p:nvPicPr>
        <p:blipFill>
          <a:blip r:embed="rId1"/>
          <a:stretch/>
        </p:blipFill>
        <p:spPr>
          <a:xfrm>
            <a:off x="4460760" y="1097280"/>
            <a:ext cx="3268800" cy="2193840"/>
          </a:xfrm>
          <a:prstGeom prst="rect">
            <a:avLst/>
          </a:prstGeom>
          <a:ln w="0">
            <a:noFill/>
          </a:ln>
        </p:spPr>
      </p:pic>
      <p:sp>
        <p:nvSpPr>
          <p:cNvPr id="52" name="TextBox 3"/>
          <p:cNvSpPr/>
          <p:nvPr/>
        </p:nvSpPr>
        <p:spPr>
          <a:xfrm>
            <a:off x="914400" y="3749040"/>
            <a:ext cx="10362240" cy="56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36720" bIns="3672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pt-BR" sz="3200" spc="-1" strike="noStrike">
                <a:solidFill>
                  <a:srgbClr val="1e2d52"/>
                </a:solidFill>
                <a:latin typeface="Calibri"/>
              </a:rPr>
              <a:t>Gestão de Codificação Assistida</a:t>
            </a: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TextBox 4"/>
          <p:cNvSpPr/>
          <p:nvPr/>
        </p:nvSpPr>
        <p:spPr>
          <a:xfrm>
            <a:off x="914400" y="4434840"/>
            <a:ext cx="10362240" cy="34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36720" bIns="3672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i="1" lang="pt-BR" sz="1800" spc="-1" strike="noStrike">
                <a:solidFill>
                  <a:srgbClr val="64748b"/>
                </a:solidFill>
                <a:latin typeface="Calibri"/>
              </a:rPr>
              <a:t>Governança de projetos de software assistida por IA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Rectangle 5"/>
          <p:cNvSpPr/>
          <p:nvPr/>
        </p:nvSpPr>
        <p:spPr>
          <a:xfrm>
            <a:off x="3809880" y="5074920"/>
            <a:ext cx="4571280" cy="456480"/>
          </a:xfrm>
          <a:prstGeom prst="rect">
            <a:avLst/>
          </a:prstGeom>
          <a:solidFill>
            <a:srgbClr val="6d28d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5" name="TextBox 6"/>
          <p:cNvSpPr/>
          <p:nvPr/>
        </p:nvSpPr>
        <p:spPr>
          <a:xfrm>
            <a:off x="3809880" y="5175360"/>
            <a:ext cx="45712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36720" bIns="3672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1" lang="pt-BR" sz="1200" spc="-1" strike="noStrike">
                <a:solidFill>
                  <a:srgbClr val="ffffff"/>
                </a:solidFill>
                <a:latin typeface="Calibri"/>
              </a:rPr>
              <a:t>Apresentação Comercial · Versão 1.0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TextBox 7"/>
          <p:cNvSpPr/>
          <p:nvPr/>
        </p:nvSpPr>
        <p:spPr>
          <a:xfrm>
            <a:off x="914400" y="5989320"/>
            <a:ext cx="10362240" cy="24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36720" bIns="36720" anchor="t">
            <a:spAutoFit/>
          </a:bodyPr>
          <a:p>
            <a:pPr algn="ctr" defTabSz="457200"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Rectangle 1"/>
          <p:cNvSpPr/>
          <p:nvPr/>
        </p:nvSpPr>
        <p:spPr>
          <a:xfrm>
            <a:off x="0" y="0"/>
            <a:ext cx="12191040" cy="109080"/>
          </a:xfrm>
          <a:prstGeom prst="rect">
            <a:avLst/>
          </a:prstGeom>
          <a:solidFill>
            <a:srgbClr val="1e2d5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8" name="TextBox 2"/>
          <p:cNvSpPr/>
          <p:nvPr/>
        </p:nvSpPr>
        <p:spPr>
          <a:xfrm>
            <a:off x="640080" y="316800"/>
            <a:ext cx="5485680" cy="22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36720" bIns="3672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pt-BR" sz="1000" spc="-1" strike="noStrike">
                <a:solidFill>
                  <a:srgbClr val="6d28d9"/>
                </a:solidFill>
                <a:latin typeface="Calibri"/>
              </a:rPr>
              <a:t>SUMÁRIO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TextBox 3"/>
          <p:cNvSpPr/>
          <p:nvPr/>
        </p:nvSpPr>
        <p:spPr>
          <a:xfrm>
            <a:off x="640080" y="984240"/>
            <a:ext cx="10057680" cy="49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36720" bIns="3672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pt-BR" sz="2800" spc="-1" strike="noStrike">
                <a:solidFill>
                  <a:srgbClr val="1e2d52"/>
                </a:solidFill>
                <a:latin typeface="Calibri"/>
              </a:rPr>
              <a:t>Como esta apresentação está organizada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0" name="Picture 4" descr="logogca.png"/>
          <p:cNvPicPr/>
          <p:nvPr/>
        </p:nvPicPr>
        <p:blipFill>
          <a:blip r:embed="rId1"/>
          <a:stretch/>
        </p:blipFill>
        <p:spPr>
          <a:xfrm>
            <a:off x="11076120" y="205560"/>
            <a:ext cx="748440" cy="502200"/>
          </a:xfrm>
          <a:prstGeom prst="rect">
            <a:avLst/>
          </a:prstGeom>
          <a:ln w="0">
            <a:noFill/>
          </a:ln>
        </p:spPr>
      </p:pic>
      <p:sp>
        <p:nvSpPr>
          <p:cNvPr id="61" name="Rectangle 5"/>
          <p:cNvSpPr/>
          <p:nvPr/>
        </p:nvSpPr>
        <p:spPr>
          <a:xfrm>
            <a:off x="640080" y="1691640"/>
            <a:ext cx="5302800" cy="1279440"/>
          </a:xfrm>
          <a:prstGeom prst="rect">
            <a:avLst/>
          </a:prstGeom>
          <a:solidFill>
            <a:srgbClr val="f1f5f9"/>
          </a:solidFill>
          <a:ln w="6350">
            <a:solidFill>
              <a:srgbClr val="9ca3a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2" name="TextBox 6"/>
          <p:cNvSpPr/>
          <p:nvPr/>
        </p:nvSpPr>
        <p:spPr>
          <a:xfrm>
            <a:off x="777240" y="2020680"/>
            <a:ext cx="82224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36720" bIns="3672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1" lang="pt-BR" sz="3600" spc="-1" strike="noStrike">
                <a:solidFill>
                  <a:srgbClr val="6d28d9"/>
                </a:solidFill>
                <a:latin typeface="Calibri"/>
              </a:rPr>
              <a:t>01</a:t>
            </a:r>
            <a:endParaRPr b="0" lang="pt-BR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TextBox 7"/>
          <p:cNvSpPr/>
          <p:nvPr/>
        </p:nvSpPr>
        <p:spPr>
          <a:xfrm>
            <a:off x="1645920" y="1874520"/>
            <a:ext cx="4205520" cy="30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36720" bIns="3672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pt-BR" sz="1500" spc="-1" strike="noStrike">
                <a:solidFill>
                  <a:srgbClr val="1e2d52"/>
                </a:solidFill>
                <a:latin typeface="Calibri"/>
              </a:rPr>
              <a:t>O que é o GCA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TextBox 8"/>
          <p:cNvSpPr/>
          <p:nvPr/>
        </p:nvSpPr>
        <p:spPr>
          <a:xfrm>
            <a:off x="1645920" y="2331720"/>
            <a:ext cx="4205520" cy="24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36720" bIns="3672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pt-BR" sz="1100" spc="-1" strike="noStrike">
                <a:solidFill>
                  <a:srgbClr val="64748b"/>
                </a:solidFill>
                <a:latin typeface="Calibri"/>
              </a:rPr>
              <a:t>Definição e propósito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Rectangle 9"/>
          <p:cNvSpPr/>
          <p:nvPr/>
        </p:nvSpPr>
        <p:spPr>
          <a:xfrm>
            <a:off x="6309360" y="1691640"/>
            <a:ext cx="5302800" cy="1279440"/>
          </a:xfrm>
          <a:prstGeom prst="rect">
            <a:avLst/>
          </a:prstGeom>
          <a:solidFill>
            <a:srgbClr val="f1f5f9"/>
          </a:solidFill>
          <a:ln w="6350">
            <a:solidFill>
              <a:srgbClr val="9ca3a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6" name="TextBox 10"/>
          <p:cNvSpPr/>
          <p:nvPr/>
        </p:nvSpPr>
        <p:spPr>
          <a:xfrm>
            <a:off x="6446520" y="2020680"/>
            <a:ext cx="82224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36720" bIns="3672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1" lang="pt-BR" sz="3600" spc="-1" strike="noStrike">
                <a:solidFill>
                  <a:srgbClr val="6d28d9"/>
                </a:solidFill>
                <a:latin typeface="Calibri"/>
              </a:rPr>
              <a:t>02</a:t>
            </a:r>
            <a:endParaRPr b="0" lang="pt-BR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TextBox 11"/>
          <p:cNvSpPr/>
          <p:nvPr/>
        </p:nvSpPr>
        <p:spPr>
          <a:xfrm>
            <a:off x="7315200" y="1874520"/>
            <a:ext cx="4205520" cy="30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36720" bIns="3672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pt-BR" sz="1500" spc="-1" strike="noStrike">
                <a:solidFill>
                  <a:srgbClr val="1e2d52"/>
                </a:solidFill>
                <a:latin typeface="Calibri"/>
              </a:rPr>
              <a:t>Dores que o GCA resolve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TextBox 12"/>
          <p:cNvSpPr/>
          <p:nvPr/>
        </p:nvSpPr>
        <p:spPr>
          <a:xfrm>
            <a:off x="7315200" y="2331720"/>
            <a:ext cx="4205520" cy="24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36720" bIns="3672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pt-BR" sz="1100" spc="-1" strike="noStrike">
                <a:solidFill>
                  <a:srgbClr val="64748b"/>
                </a:solidFill>
                <a:latin typeface="Calibri"/>
              </a:rPr>
              <a:t>Seis problemas estruturais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Rectangle 13"/>
          <p:cNvSpPr/>
          <p:nvPr/>
        </p:nvSpPr>
        <p:spPr>
          <a:xfrm>
            <a:off x="640080" y="3154680"/>
            <a:ext cx="5302800" cy="1279440"/>
          </a:xfrm>
          <a:prstGeom prst="rect">
            <a:avLst/>
          </a:prstGeom>
          <a:solidFill>
            <a:srgbClr val="f1f5f9"/>
          </a:solidFill>
          <a:ln w="6350">
            <a:solidFill>
              <a:srgbClr val="9ca3a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0" name="TextBox 14"/>
          <p:cNvSpPr/>
          <p:nvPr/>
        </p:nvSpPr>
        <p:spPr>
          <a:xfrm>
            <a:off x="777240" y="3483720"/>
            <a:ext cx="82224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36720" bIns="3672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1" lang="pt-BR" sz="3600" spc="-1" strike="noStrike">
                <a:solidFill>
                  <a:srgbClr val="6d28d9"/>
                </a:solidFill>
                <a:latin typeface="Calibri"/>
              </a:rPr>
              <a:t>03</a:t>
            </a:r>
            <a:endParaRPr b="0" lang="pt-BR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TextBox 15"/>
          <p:cNvSpPr/>
          <p:nvPr/>
        </p:nvSpPr>
        <p:spPr>
          <a:xfrm>
            <a:off x="1645920" y="3337560"/>
            <a:ext cx="4205520" cy="30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36720" bIns="3672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pt-BR" sz="1500" spc="-1" strike="noStrike">
                <a:solidFill>
                  <a:srgbClr val="1e2d52"/>
                </a:solidFill>
                <a:latin typeface="Calibri"/>
              </a:rPr>
              <a:t>Diferenciais de mercado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TextBox 16"/>
          <p:cNvSpPr/>
          <p:nvPr/>
        </p:nvSpPr>
        <p:spPr>
          <a:xfrm>
            <a:off x="1645920" y="3794760"/>
            <a:ext cx="4205520" cy="24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36720" bIns="3672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pt-BR" sz="1100" spc="-1" strike="noStrike">
                <a:solidFill>
                  <a:srgbClr val="64748b"/>
                </a:solidFill>
                <a:latin typeface="Calibri"/>
              </a:rPr>
              <a:t>Por que somos diferentes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Rectangle 17"/>
          <p:cNvSpPr/>
          <p:nvPr/>
        </p:nvSpPr>
        <p:spPr>
          <a:xfrm>
            <a:off x="6309360" y="3154680"/>
            <a:ext cx="5302800" cy="1279440"/>
          </a:xfrm>
          <a:prstGeom prst="rect">
            <a:avLst/>
          </a:prstGeom>
          <a:solidFill>
            <a:srgbClr val="f1f5f9"/>
          </a:solidFill>
          <a:ln w="6350">
            <a:solidFill>
              <a:srgbClr val="9ca3a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4" name="TextBox 18"/>
          <p:cNvSpPr/>
          <p:nvPr/>
        </p:nvSpPr>
        <p:spPr>
          <a:xfrm>
            <a:off x="6446520" y="3483720"/>
            <a:ext cx="82224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36720" bIns="3672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1" lang="pt-BR" sz="3600" spc="-1" strike="noStrike">
                <a:solidFill>
                  <a:srgbClr val="6d28d9"/>
                </a:solidFill>
                <a:latin typeface="Calibri"/>
              </a:rPr>
              <a:t>04</a:t>
            </a:r>
            <a:endParaRPr b="0" lang="pt-BR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TextBox 19"/>
          <p:cNvSpPr/>
          <p:nvPr/>
        </p:nvSpPr>
        <p:spPr>
          <a:xfrm>
            <a:off x="7315200" y="3337560"/>
            <a:ext cx="4205520" cy="30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36720" bIns="3672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pt-BR" sz="1500" spc="-1" strike="noStrike">
                <a:solidFill>
                  <a:srgbClr val="1e2d52"/>
                </a:solidFill>
                <a:latin typeface="Calibri"/>
              </a:rPr>
              <a:t>Funcionalidades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TextBox 20"/>
          <p:cNvSpPr/>
          <p:nvPr/>
        </p:nvSpPr>
        <p:spPr>
          <a:xfrm>
            <a:off x="7315200" y="3794760"/>
            <a:ext cx="4205520" cy="24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36720" bIns="3672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pt-BR" sz="1100" spc="-1" strike="noStrike">
                <a:solidFill>
                  <a:srgbClr val="64748b"/>
                </a:solidFill>
                <a:latin typeface="Calibri"/>
              </a:rPr>
              <a:t>Áreas Administrativa e de Projeto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Rectangle 21"/>
          <p:cNvSpPr/>
          <p:nvPr/>
        </p:nvSpPr>
        <p:spPr>
          <a:xfrm>
            <a:off x="640080" y="4617720"/>
            <a:ext cx="5302800" cy="1279440"/>
          </a:xfrm>
          <a:prstGeom prst="rect">
            <a:avLst/>
          </a:prstGeom>
          <a:solidFill>
            <a:srgbClr val="f1f5f9"/>
          </a:solidFill>
          <a:ln w="6350">
            <a:solidFill>
              <a:srgbClr val="9ca3a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8" name="TextBox 22"/>
          <p:cNvSpPr/>
          <p:nvPr/>
        </p:nvSpPr>
        <p:spPr>
          <a:xfrm>
            <a:off x="777240" y="4946760"/>
            <a:ext cx="82224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36720" bIns="3672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1" lang="pt-BR" sz="3600" spc="-1" strike="noStrike">
                <a:solidFill>
                  <a:srgbClr val="6d28d9"/>
                </a:solidFill>
                <a:latin typeface="Calibri"/>
              </a:rPr>
              <a:t>05</a:t>
            </a:r>
            <a:endParaRPr b="0" lang="pt-BR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TextBox 23"/>
          <p:cNvSpPr/>
          <p:nvPr/>
        </p:nvSpPr>
        <p:spPr>
          <a:xfrm>
            <a:off x="1645920" y="4800600"/>
            <a:ext cx="4205520" cy="30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36720" bIns="3672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pt-BR" sz="1500" spc="-1" strike="noStrike">
                <a:solidFill>
                  <a:srgbClr val="1e2d52"/>
                </a:solidFill>
                <a:latin typeface="Calibri"/>
              </a:rPr>
              <a:t>O que esperar do produto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TextBox 24"/>
          <p:cNvSpPr/>
          <p:nvPr/>
        </p:nvSpPr>
        <p:spPr>
          <a:xfrm>
            <a:off x="1645920" y="5257800"/>
            <a:ext cx="4205520" cy="24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36720" bIns="3672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pt-BR" sz="1100" spc="-1" strike="noStrike">
                <a:solidFill>
                  <a:srgbClr val="64748b"/>
                </a:solidFill>
                <a:latin typeface="Calibri"/>
              </a:rPr>
              <a:t>Visão honesta de maturidade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Rectangle 25"/>
          <p:cNvSpPr/>
          <p:nvPr/>
        </p:nvSpPr>
        <p:spPr>
          <a:xfrm>
            <a:off x="6309360" y="4617720"/>
            <a:ext cx="5302800" cy="1279440"/>
          </a:xfrm>
          <a:prstGeom prst="rect">
            <a:avLst/>
          </a:prstGeom>
          <a:solidFill>
            <a:srgbClr val="f1f5f9"/>
          </a:solidFill>
          <a:ln w="6350">
            <a:solidFill>
              <a:srgbClr val="9ca3a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2" name="TextBox 26"/>
          <p:cNvSpPr/>
          <p:nvPr/>
        </p:nvSpPr>
        <p:spPr>
          <a:xfrm>
            <a:off x="6446520" y="4946760"/>
            <a:ext cx="82224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36720" bIns="3672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1" lang="pt-BR" sz="3600" spc="-1" strike="noStrike">
                <a:solidFill>
                  <a:srgbClr val="6d28d9"/>
                </a:solidFill>
                <a:latin typeface="Calibri"/>
              </a:rPr>
              <a:t>06</a:t>
            </a:r>
            <a:endParaRPr b="0" lang="pt-BR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TextBox 27"/>
          <p:cNvSpPr/>
          <p:nvPr/>
        </p:nvSpPr>
        <p:spPr>
          <a:xfrm>
            <a:off x="7315200" y="4800600"/>
            <a:ext cx="4205520" cy="30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36720" bIns="3672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pt-BR" sz="1500" spc="-1" strike="noStrike">
                <a:solidFill>
                  <a:srgbClr val="1e2d52"/>
                </a:solidFill>
                <a:latin typeface="Calibri"/>
              </a:rPr>
              <a:t>Próximas entregas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TextBox 28"/>
          <p:cNvSpPr/>
          <p:nvPr/>
        </p:nvSpPr>
        <p:spPr>
          <a:xfrm>
            <a:off x="7315200" y="5257800"/>
            <a:ext cx="4205520" cy="24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36720" bIns="3672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pt-BR" sz="1100" spc="-1" strike="noStrike">
                <a:solidFill>
                  <a:srgbClr val="64748b"/>
                </a:solidFill>
                <a:latin typeface="Calibri"/>
              </a:rPr>
              <a:t>Roadmap definido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Rectangle 29"/>
          <p:cNvSpPr/>
          <p:nvPr/>
        </p:nvSpPr>
        <p:spPr>
          <a:xfrm>
            <a:off x="0" y="6583680"/>
            <a:ext cx="12191040" cy="17640"/>
          </a:xfrm>
          <a:prstGeom prst="rect">
            <a:avLst/>
          </a:prstGeom>
          <a:solidFill>
            <a:srgbClr val="9ca3a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6640" bIns="-26640" anchor="ctr">
            <a:noAutofit/>
          </a:bodyPr>
          <a:p>
            <a:pPr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6" name="TextBox 30"/>
          <p:cNvSpPr/>
          <p:nvPr/>
        </p:nvSpPr>
        <p:spPr>
          <a:xfrm>
            <a:off x="640080" y="6615720"/>
            <a:ext cx="7314480" cy="21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36720" bIns="36720" anchor="ctr">
            <a:spAutoFit/>
          </a:bodyPr>
          <a:p>
            <a:pPr defTabSz="457200">
              <a:lnSpc>
                <a:spcPct val="100000"/>
              </a:lnSpc>
            </a:pPr>
            <a:r>
              <a:rPr b="0" lang="pt-BR" sz="900" spc="-1" strike="noStrike">
                <a:solidFill>
                  <a:srgbClr val="64748b"/>
                </a:solidFill>
                <a:latin typeface="Calibri"/>
              </a:rPr>
              <a:t>GCA — Gestão de Codificação Assistida · Apresentação Comercial</a:t>
            </a:r>
            <a:endParaRPr b="0" lang="pt-B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TextBox 31"/>
          <p:cNvSpPr/>
          <p:nvPr/>
        </p:nvSpPr>
        <p:spPr>
          <a:xfrm>
            <a:off x="10820160" y="6615720"/>
            <a:ext cx="913680" cy="21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36720" bIns="36720" anchor="ctr">
            <a:spAutoFit/>
          </a:bodyPr>
          <a:p>
            <a:pPr algn="r" defTabSz="457200">
              <a:lnSpc>
                <a:spcPct val="100000"/>
              </a:lnSpc>
            </a:pPr>
            <a:r>
              <a:rPr b="0" lang="pt-BR" sz="900" spc="-1" strike="noStrike">
                <a:solidFill>
                  <a:srgbClr val="64748b"/>
                </a:solidFill>
                <a:latin typeface="Calibri"/>
              </a:rPr>
              <a:t>2 / 13</a:t>
            </a:r>
            <a:endParaRPr b="0" lang="pt-BR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Rectangle 1"/>
          <p:cNvSpPr/>
          <p:nvPr/>
        </p:nvSpPr>
        <p:spPr>
          <a:xfrm>
            <a:off x="0" y="0"/>
            <a:ext cx="12191040" cy="109080"/>
          </a:xfrm>
          <a:prstGeom prst="rect">
            <a:avLst/>
          </a:prstGeom>
          <a:solidFill>
            <a:srgbClr val="1e2d5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9" name="TextBox 2"/>
          <p:cNvSpPr/>
          <p:nvPr/>
        </p:nvSpPr>
        <p:spPr>
          <a:xfrm>
            <a:off x="640080" y="316800"/>
            <a:ext cx="5485680" cy="22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36720" bIns="3672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pt-BR" sz="1000" spc="-1" strike="noStrike">
                <a:solidFill>
                  <a:srgbClr val="6d28d9"/>
                </a:solidFill>
                <a:latin typeface="Calibri"/>
              </a:rPr>
              <a:t>01 · DEFINIÇÃO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TextBox 3"/>
          <p:cNvSpPr/>
          <p:nvPr/>
        </p:nvSpPr>
        <p:spPr>
          <a:xfrm>
            <a:off x="640080" y="984240"/>
            <a:ext cx="10057680" cy="49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36720" bIns="3672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pt-BR" sz="2800" spc="-1" strike="noStrike">
                <a:solidFill>
                  <a:srgbClr val="1e2d52"/>
                </a:solidFill>
                <a:latin typeface="Calibri"/>
              </a:rPr>
              <a:t>O que é o GCA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1" name="Picture 4" descr="logogca.png"/>
          <p:cNvPicPr/>
          <p:nvPr/>
        </p:nvPicPr>
        <p:blipFill>
          <a:blip r:embed="rId1"/>
          <a:stretch/>
        </p:blipFill>
        <p:spPr>
          <a:xfrm>
            <a:off x="11076120" y="205560"/>
            <a:ext cx="748440" cy="502200"/>
          </a:xfrm>
          <a:prstGeom prst="rect">
            <a:avLst/>
          </a:prstGeom>
          <a:ln w="0">
            <a:noFill/>
          </a:ln>
        </p:spPr>
      </p:pic>
      <p:sp>
        <p:nvSpPr>
          <p:cNvPr id="92" name="Rectangle 5"/>
          <p:cNvSpPr/>
          <p:nvPr/>
        </p:nvSpPr>
        <p:spPr>
          <a:xfrm>
            <a:off x="640080" y="1691640"/>
            <a:ext cx="10910880" cy="1279440"/>
          </a:xfrm>
          <a:prstGeom prst="rect">
            <a:avLst/>
          </a:prstGeom>
          <a:solidFill>
            <a:srgbClr val="1e2d5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3" name="TextBox 6"/>
          <p:cNvSpPr/>
          <p:nvPr/>
        </p:nvSpPr>
        <p:spPr>
          <a:xfrm>
            <a:off x="914400" y="2081520"/>
            <a:ext cx="10362240" cy="49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36720" bIns="36720" anchor="ctr">
            <a:spAutoFit/>
          </a:bodyPr>
          <a:p>
            <a:pPr defTabSz="457200">
              <a:lnSpc>
                <a:spcPct val="100000"/>
              </a:lnSpc>
            </a:pPr>
            <a:r>
              <a:rPr b="0" i="1" lang="pt-BR" sz="1400" spc="-1" strike="noStrike">
                <a:solidFill>
                  <a:srgbClr val="ffffff"/>
                </a:solidFill>
                <a:latin typeface="Calibri"/>
              </a:rPr>
              <a:t>Plataforma instalável por cliente para governança de projetos de software assistida por Inteligência Artificial. Cobre o ciclo completo: da solicitação à entrega, sob compartimentalização dura por projeto e auditoria contínua.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Rectangle 7"/>
          <p:cNvSpPr/>
          <p:nvPr/>
        </p:nvSpPr>
        <p:spPr>
          <a:xfrm>
            <a:off x="640080" y="3383280"/>
            <a:ext cx="2589840" cy="2193840"/>
          </a:xfrm>
          <a:prstGeom prst="rect">
            <a:avLst/>
          </a:prstGeom>
          <a:solidFill>
            <a:srgbClr val="ffffff"/>
          </a:solidFill>
          <a:ln>
            <a:solidFill>
              <a:srgbClr val="9ca3a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5" name="Rectangle 8"/>
          <p:cNvSpPr/>
          <p:nvPr/>
        </p:nvSpPr>
        <p:spPr>
          <a:xfrm>
            <a:off x="640080" y="3383280"/>
            <a:ext cx="2589840" cy="273600"/>
          </a:xfrm>
          <a:prstGeom prst="rect">
            <a:avLst/>
          </a:prstGeom>
          <a:solidFill>
            <a:srgbClr val="6d28d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6" name="TextBox 9"/>
          <p:cNvSpPr/>
          <p:nvPr/>
        </p:nvSpPr>
        <p:spPr>
          <a:xfrm>
            <a:off x="777240" y="3794760"/>
            <a:ext cx="2315520" cy="3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36720" bIns="3672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pt-BR" sz="1600" spc="-1" strike="noStrike">
                <a:solidFill>
                  <a:srgbClr val="6d28d9"/>
                </a:solidFill>
                <a:latin typeface="Calibri"/>
              </a:rPr>
              <a:t>Instalável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TextBox 10"/>
          <p:cNvSpPr/>
          <p:nvPr/>
        </p:nvSpPr>
        <p:spPr>
          <a:xfrm>
            <a:off x="777240" y="4343400"/>
            <a:ext cx="2315520" cy="40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36720" bIns="3672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pt-BR" sz="1100" spc="-1" strike="noStrike">
                <a:solidFill>
                  <a:srgbClr val="374151"/>
                </a:solidFill>
                <a:latin typeface="Calibri"/>
              </a:rPr>
              <a:t>Uma instância por cliente. Dados nunca saem do ambiente.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Rectangle 11"/>
          <p:cNvSpPr/>
          <p:nvPr/>
        </p:nvSpPr>
        <p:spPr>
          <a:xfrm>
            <a:off x="3413520" y="3383280"/>
            <a:ext cx="2589840" cy="2193840"/>
          </a:xfrm>
          <a:prstGeom prst="rect">
            <a:avLst/>
          </a:prstGeom>
          <a:solidFill>
            <a:srgbClr val="ffffff"/>
          </a:solidFill>
          <a:ln>
            <a:solidFill>
              <a:srgbClr val="9ca3a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9" name="Rectangle 12"/>
          <p:cNvSpPr/>
          <p:nvPr/>
        </p:nvSpPr>
        <p:spPr>
          <a:xfrm>
            <a:off x="3413520" y="3383280"/>
            <a:ext cx="2589840" cy="273600"/>
          </a:xfrm>
          <a:prstGeom prst="rect">
            <a:avLst/>
          </a:prstGeom>
          <a:solidFill>
            <a:srgbClr val="05966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0" name="TextBox 13"/>
          <p:cNvSpPr/>
          <p:nvPr/>
        </p:nvSpPr>
        <p:spPr>
          <a:xfrm>
            <a:off x="3550680" y="3794760"/>
            <a:ext cx="2315520" cy="3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36720" bIns="3672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pt-BR" sz="1600" spc="-1" strike="noStrike">
                <a:solidFill>
                  <a:srgbClr val="059669"/>
                </a:solidFill>
                <a:latin typeface="Calibri"/>
              </a:rPr>
              <a:t>Governada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TextBox 14"/>
          <p:cNvSpPr/>
          <p:nvPr/>
        </p:nvSpPr>
        <p:spPr>
          <a:xfrm>
            <a:off x="3550680" y="4343400"/>
            <a:ext cx="2315520" cy="57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36720" bIns="3672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pt-BR" sz="1100" spc="-1" strike="noStrike">
                <a:solidFill>
                  <a:srgbClr val="374151"/>
                </a:solidFill>
                <a:latin typeface="Calibri"/>
              </a:rPr>
              <a:t>OCG como fonte única de verdade. Tudo versionado e auditável.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Rectangle 15"/>
          <p:cNvSpPr/>
          <p:nvPr/>
        </p:nvSpPr>
        <p:spPr>
          <a:xfrm>
            <a:off x="6187320" y="3383280"/>
            <a:ext cx="2589840" cy="2193840"/>
          </a:xfrm>
          <a:prstGeom prst="rect">
            <a:avLst/>
          </a:prstGeom>
          <a:solidFill>
            <a:srgbClr val="ffffff"/>
          </a:solidFill>
          <a:ln>
            <a:solidFill>
              <a:srgbClr val="9ca3a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3" name="Rectangle 16"/>
          <p:cNvSpPr/>
          <p:nvPr/>
        </p:nvSpPr>
        <p:spPr>
          <a:xfrm>
            <a:off x="6187320" y="3383280"/>
            <a:ext cx="2589840" cy="273600"/>
          </a:xfrm>
          <a:prstGeom prst="rect">
            <a:avLst/>
          </a:prstGeom>
          <a:solidFill>
            <a:srgbClr val="d9770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4" name="TextBox 17"/>
          <p:cNvSpPr/>
          <p:nvPr/>
        </p:nvSpPr>
        <p:spPr>
          <a:xfrm>
            <a:off x="6324480" y="3794760"/>
            <a:ext cx="2315520" cy="3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36720" bIns="3672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pt-BR" sz="1600" spc="-1" strike="noStrike">
                <a:solidFill>
                  <a:srgbClr val="d97706"/>
                </a:solidFill>
                <a:latin typeface="Calibri"/>
              </a:rPr>
              <a:t>Compartimentalizada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TextBox 18"/>
          <p:cNvSpPr/>
          <p:nvPr/>
        </p:nvSpPr>
        <p:spPr>
          <a:xfrm>
            <a:off x="6324480" y="4343400"/>
            <a:ext cx="2315520" cy="40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36720" bIns="3672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pt-BR" sz="1100" spc="-1" strike="noStrike">
                <a:solidFill>
                  <a:srgbClr val="374151"/>
                </a:solidFill>
                <a:latin typeface="Calibri"/>
              </a:rPr>
              <a:t>Isolamento dura por projeto em DB, IA, storage e auditoria.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Rectangle 19"/>
          <p:cNvSpPr/>
          <p:nvPr/>
        </p:nvSpPr>
        <p:spPr>
          <a:xfrm>
            <a:off x="8960760" y="3383280"/>
            <a:ext cx="2589840" cy="2193840"/>
          </a:xfrm>
          <a:prstGeom prst="rect">
            <a:avLst/>
          </a:prstGeom>
          <a:solidFill>
            <a:srgbClr val="ffffff"/>
          </a:solidFill>
          <a:ln>
            <a:solidFill>
              <a:srgbClr val="9ca3a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7" name="Rectangle 20"/>
          <p:cNvSpPr/>
          <p:nvPr/>
        </p:nvSpPr>
        <p:spPr>
          <a:xfrm>
            <a:off x="8960760" y="3383280"/>
            <a:ext cx="2589840" cy="273600"/>
          </a:xfrm>
          <a:prstGeom prst="rect">
            <a:avLst/>
          </a:prstGeom>
          <a:solidFill>
            <a:srgbClr val="1e2d5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8" name="TextBox 21"/>
          <p:cNvSpPr/>
          <p:nvPr/>
        </p:nvSpPr>
        <p:spPr>
          <a:xfrm>
            <a:off x="9097920" y="3794760"/>
            <a:ext cx="2315520" cy="3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36720" bIns="3672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pt-BR" sz="1600" spc="-1" strike="noStrike">
                <a:solidFill>
                  <a:srgbClr val="1e2d52"/>
                </a:solidFill>
                <a:latin typeface="Calibri"/>
              </a:rPr>
              <a:t>Aberta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TextBox 22"/>
          <p:cNvSpPr/>
          <p:nvPr/>
        </p:nvSpPr>
        <p:spPr>
          <a:xfrm>
            <a:off x="9097920" y="4343400"/>
            <a:ext cx="2315520" cy="57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36720" bIns="3672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pt-BR" sz="1100" spc="-1" strike="noStrike">
                <a:solidFill>
                  <a:srgbClr val="374151"/>
                </a:solidFill>
                <a:latin typeface="Calibri"/>
              </a:rPr>
              <a:t>IA configurável, papéis canônicos, integração via padrões abertos.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Rectangle 23"/>
          <p:cNvSpPr/>
          <p:nvPr/>
        </p:nvSpPr>
        <p:spPr>
          <a:xfrm>
            <a:off x="0" y="6583680"/>
            <a:ext cx="12191040" cy="17640"/>
          </a:xfrm>
          <a:prstGeom prst="rect">
            <a:avLst/>
          </a:prstGeom>
          <a:solidFill>
            <a:srgbClr val="9ca3a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6640" bIns="-26640" anchor="ctr">
            <a:noAutofit/>
          </a:bodyPr>
          <a:p>
            <a:pPr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1" name="TextBox 24"/>
          <p:cNvSpPr/>
          <p:nvPr/>
        </p:nvSpPr>
        <p:spPr>
          <a:xfrm>
            <a:off x="640080" y="6615720"/>
            <a:ext cx="7314480" cy="21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36720" bIns="36720" anchor="ctr">
            <a:spAutoFit/>
          </a:bodyPr>
          <a:p>
            <a:pPr defTabSz="457200">
              <a:lnSpc>
                <a:spcPct val="100000"/>
              </a:lnSpc>
            </a:pPr>
            <a:r>
              <a:rPr b="0" lang="pt-BR" sz="900" spc="-1" strike="noStrike">
                <a:solidFill>
                  <a:srgbClr val="64748b"/>
                </a:solidFill>
                <a:latin typeface="Calibri"/>
              </a:rPr>
              <a:t>GCA — Gestão de Codificação Assistida · Apresentação Comercial</a:t>
            </a:r>
            <a:endParaRPr b="0" lang="pt-B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TextBox 25"/>
          <p:cNvSpPr/>
          <p:nvPr/>
        </p:nvSpPr>
        <p:spPr>
          <a:xfrm>
            <a:off x="10820160" y="6615720"/>
            <a:ext cx="913680" cy="21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36720" bIns="36720" anchor="ctr">
            <a:spAutoFit/>
          </a:bodyPr>
          <a:p>
            <a:pPr algn="r" defTabSz="457200">
              <a:lnSpc>
                <a:spcPct val="100000"/>
              </a:lnSpc>
            </a:pPr>
            <a:r>
              <a:rPr b="0" lang="pt-BR" sz="900" spc="-1" strike="noStrike">
                <a:solidFill>
                  <a:srgbClr val="64748b"/>
                </a:solidFill>
                <a:latin typeface="Calibri"/>
              </a:rPr>
              <a:t>3 / 13</a:t>
            </a:r>
            <a:endParaRPr b="0" lang="pt-BR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Rectangle 1"/>
          <p:cNvSpPr/>
          <p:nvPr/>
        </p:nvSpPr>
        <p:spPr>
          <a:xfrm>
            <a:off x="0" y="0"/>
            <a:ext cx="12191040" cy="109080"/>
          </a:xfrm>
          <a:prstGeom prst="rect">
            <a:avLst/>
          </a:prstGeom>
          <a:solidFill>
            <a:srgbClr val="1e2d5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4" name="TextBox 2"/>
          <p:cNvSpPr/>
          <p:nvPr/>
        </p:nvSpPr>
        <p:spPr>
          <a:xfrm>
            <a:off x="640080" y="316800"/>
            <a:ext cx="5485680" cy="22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36720" bIns="3672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pt-BR" sz="1000" spc="-1" strike="noStrike">
                <a:solidFill>
                  <a:srgbClr val="6d28d9"/>
                </a:solidFill>
                <a:latin typeface="Calibri"/>
              </a:rPr>
              <a:t>02 · DIAGNÓSTICO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TextBox 3"/>
          <p:cNvSpPr/>
          <p:nvPr/>
        </p:nvSpPr>
        <p:spPr>
          <a:xfrm>
            <a:off x="640080" y="984240"/>
            <a:ext cx="10057680" cy="49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36720" bIns="3672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pt-BR" sz="2800" spc="-1" strike="noStrike">
                <a:solidFill>
                  <a:srgbClr val="1e2d52"/>
                </a:solidFill>
                <a:latin typeface="Calibri"/>
              </a:rPr>
              <a:t>Seis dores estruturais que o GCA resolve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6" name="Picture 4" descr="logogca.png"/>
          <p:cNvPicPr/>
          <p:nvPr/>
        </p:nvPicPr>
        <p:blipFill>
          <a:blip r:embed="rId1"/>
          <a:stretch/>
        </p:blipFill>
        <p:spPr>
          <a:xfrm>
            <a:off x="11076120" y="205560"/>
            <a:ext cx="748440" cy="502200"/>
          </a:xfrm>
          <a:prstGeom prst="rect">
            <a:avLst/>
          </a:prstGeom>
          <a:ln w="0">
            <a:noFill/>
          </a:ln>
        </p:spPr>
      </p:pic>
      <p:sp>
        <p:nvSpPr>
          <p:cNvPr id="117" name="Rectangle 5"/>
          <p:cNvSpPr/>
          <p:nvPr/>
        </p:nvSpPr>
        <p:spPr>
          <a:xfrm>
            <a:off x="640080" y="1691640"/>
            <a:ext cx="3514680" cy="2148120"/>
          </a:xfrm>
          <a:prstGeom prst="rect">
            <a:avLst/>
          </a:prstGeom>
          <a:solidFill>
            <a:srgbClr val="f1f5f9"/>
          </a:solidFill>
          <a:ln w="6350">
            <a:solidFill>
              <a:srgbClr val="9ca3a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8" name="Rectangle 6"/>
          <p:cNvSpPr/>
          <p:nvPr/>
        </p:nvSpPr>
        <p:spPr>
          <a:xfrm>
            <a:off x="640080" y="1691640"/>
            <a:ext cx="90720" cy="2148120"/>
          </a:xfrm>
          <a:prstGeom prst="rect">
            <a:avLst/>
          </a:prstGeom>
          <a:solidFill>
            <a:srgbClr val="dc262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9" name="TextBox 7"/>
          <p:cNvSpPr/>
          <p:nvPr/>
        </p:nvSpPr>
        <p:spPr>
          <a:xfrm>
            <a:off x="868680" y="1874520"/>
            <a:ext cx="3148920" cy="30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36720" bIns="3672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pt-BR" sz="1500" spc="-1" strike="noStrike">
                <a:solidFill>
                  <a:srgbClr val="1e2d52"/>
                </a:solidFill>
                <a:latin typeface="Calibri"/>
              </a:rPr>
              <a:t>Requisitos voláteis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TextBox 8"/>
          <p:cNvSpPr/>
          <p:nvPr/>
        </p:nvSpPr>
        <p:spPr>
          <a:xfrm>
            <a:off x="868680" y="2468880"/>
            <a:ext cx="3148920" cy="40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36720" bIns="3672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pt-BR" sz="1100" spc="-1" strike="noStrike">
                <a:solidFill>
                  <a:srgbClr val="374151"/>
                </a:solidFill>
                <a:latin typeface="Calibri"/>
              </a:rPr>
              <a:t>Mudanças sem rastreio quebram contratos a cada sprint.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Rectangle 9"/>
          <p:cNvSpPr/>
          <p:nvPr/>
        </p:nvSpPr>
        <p:spPr>
          <a:xfrm>
            <a:off x="4338360" y="1691640"/>
            <a:ext cx="3514680" cy="2148120"/>
          </a:xfrm>
          <a:prstGeom prst="rect">
            <a:avLst/>
          </a:prstGeom>
          <a:solidFill>
            <a:srgbClr val="f1f5f9"/>
          </a:solidFill>
          <a:ln w="6350">
            <a:solidFill>
              <a:srgbClr val="9ca3a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2" name="Rectangle 10"/>
          <p:cNvSpPr/>
          <p:nvPr/>
        </p:nvSpPr>
        <p:spPr>
          <a:xfrm>
            <a:off x="4338360" y="1691640"/>
            <a:ext cx="90720" cy="2148120"/>
          </a:xfrm>
          <a:prstGeom prst="rect">
            <a:avLst/>
          </a:prstGeom>
          <a:solidFill>
            <a:srgbClr val="dc262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3" name="TextBox 11"/>
          <p:cNvSpPr/>
          <p:nvPr/>
        </p:nvSpPr>
        <p:spPr>
          <a:xfrm>
            <a:off x="4566960" y="1874520"/>
            <a:ext cx="3148920" cy="30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36720" bIns="3672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pt-BR" sz="1500" spc="-1" strike="noStrike">
                <a:solidFill>
                  <a:srgbClr val="1e2d52"/>
                </a:solidFill>
                <a:latin typeface="Calibri"/>
              </a:rPr>
              <a:t>Decisões arquiteturais perdidas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TextBox 12"/>
          <p:cNvSpPr/>
          <p:nvPr/>
        </p:nvSpPr>
        <p:spPr>
          <a:xfrm>
            <a:off x="4566960" y="2468880"/>
            <a:ext cx="3148920" cy="40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36720" bIns="3672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pt-BR" sz="1100" spc="-1" strike="noStrike">
                <a:solidFill>
                  <a:srgbClr val="374151"/>
                </a:solidFill>
                <a:latin typeface="Calibri"/>
              </a:rPr>
              <a:t>Decisões críticas viram conhecimento tácito de quem ficou.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Rectangle 13"/>
          <p:cNvSpPr/>
          <p:nvPr/>
        </p:nvSpPr>
        <p:spPr>
          <a:xfrm>
            <a:off x="8036280" y="1691640"/>
            <a:ext cx="3514680" cy="2148120"/>
          </a:xfrm>
          <a:prstGeom prst="rect">
            <a:avLst/>
          </a:prstGeom>
          <a:solidFill>
            <a:srgbClr val="f1f5f9"/>
          </a:solidFill>
          <a:ln w="6350">
            <a:solidFill>
              <a:srgbClr val="9ca3a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6" name="Rectangle 14"/>
          <p:cNvSpPr/>
          <p:nvPr/>
        </p:nvSpPr>
        <p:spPr>
          <a:xfrm>
            <a:off x="8036280" y="1691640"/>
            <a:ext cx="90720" cy="2148120"/>
          </a:xfrm>
          <a:prstGeom prst="rect">
            <a:avLst/>
          </a:prstGeom>
          <a:solidFill>
            <a:srgbClr val="dc262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7" name="TextBox 15"/>
          <p:cNvSpPr/>
          <p:nvPr/>
        </p:nvSpPr>
        <p:spPr>
          <a:xfrm>
            <a:off x="8264880" y="1874520"/>
            <a:ext cx="3148920" cy="30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36720" bIns="3672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pt-BR" sz="1500" spc="-1" strike="noStrike">
                <a:solidFill>
                  <a:srgbClr val="1e2d52"/>
                </a:solidFill>
                <a:latin typeface="Calibri"/>
              </a:rPr>
              <a:t>Documentação obsoleta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TextBox 16"/>
          <p:cNvSpPr/>
          <p:nvPr/>
        </p:nvSpPr>
        <p:spPr>
          <a:xfrm>
            <a:off x="8264880" y="2468880"/>
            <a:ext cx="3148920" cy="40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36720" bIns="3672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pt-BR" sz="1100" spc="-1" strike="noStrike">
                <a:solidFill>
                  <a:srgbClr val="374151"/>
                </a:solidFill>
                <a:latin typeface="Calibri"/>
              </a:rPr>
              <a:t>Wikis e PDFs envelhecem; ninguém atualiza após o release.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Rectangle 17"/>
          <p:cNvSpPr/>
          <p:nvPr/>
        </p:nvSpPr>
        <p:spPr>
          <a:xfrm>
            <a:off x="640080" y="4023360"/>
            <a:ext cx="3514680" cy="2148120"/>
          </a:xfrm>
          <a:prstGeom prst="rect">
            <a:avLst/>
          </a:prstGeom>
          <a:solidFill>
            <a:srgbClr val="f1f5f9"/>
          </a:solidFill>
          <a:ln w="6350">
            <a:solidFill>
              <a:srgbClr val="9ca3a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0" name="Rectangle 18"/>
          <p:cNvSpPr/>
          <p:nvPr/>
        </p:nvSpPr>
        <p:spPr>
          <a:xfrm>
            <a:off x="640080" y="4023360"/>
            <a:ext cx="90720" cy="2148120"/>
          </a:xfrm>
          <a:prstGeom prst="rect">
            <a:avLst/>
          </a:prstGeom>
          <a:solidFill>
            <a:srgbClr val="dc262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1" name="TextBox 19"/>
          <p:cNvSpPr/>
          <p:nvPr/>
        </p:nvSpPr>
        <p:spPr>
          <a:xfrm>
            <a:off x="868680" y="4206240"/>
            <a:ext cx="3148920" cy="30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36720" bIns="3672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pt-BR" sz="1500" spc="-1" strike="noStrike">
                <a:solidFill>
                  <a:srgbClr val="1e2d52"/>
                </a:solidFill>
                <a:latin typeface="Calibri"/>
              </a:rPr>
              <a:t>Compliance reativo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TextBox 20"/>
          <p:cNvSpPr/>
          <p:nvPr/>
        </p:nvSpPr>
        <p:spPr>
          <a:xfrm>
            <a:off x="868680" y="4800600"/>
            <a:ext cx="3148920" cy="40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36720" bIns="3672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pt-BR" sz="1100" spc="-1" strike="noStrike">
                <a:solidFill>
                  <a:srgbClr val="374151"/>
                </a:solidFill>
                <a:latin typeface="Calibri"/>
              </a:rPr>
              <a:t>LGPD, SOX, ISO entram só na auditoria — tarde demais.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Rectangle 21"/>
          <p:cNvSpPr/>
          <p:nvPr/>
        </p:nvSpPr>
        <p:spPr>
          <a:xfrm>
            <a:off x="4338360" y="4023360"/>
            <a:ext cx="3514680" cy="2148120"/>
          </a:xfrm>
          <a:prstGeom prst="rect">
            <a:avLst/>
          </a:prstGeom>
          <a:solidFill>
            <a:srgbClr val="f1f5f9"/>
          </a:solidFill>
          <a:ln w="6350">
            <a:solidFill>
              <a:srgbClr val="9ca3a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4" name="Rectangle 22"/>
          <p:cNvSpPr/>
          <p:nvPr/>
        </p:nvSpPr>
        <p:spPr>
          <a:xfrm>
            <a:off x="4338360" y="4023360"/>
            <a:ext cx="90720" cy="2148120"/>
          </a:xfrm>
          <a:prstGeom prst="rect">
            <a:avLst/>
          </a:prstGeom>
          <a:solidFill>
            <a:srgbClr val="dc262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5" name="TextBox 23"/>
          <p:cNvSpPr/>
          <p:nvPr/>
        </p:nvSpPr>
        <p:spPr>
          <a:xfrm>
            <a:off x="4566960" y="4206240"/>
            <a:ext cx="3148920" cy="30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36720" bIns="3672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pt-BR" sz="1500" spc="-1" strike="noStrike">
                <a:solidFill>
                  <a:srgbClr val="1e2d52"/>
                </a:solidFill>
                <a:latin typeface="Calibri"/>
              </a:rPr>
              <a:t>Onboarding lento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TextBox 24"/>
          <p:cNvSpPr/>
          <p:nvPr/>
        </p:nvSpPr>
        <p:spPr>
          <a:xfrm>
            <a:off x="4566960" y="4800600"/>
            <a:ext cx="3148920" cy="40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36720" bIns="3672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pt-BR" sz="1100" spc="-1" strike="noStrike">
                <a:solidFill>
                  <a:srgbClr val="374151"/>
                </a:solidFill>
                <a:latin typeface="Calibri"/>
              </a:rPr>
              <a:t>Devs novos levam semanas para entender o porquê das escolhas.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Rectangle 25"/>
          <p:cNvSpPr/>
          <p:nvPr/>
        </p:nvSpPr>
        <p:spPr>
          <a:xfrm>
            <a:off x="8036280" y="4023360"/>
            <a:ext cx="3514680" cy="2148120"/>
          </a:xfrm>
          <a:prstGeom prst="rect">
            <a:avLst/>
          </a:prstGeom>
          <a:solidFill>
            <a:srgbClr val="f1f5f9"/>
          </a:solidFill>
          <a:ln w="6350">
            <a:solidFill>
              <a:srgbClr val="9ca3a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8" name="Rectangle 26"/>
          <p:cNvSpPr/>
          <p:nvPr/>
        </p:nvSpPr>
        <p:spPr>
          <a:xfrm>
            <a:off x="8036280" y="4023360"/>
            <a:ext cx="90720" cy="2148120"/>
          </a:xfrm>
          <a:prstGeom prst="rect">
            <a:avLst/>
          </a:prstGeom>
          <a:solidFill>
            <a:srgbClr val="dc262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9" name="TextBox 27"/>
          <p:cNvSpPr/>
          <p:nvPr/>
        </p:nvSpPr>
        <p:spPr>
          <a:xfrm>
            <a:off x="8264880" y="4206240"/>
            <a:ext cx="3148920" cy="30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36720" bIns="3672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pt-BR" sz="1500" spc="-1" strike="noStrike">
                <a:solidFill>
                  <a:srgbClr val="1e2d52"/>
                </a:solidFill>
                <a:latin typeface="Calibri"/>
              </a:rPr>
              <a:t>IA sem governança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TextBox 28"/>
          <p:cNvSpPr/>
          <p:nvPr/>
        </p:nvSpPr>
        <p:spPr>
          <a:xfrm>
            <a:off x="8264880" y="4800600"/>
            <a:ext cx="3148920" cy="40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36720" bIns="3672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pt-BR" sz="1100" spc="-1" strike="noStrike">
                <a:solidFill>
                  <a:srgbClr val="374151"/>
                </a:solidFill>
                <a:latin typeface="Calibri"/>
              </a:rPr>
              <a:t>Provedor escolhido por preferência, sem auditoria nem custo claro.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Rectangle 29"/>
          <p:cNvSpPr/>
          <p:nvPr/>
        </p:nvSpPr>
        <p:spPr>
          <a:xfrm>
            <a:off x="0" y="6583680"/>
            <a:ext cx="12191040" cy="17640"/>
          </a:xfrm>
          <a:prstGeom prst="rect">
            <a:avLst/>
          </a:prstGeom>
          <a:solidFill>
            <a:srgbClr val="9ca3a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6640" bIns="-26640" anchor="ctr">
            <a:noAutofit/>
          </a:bodyPr>
          <a:p>
            <a:pPr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2" name="TextBox 30"/>
          <p:cNvSpPr/>
          <p:nvPr/>
        </p:nvSpPr>
        <p:spPr>
          <a:xfrm>
            <a:off x="640080" y="6615720"/>
            <a:ext cx="7314480" cy="21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36720" bIns="36720" anchor="ctr">
            <a:spAutoFit/>
          </a:bodyPr>
          <a:p>
            <a:pPr defTabSz="457200">
              <a:lnSpc>
                <a:spcPct val="100000"/>
              </a:lnSpc>
            </a:pPr>
            <a:r>
              <a:rPr b="0" lang="pt-BR" sz="900" spc="-1" strike="noStrike">
                <a:solidFill>
                  <a:srgbClr val="64748b"/>
                </a:solidFill>
                <a:latin typeface="Calibri"/>
              </a:rPr>
              <a:t>GCA — Gestão de Codificação Assistida · Apresentação Comercial</a:t>
            </a:r>
            <a:endParaRPr b="0" lang="pt-B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TextBox 31"/>
          <p:cNvSpPr/>
          <p:nvPr/>
        </p:nvSpPr>
        <p:spPr>
          <a:xfrm>
            <a:off x="10820160" y="6615720"/>
            <a:ext cx="913680" cy="21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36720" bIns="36720" anchor="ctr">
            <a:spAutoFit/>
          </a:bodyPr>
          <a:p>
            <a:pPr algn="r" defTabSz="457200">
              <a:lnSpc>
                <a:spcPct val="100000"/>
              </a:lnSpc>
            </a:pPr>
            <a:r>
              <a:rPr b="0" lang="pt-BR" sz="900" spc="-1" strike="noStrike">
                <a:solidFill>
                  <a:srgbClr val="64748b"/>
                </a:solidFill>
                <a:latin typeface="Calibri"/>
              </a:rPr>
              <a:t>4 / 13</a:t>
            </a:r>
            <a:endParaRPr b="0" lang="pt-BR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Rectangle 1"/>
          <p:cNvSpPr/>
          <p:nvPr/>
        </p:nvSpPr>
        <p:spPr>
          <a:xfrm>
            <a:off x="0" y="0"/>
            <a:ext cx="12191040" cy="109080"/>
          </a:xfrm>
          <a:prstGeom prst="rect">
            <a:avLst/>
          </a:prstGeom>
          <a:solidFill>
            <a:srgbClr val="1e2d5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5" name="TextBox 2"/>
          <p:cNvSpPr/>
          <p:nvPr/>
        </p:nvSpPr>
        <p:spPr>
          <a:xfrm>
            <a:off x="640080" y="316800"/>
            <a:ext cx="5485680" cy="22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36720" bIns="3672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pt-BR" sz="1000" spc="-1" strike="noStrike">
                <a:solidFill>
                  <a:srgbClr val="6d28d9"/>
                </a:solidFill>
                <a:latin typeface="Calibri"/>
              </a:rPr>
              <a:t>03 · DIFERENCIAIS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TextBox 3"/>
          <p:cNvSpPr/>
          <p:nvPr/>
        </p:nvSpPr>
        <p:spPr>
          <a:xfrm>
            <a:off x="640080" y="984240"/>
            <a:ext cx="10057680" cy="49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36720" bIns="3672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pt-BR" sz="2800" spc="-1" strike="noStrike">
                <a:solidFill>
                  <a:srgbClr val="1e2d52"/>
                </a:solidFill>
                <a:latin typeface="Calibri"/>
              </a:rPr>
              <a:t>Por que o GCA é diferente do mercado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47" name="Picture 4" descr="logogca.png"/>
          <p:cNvPicPr/>
          <p:nvPr/>
        </p:nvPicPr>
        <p:blipFill>
          <a:blip r:embed="rId1"/>
          <a:stretch/>
        </p:blipFill>
        <p:spPr>
          <a:xfrm>
            <a:off x="11076120" y="205560"/>
            <a:ext cx="748440" cy="502200"/>
          </a:xfrm>
          <a:prstGeom prst="rect">
            <a:avLst/>
          </a:prstGeom>
          <a:ln w="0">
            <a:noFill/>
          </a:ln>
        </p:spPr>
      </p:pic>
      <p:sp>
        <p:nvSpPr>
          <p:cNvPr id="148" name="Rectangle 5"/>
          <p:cNvSpPr/>
          <p:nvPr/>
        </p:nvSpPr>
        <p:spPr>
          <a:xfrm>
            <a:off x="640080" y="1691640"/>
            <a:ext cx="5317920" cy="14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d5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9" name="Oval 6"/>
          <p:cNvSpPr/>
          <p:nvPr/>
        </p:nvSpPr>
        <p:spPr>
          <a:xfrm>
            <a:off x="804600" y="2202120"/>
            <a:ext cx="410760" cy="410760"/>
          </a:xfrm>
          <a:prstGeom prst="ellipse">
            <a:avLst/>
          </a:prstGeom>
          <a:solidFill>
            <a:srgbClr val="6d28d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0" name="TextBox 7"/>
          <p:cNvSpPr/>
          <p:nvPr/>
        </p:nvSpPr>
        <p:spPr>
          <a:xfrm>
            <a:off x="1417320" y="1856160"/>
            <a:ext cx="4403520" cy="28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36720" bIns="3672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pt-BR" sz="1400" spc="-1" strike="noStrike">
                <a:solidFill>
                  <a:srgbClr val="1e2d52"/>
                </a:solidFill>
                <a:latin typeface="Calibri"/>
              </a:rPr>
              <a:t>Soberania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TextBox 8"/>
          <p:cNvSpPr/>
          <p:nvPr/>
        </p:nvSpPr>
        <p:spPr>
          <a:xfrm>
            <a:off x="1417320" y="2258640"/>
            <a:ext cx="4403520" cy="40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36720" bIns="3672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pt-BR" sz="1100" spc="-1" strike="noStrike">
                <a:solidFill>
                  <a:srgbClr val="374151"/>
                </a:solidFill>
                <a:latin typeface="Calibri"/>
              </a:rPr>
              <a:t>Uma instância por cliente. Sem SaaS multi-tenant, sem dados em nuvem compartilhada.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Rectangle 9"/>
          <p:cNvSpPr/>
          <p:nvPr/>
        </p:nvSpPr>
        <p:spPr>
          <a:xfrm>
            <a:off x="6233040" y="1691640"/>
            <a:ext cx="5317920" cy="14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d5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3" name="Oval 10"/>
          <p:cNvSpPr/>
          <p:nvPr/>
        </p:nvSpPr>
        <p:spPr>
          <a:xfrm>
            <a:off x="6397560" y="2202120"/>
            <a:ext cx="410760" cy="410760"/>
          </a:xfrm>
          <a:prstGeom prst="ellipse">
            <a:avLst/>
          </a:prstGeom>
          <a:solidFill>
            <a:srgbClr val="6d28d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4" name="TextBox 11"/>
          <p:cNvSpPr/>
          <p:nvPr/>
        </p:nvSpPr>
        <p:spPr>
          <a:xfrm>
            <a:off x="7010280" y="1856160"/>
            <a:ext cx="4403520" cy="28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36720" bIns="3672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pt-BR" sz="1400" spc="-1" strike="noStrike">
                <a:solidFill>
                  <a:srgbClr val="1e2d52"/>
                </a:solidFill>
                <a:latin typeface="Calibri"/>
              </a:rPr>
              <a:t>Compartimentalização dura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TextBox 12"/>
          <p:cNvSpPr/>
          <p:nvPr/>
        </p:nvSpPr>
        <p:spPr>
          <a:xfrm>
            <a:off x="7010280" y="2258640"/>
            <a:ext cx="4403520" cy="40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36720" bIns="3672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pt-BR" sz="1100" spc="-1" strike="noStrike">
                <a:solidFill>
                  <a:srgbClr val="374151"/>
                </a:solidFill>
                <a:latin typeface="Calibri"/>
              </a:rPr>
              <a:t>project_id obrigatório em todo predicado. Sem vazamento entre projetos.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Rectangle 13"/>
          <p:cNvSpPr/>
          <p:nvPr/>
        </p:nvSpPr>
        <p:spPr>
          <a:xfrm>
            <a:off x="640080" y="3306960"/>
            <a:ext cx="5317920" cy="14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d5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7" name="Oval 14"/>
          <p:cNvSpPr/>
          <p:nvPr/>
        </p:nvSpPr>
        <p:spPr>
          <a:xfrm>
            <a:off x="804600" y="3817800"/>
            <a:ext cx="410760" cy="410760"/>
          </a:xfrm>
          <a:prstGeom prst="ellipse">
            <a:avLst/>
          </a:prstGeom>
          <a:solidFill>
            <a:srgbClr val="6d28d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8" name="TextBox 15"/>
          <p:cNvSpPr/>
          <p:nvPr/>
        </p:nvSpPr>
        <p:spPr>
          <a:xfrm>
            <a:off x="1417320" y="3471840"/>
            <a:ext cx="4403520" cy="28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36720" bIns="3672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pt-BR" sz="1400" spc="-1" strike="noStrike">
                <a:solidFill>
                  <a:srgbClr val="1e2d52"/>
                </a:solidFill>
                <a:latin typeface="Calibri"/>
              </a:rPr>
              <a:t>OCG como fonte de verdade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TextBox 16"/>
          <p:cNvSpPr/>
          <p:nvPr/>
        </p:nvSpPr>
        <p:spPr>
          <a:xfrm>
            <a:off x="1417320" y="3873960"/>
            <a:ext cx="4403520" cy="40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36720" bIns="3672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pt-BR" sz="1100" spc="-1" strike="noStrike">
                <a:solidFill>
                  <a:srgbClr val="374151"/>
                </a:solidFill>
                <a:latin typeface="Calibri"/>
              </a:rPr>
              <a:t>Objeto Canônico versionado. Toda decisão, contrato e regra rastreável.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Rectangle 17"/>
          <p:cNvSpPr/>
          <p:nvPr/>
        </p:nvSpPr>
        <p:spPr>
          <a:xfrm>
            <a:off x="6233040" y="3306960"/>
            <a:ext cx="5317920" cy="14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d5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1" name="Oval 18"/>
          <p:cNvSpPr/>
          <p:nvPr/>
        </p:nvSpPr>
        <p:spPr>
          <a:xfrm>
            <a:off x="6397560" y="3817800"/>
            <a:ext cx="410760" cy="410760"/>
          </a:xfrm>
          <a:prstGeom prst="ellipse">
            <a:avLst/>
          </a:prstGeom>
          <a:solidFill>
            <a:srgbClr val="6d28d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2" name="TextBox 19"/>
          <p:cNvSpPr/>
          <p:nvPr/>
        </p:nvSpPr>
        <p:spPr>
          <a:xfrm>
            <a:off x="7010280" y="3471840"/>
            <a:ext cx="4403520" cy="28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36720" bIns="3672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pt-BR" sz="1400" spc="-1" strike="noStrike">
                <a:solidFill>
                  <a:srgbClr val="1e2d52"/>
                </a:solidFill>
                <a:latin typeface="Calibri"/>
              </a:rPr>
              <a:t>IA por criticidade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TextBox 20"/>
          <p:cNvSpPr/>
          <p:nvPr/>
        </p:nvSpPr>
        <p:spPr>
          <a:xfrm>
            <a:off x="7010280" y="3873960"/>
            <a:ext cx="4403520" cy="40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36720" bIns="3672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pt-BR" sz="1100" spc="-1" strike="noStrike">
                <a:solidFill>
                  <a:srgbClr val="374151"/>
                </a:solidFill>
                <a:latin typeface="Calibri"/>
              </a:rPr>
              <a:t>Roteamento híbrido §6: Ollama local para baixa, Premium para alta. Custo auditável.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Rectangle 21"/>
          <p:cNvSpPr/>
          <p:nvPr/>
        </p:nvSpPr>
        <p:spPr>
          <a:xfrm>
            <a:off x="640080" y="4922640"/>
            <a:ext cx="5317920" cy="14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d5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5" name="Oval 22"/>
          <p:cNvSpPr/>
          <p:nvPr/>
        </p:nvSpPr>
        <p:spPr>
          <a:xfrm>
            <a:off x="804600" y="5433120"/>
            <a:ext cx="410760" cy="410760"/>
          </a:xfrm>
          <a:prstGeom prst="ellipse">
            <a:avLst/>
          </a:prstGeom>
          <a:solidFill>
            <a:srgbClr val="6d28d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6" name="TextBox 23"/>
          <p:cNvSpPr/>
          <p:nvPr/>
        </p:nvSpPr>
        <p:spPr>
          <a:xfrm>
            <a:off x="1417320" y="5087160"/>
            <a:ext cx="4403520" cy="28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36720" bIns="3672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pt-BR" sz="1400" spc="-1" strike="noStrike">
                <a:solidFill>
                  <a:srgbClr val="1e2d52"/>
                </a:solidFill>
                <a:latin typeface="Calibri"/>
              </a:rPr>
              <a:t>Provenance em todo artefato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TextBox 24"/>
          <p:cNvSpPr/>
          <p:nvPr/>
        </p:nvSpPr>
        <p:spPr>
          <a:xfrm>
            <a:off x="1417320" y="5489280"/>
            <a:ext cx="4403520" cy="40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36720" bIns="3672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pt-BR" sz="1100" spc="-1" strike="noStrike">
                <a:solidFill>
                  <a:srgbClr val="374151"/>
                </a:solidFill>
                <a:latin typeface="Calibri"/>
              </a:rPr>
              <a:t>TestSpec, LiveDoc e Module Details registram OCG, LLM, ingestões e prompt hash.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Rectangle 25"/>
          <p:cNvSpPr/>
          <p:nvPr/>
        </p:nvSpPr>
        <p:spPr>
          <a:xfrm>
            <a:off x="6233040" y="4922640"/>
            <a:ext cx="5317920" cy="14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d5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9" name="Oval 26"/>
          <p:cNvSpPr/>
          <p:nvPr/>
        </p:nvSpPr>
        <p:spPr>
          <a:xfrm>
            <a:off x="6397560" y="5433120"/>
            <a:ext cx="410760" cy="410760"/>
          </a:xfrm>
          <a:prstGeom prst="ellipse">
            <a:avLst/>
          </a:prstGeom>
          <a:solidFill>
            <a:srgbClr val="6d28d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0" name="TextBox 27"/>
          <p:cNvSpPr/>
          <p:nvPr/>
        </p:nvSpPr>
        <p:spPr>
          <a:xfrm>
            <a:off x="7010280" y="5087160"/>
            <a:ext cx="4403520" cy="28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36720" bIns="3672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pt-BR" sz="1400" spc="-1" strike="noStrike">
                <a:solidFill>
                  <a:srgbClr val="1e2d52"/>
                </a:solidFill>
                <a:latin typeface="Calibri"/>
              </a:rPr>
              <a:t>Governança auditável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TextBox 28"/>
          <p:cNvSpPr/>
          <p:nvPr/>
        </p:nvSpPr>
        <p:spPr>
          <a:xfrm>
            <a:off x="7010280" y="5489280"/>
            <a:ext cx="4403520" cy="24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36720" bIns="3672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pt-BR" sz="1100" spc="-1" strike="noStrike">
                <a:solidFill>
                  <a:srgbClr val="374151"/>
                </a:solidFill>
                <a:latin typeface="Calibri"/>
              </a:rPr>
              <a:t>Hash chain em audit_log_global. Integridade verificável offline.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Rectangle 29"/>
          <p:cNvSpPr/>
          <p:nvPr/>
        </p:nvSpPr>
        <p:spPr>
          <a:xfrm>
            <a:off x="0" y="6583680"/>
            <a:ext cx="12191040" cy="17640"/>
          </a:xfrm>
          <a:prstGeom prst="rect">
            <a:avLst/>
          </a:prstGeom>
          <a:solidFill>
            <a:srgbClr val="9ca3a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6640" bIns="-26640" anchor="ctr">
            <a:noAutofit/>
          </a:bodyPr>
          <a:p>
            <a:pPr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3" name="TextBox 30"/>
          <p:cNvSpPr/>
          <p:nvPr/>
        </p:nvSpPr>
        <p:spPr>
          <a:xfrm>
            <a:off x="640080" y="6615720"/>
            <a:ext cx="7314480" cy="21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36720" bIns="36720" anchor="ctr">
            <a:spAutoFit/>
          </a:bodyPr>
          <a:p>
            <a:pPr defTabSz="457200">
              <a:lnSpc>
                <a:spcPct val="100000"/>
              </a:lnSpc>
            </a:pPr>
            <a:r>
              <a:rPr b="0" lang="pt-BR" sz="900" spc="-1" strike="noStrike">
                <a:solidFill>
                  <a:srgbClr val="64748b"/>
                </a:solidFill>
                <a:latin typeface="Calibri"/>
              </a:rPr>
              <a:t>GCA — Gestão de Codificação Assistida · Apresentação Comercial</a:t>
            </a:r>
            <a:endParaRPr b="0" lang="pt-B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TextBox 31"/>
          <p:cNvSpPr/>
          <p:nvPr/>
        </p:nvSpPr>
        <p:spPr>
          <a:xfrm>
            <a:off x="10820160" y="6615720"/>
            <a:ext cx="913680" cy="21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36720" bIns="36720" anchor="ctr">
            <a:spAutoFit/>
          </a:bodyPr>
          <a:p>
            <a:pPr algn="r" defTabSz="457200">
              <a:lnSpc>
                <a:spcPct val="100000"/>
              </a:lnSpc>
            </a:pPr>
            <a:r>
              <a:rPr b="0" lang="pt-BR" sz="900" spc="-1" strike="noStrike">
                <a:solidFill>
                  <a:srgbClr val="64748b"/>
                </a:solidFill>
                <a:latin typeface="Calibri"/>
              </a:rPr>
              <a:t>5 / 13</a:t>
            </a:r>
            <a:endParaRPr b="0" lang="pt-BR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Rectangle 1"/>
          <p:cNvSpPr/>
          <p:nvPr/>
        </p:nvSpPr>
        <p:spPr>
          <a:xfrm>
            <a:off x="0" y="0"/>
            <a:ext cx="12191040" cy="109080"/>
          </a:xfrm>
          <a:prstGeom prst="rect">
            <a:avLst/>
          </a:prstGeom>
          <a:solidFill>
            <a:srgbClr val="1e2d5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6" name="TextBox 2"/>
          <p:cNvSpPr/>
          <p:nvPr/>
        </p:nvSpPr>
        <p:spPr>
          <a:xfrm>
            <a:off x="640080" y="316800"/>
            <a:ext cx="5485680" cy="22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36720" bIns="3672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pt-BR" sz="1000" spc="-1" strike="noStrike">
                <a:solidFill>
                  <a:srgbClr val="6d28d9"/>
                </a:solidFill>
                <a:latin typeface="Calibri"/>
              </a:rPr>
              <a:t>04 · FUNCIONALIDADES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" name="TextBox 3"/>
          <p:cNvSpPr/>
          <p:nvPr/>
        </p:nvSpPr>
        <p:spPr>
          <a:xfrm>
            <a:off x="640080" y="984240"/>
            <a:ext cx="10057680" cy="49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36720" bIns="3672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pt-BR" sz="2800" spc="-1" strike="noStrike">
                <a:solidFill>
                  <a:srgbClr val="1e2d52"/>
                </a:solidFill>
                <a:latin typeface="Calibri"/>
              </a:rPr>
              <a:t>Área Administrativa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78" name="Picture 4" descr="logogca.png"/>
          <p:cNvPicPr/>
          <p:nvPr/>
        </p:nvPicPr>
        <p:blipFill>
          <a:blip r:embed="rId1"/>
          <a:stretch/>
        </p:blipFill>
        <p:spPr>
          <a:xfrm>
            <a:off x="11076120" y="205560"/>
            <a:ext cx="748440" cy="502200"/>
          </a:xfrm>
          <a:prstGeom prst="rect">
            <a:avLst/>
          </a:prstGeom>
          <a:ln w="0">
            <a:noFill/>
          </a:ln>
        </p:spPr>
      </p:pic>
      <p:sp>
        <p:nvSpPr>
          <p:cNvPr id="179" name="TextBox 5"/>
          <p:cNvSpPr/>
          <p:nvPr/>
        </p:nvSpPr>
        <p:spPr>
          <a:xfrm>
            <a:off x="640080" y="1691640"/>
            <a:ext cx="10910880" cy="25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36720" bIns="36720" anchor="t">
            <a:spAutoFit/>
          </a:bodyPr>
          <a:p>
            <a:pPr defTabSz="457200">
              <a:lnSpc>
                <a:spcPct val="100000"/>
              </a:lnSpc>
            </a:pPr>
            <a:r>
              <a:rPr b="0" i="1" lang="pt-BR" sz="1200" spc="-1" strike="noStrike">
                <a:solidFill>
                  <a:srgbClr val="64748b"/>
                </a:solidFill>
                <a:latin typeface="Calibri"/>
              </a:rPr>
              <a:t>Acessada por Admin (ou Sustentação para subset). Sidebar com nove entradas administra a instância sem necessidade de operar projetos.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Rectangle 6"/>
          <p:cNvSpPr/>
          <p:nvPr/>
        </p:nvSpPr>
        <p:spPr>
          <a:xfrm>
            <a:off x="640080" y="2377440"/>
            <a:ext cx="3514680" cy="1264320"/>
          </a:xfrm>
          <a:prstGeom prst="rect">
            <a:avLst/>
          </a:prstGeom>
          <a:solidFill>
            <a:srgbClr val="f1f5f9"/>
          </a:solidFill>
          <a:ln w="6350">
            <a:solidFill>
              <a:srgbClr val="9ca3a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1" name="TextBox 7"/>
          <p:cNvSpPr/>
          <p:nvPr/>
        </p:nvSpPr>
        <p:spPr>
          <a:xfrm>
            <a:off x="777240" y="2805840"/>
            <a:ext cx="502200" cy="40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36720" bIns="3672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pt-BR" sz="2200" spc="-1" strike="noStrike">
                <a:solidFill>
                  <a:srgbClr val="6d28d9"/>
                </a:solidFill>
                <a:latin typeface="Calibri"/>
              </a:rPr>
              <a:t>01</a:t>
            </a:r>
            <a:endParaRPr b="0" lang="pt-BR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" name="TextBox 8"/>
          <p:cNvSpPr/>
          <p:nvPr/>
        </p:nvSpPr>
        <p:spPr>
          <a:xfrm>
            <a:off x="1371600" y="2487240"/>
            <a:ext cx="2646000" cy="25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36720" bIns="3672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pt-BR" sz="1200" spc="-1" strike="noStrike">
                <a:solidFill>
                  <a:srgbClr val="1e2d52"/>
                </a:solidFill>
                <a:latin typeface="Calibri"/>
              </a:rPr>
              <a:t>Dashboard Global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" name="TextBox 9"/>
          <p:cNvSpPr/>
          <p:nvPr/>
        </p:nvSpPr>
        <p:spPr>
          <a:xfrm>
            <a:off x="1371600" y="2880360"/>
            <a:ext cx="2646000" cy="22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36720" bIns="3672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pt-BR" sz="1000" spc="-1" strike="noStrike">
                <a:solidFill>
                  <a:srgbClr val="374151"/>
                </a:solidFill>
                <a:latin typeface="Calibri"/>
              </a:rPr>
              <a:t>KPIs cross-projeto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Rectangle 10"/>
          <p:cNvSpPr/>
          <p:nvPr/>
        </p:nvSpPr>
        <p:spPr>
          <a:xfrm>
            <a:off x="4338360" y="2377440"/>
            <a:ext cx="3514680" cy="1264320"/>
          </a:xfrm>
          <a:prstGeom prst="rect">
            <a:avLst/>
          </a:prstGeom>
          <a:solidFill>
            <a:srgbClr val="f1f5f9"/>
          </a:solidFill>
          <a:ln w="6350">
            <a:solidFill>
              <a:srgbClr val="9ca3a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5" name="TextBox 11"/>
          <p:cNvSpPr/>
          <p:nvPr/>
        </p:nvSpPr>
        <p:spPr>
          <a:xfrm>
            <a:off x="4475520" y="2805840"/>
            <a:ext cx="502200" cy="40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36720" bIns="3672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pt-BR" sz="2200" spc="-1" strike="noStrike">
                <a:solidFill>
                  <a:srgbClr val="6d28d9"/>
                </a:solidFill>
                <a:latin typeface="Calibri"/>
              </a:rPr>
              <a:t>02</a:t>
            </a:r>
            <a:endParaRPr b="0" lang="pt-BR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" name="TextBox 12"/>
          <p:cNvSpPr/>
          <p:nvPr/>
        </p:nvSpPr>
        <p:spPr>
          <a:xfrm>
            <a:off x="5069880" y="2487240"/>
            <a:ext cx="2646000" cy="25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36720" bIns="3672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pt-BR" sz="1200" spc="-1" strike="noStrike">
                <a:solidFill>
                  <a:srgbClr val="1e2d52"/>
                </a:solidFill>
                <a:latin typeface="Calibri"/>
              </a:rPr>
              <a:t>Gestão de Projetos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" name="TextBox 13"/>
          <p:cNvSpPr/>
          <p:nvPr/>
        </p:nvSpPr>
        <p:spPr>
          <a:xfrm>
            <a:off x="5069880" y="2880360"/>
            <a:ext cx="2646000" cy="22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36720" bIns="3672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pt-BR" sz="1000" spc="-1" strike="noStrike">
                <a:solidFill>
                  <a:srgbClr val="374151"/>
                </a:solidFill>
                <a:latin typeface="Calibri"/>
              </a:rPr>
              <a:t>lifecycle (ativo/pausado/inativo/órfão)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" name="Rectangle 14"/>
          <p:cNvSpPr/>
          <p:nvPr/>
        </p:nvSpPr>
        <p:spPr>
          <a:xfrm>
            <a:off x="8036280" y="2377440"/>
            <a:ext cx="3514680" cy="1264320"/>
          </a:xfrm>
          <a:prstGeom prst="rect">
            <a:avLst/>
          </a:prstGeom>
          <a:solidFill>
            <a:srgbClr val="f1f5f9"/>
          </a:solidFill>
          <a:ln w="6350">
            <a:solidFill>
              <a:srgbClr val="9ca3a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9" name="TextBox 15"/>
          <p:cNvSpPr/>
          <p:nvPr/>
        </p:nvSpPr>
        <p:spPr>
          <a:xfrm>
            <a:off x="8173440" y="2805840"/>
            <a:ext cx="502200" cy="40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36720" bIns="3672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pt-BR" sz="2200" spc="-1" strike="noStrike">
                <a:solidFill>
                  <a:srgbClr val="6d28d9"/>
                </a:solidFill>
                <a:latin typeface="Calibri"/>
              </a:rPr>
              <a:t>03</a:t>
            </a:r>
            <a:endParaRPr b="0" lang="pt-BR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" name="TextBox 16"/>
          <p:cNvSpPr/>
          <p:nvPr/>
        </p:nvSpPr>
        <p:spPr>
          <a:xfrm>
            <a:off x="8767800" y="2487240"/>
            <a:ext cx="2646000" cy="25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36720" bIns="3672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pt-BR" sz="1200" spc="-1" strike="noStrike">
                <a:solidFill>
                  <a:srgbClr val="1e2d52"/>
                </a:solidFill>
                <a:latin typeface="Calibri"/>
              </a:rPr>
              <a:t>Gestão de Usuários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" name="TextBox 17"/>
          <p:cNvSpPr/>
          <p:nvPr/>
        </p:nvSpPr>
        <p:spPr>
          <a:xfrm>
            <a:off x="8767800" y="2880360"/>
            <a:ext cx="2646000" cy="22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36720" bIns="3672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pt-BR" sz="1000" spc="-1" strike="noStrike">
                <a:solidFill>
                  <a:srgbClr val="374151"/>
                </a:solidFill>
                <a:latin typeface="Calibri"/>
              </a:rPr>
              <a:t>promover/rebaixar/excluir + convite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" name="Rectangle 18"/>
          <p:cNvSpPr/>
          <p:nvPr/>
        </p:nvSpPr>
        <p:spPr>
          <a:xfrm>
            <a:off x="640080" y="3779640"/>
            <a:ext cx="3514680" cy="1264320"/>
          </a:xfrm>
          <a:prstGeom prst="rect">
            <a:avLst/>
          </a:prstGeom>
          <a:solidFill>
            <a:srgbClr val="f1f5f9"/>
          </a:solidFill>
          <a:ln w="6350">
            <a:solidFill>
              <a:srgbClr val="9ca3a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3" name="TextBox 19"/>
          <p:cNvSpPr/>
          <p:nvPr/>
        </p:nvSpPr>
        <p:spPr>
          <a:xfrm>
            <a:off x="777240" y="4208040"/>
            <a:ext cx="502200" cy="40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36720" bIns="3672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pt-BR" sz="2200" spc="-1" strike="noStrike">
                <a:solidFill>
                  <a:srgbClr val="6d28d9"/>
                </a:solidFill>
                <a:latin typeface="Calibri"/>
              </a:rPr>
              <a:t>04</a:t>
            </a:r>
            <a:endParaRPr b="0" lang="pt-BR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" name="TextBox 20"/>
          <p:cNvSpPr/>
          <p:nvPr/>
        </p:nvSpPr>
        <p:spPr>
          <a:xfrm>
            <a:off x="1371600" y="3889080"/>
            <a:ext cx="2646000" cy="25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36720" bIns="3672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pt-BR" sz="1200" spc="-1" strike="noStrike">
                <a:solidFill>
                  <a:srgbClr val="1e2d52"/>
                </a:solidFill>
                <a:latin typeface="Calibri"/>
              </a:rPr>
              <a:t>Auditoria Global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" name="TextBox 21"/>
          <p:cNvSpPr/>
          <p:nvPr/>
        </p:nvSpPr>
        <p:spPr>
          <a:xfrm>
            <a:off x="1371600" y="4282560"/>
            <a:ext cx="2646000" cy="22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36720" bIns="3672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pt-BR" sz="1000" spc="-1" strike="noStrike">
                <a:solidFill>
                  <a:srgbClr val="374151"/>
                </a:solidFill>
                <a:latin typeface="Calibri"/>
              </a:rPr>
              <a:t>hash chain integridade verificável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Rectangle 22"/>
          <p:cNvSpPr/>
          <p:nvPr/>
        </p:nvSpPr>
        <p:spPr>
          <a:xfrm>
            <a:off x="4338360" y="3779640"/>
            <a:ext cx="3514680" cy="1264320"/>
          </a:xfrm>
          <a:prstGeom prst="rect">
            <a:avLst/>
          </a:prstGeom>
          <a:solidFill>
            <a:srgbClr val="f1f5f9"/>
          </a:solidFill>
          <a:ln w="6350">
            <a:solidFill>
              <a:srgbClr val="9ca3a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7" name="TextBox 23"/>
          <p:cNvSpPr/>
          <p:nvPr/>
        </p:nvSpPr>
        <p:spPr>
          <a:xfrm>
            <a:off x="4475520" y="4208040"/>
            <a:ext cx="502200" cy="40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36720" bIns="3672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pt-BR" sz="2200" spc="-1" strike="noStrike">
                <a:solidFill>
                  <a:srgbClr val="6d28d9"/>
                </a:solidFill>
                <a:latin typeface="Calibri"/>
              </a:rPr>
              <a:t>05</a:t>
            </a:r>
            <a:endParaRPr b="0" lang="pt-BR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" name="TextBox 24"/>
          <p:cNvSpPr/>
          <p:nvPr/>
        </p:nvSpPr>
        <p:spPr>
          <a:xfrm>
            <a:off x="5069880" y="3889080"/>
            <a:ext cx="2646000" cy="25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36720" bIns="3672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pt-BR" sz="1200" spc="-1" strike="noStrike">
                <a:solidFill>
                  <a:srgbClr val="1e2d52"/>
                </a:solidFill>
                <a:latin typeface="Calibri"/>
              </a:rPr>
              <a:t>Métricas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TextBox 25"/>
          <p:cNvSpPr/>
          <p:nvPr/>
        </p:nvSpPr>
        <p:spPr>
          <a:xfrm>
            <a:off x="5069880" y="4282560"/>
            <a:ext cx="2646000" cy="22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36720" bIns="3672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pt-BR" sz="1000" spc="-1" strike="noStrike">
                <a:solidFill>
                  <a:srgbClr val="374151"/>
                </a:solidFill>
                <a:latin typeface="Calibri"/>
              </a:rPr>
              <a:t>uso de IA por projeto, custo, tokens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" name="Rectangle 26"/>
          <p:cNvSpPr/>
          <p:nvPr/>
        </p:nvSpPr>
        <p:spPr>
          <a:xfrm>
            <a:off x="8036280" y="3779640"/>
            <a:ext cx="3514680" cy="1264320"/>
          </a:xfrm>
          <a:prstGeom prst="rect">
            <a:avLst/>
          </a:prstGeom>
          <a:solidFill>
            <a:srgbClr val="f1f5f9"/>
          </a:solidFill>
          <a:ln w="6350">
            <a:solidFill>
              <a:srgbClr val="9ca3a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01" name="TextBox 27"/>
          <p:cNvSpPr/>
          <p:nvPr/>
        </p:nvSpPr>
        <p:spPr>
          <a:xfrm>
            <a:off x="8173440" y="4208040"/>
            <a:ext cx="502200" cy="40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36720" bIns="3672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pt-BR" sz="2200" spc="-1" strike="noStrike">
                <a:solidFill>
                  <a:srgbClr val="6d28d9"/>
                </a:solidFill>
                <a:latin typeface="Calibri"/>
              </a:rPr>
              <a:t>06</a:t>
            </a:r>
            <a:endParaRPr b="0" lang="pt-BR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" name="TextBox 28"/>
          <p:cNvSpPr/>
          <p:nvPr/>
        </p:nvSpPr>
        <p:spPr>
          <a:xfrm>
            <a:off x="8767800" y="3889080"/>
            <a:ext cx="2646000" cy="25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36720" bIns="3672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pt-BR" sz="1200" spc="-1" strike="noStrike">
                <a:solidFill>
                  <a:srgbClr val="1e2d52"/>
                </a:solidFill>
                <a:latin typeface="Calibri"/>
              </a:rPr>
              <a:t>Backups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3" name="TextBox 29"/>
          <p:cNvSpPr/>
          <p:nvPr/>
        </p:nvSpPr>
        <p:spPr>
          <a:xfrm>
            <a:off x="8767800" y="4282560"/>
            <a:ext cx="2646000" cy="22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36720" bIns="3672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pt-BR" sz="1000" spc="-1" strike="noStrike">
                <a:solidFill>
                  <a:srgbClr val="374151"/>
                </a:solidFill>
                <a:latin typeface="Calibri"/>
              </a:rPr>
              <a:t>agregado cross-projeto + quick action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4" name="Rectangle 30"/>
          <p:cNvSpPr/>
          <p:nvPr/>
        </p:nvSpPr>
        <p:spPr>
          <a:xfrm>
            <a:off x="640080" y="5181480"/>
            <a:ext cx="3514680" cy="1264320"/>
          </a:xfrm>
          <a:prstGeom prst="rect">
            <a:avLst/>
          </a:prstGeom>
          <a:solidFill>
            <a:srgbClr val="f1f5f9"/>
          </a:solidFill>
          <a:ln w="6350">
            <a:solidFill>
              <a:srgbClr val="9ca3a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05" name="TextBox 31"/>
          <p:cNvSpPr/>
          <p:nvPr/>
        </p:nvSpPr>
        <p:spPr>
          <a:xfrm>
            <a:off x="777240" y="5609880"/>
            <a:ext cx="502200" cy="40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36720" bIns="3672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pt-BR" sz="2200" spc="-1" strike="noStrike">
                <a:solidFill>
                  <a:srgbClr val="6d28d9"/>
                </a:solidFill>
                <a:latin typeface="Calibri"/>
              </a:rPr>
              <a:t>07</a:t>
            </a:r>
            <a:endParaRPr b="0" lang="pt-BR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6" name="TextBox 32"/>
          <p:cNvSpPr/>
          <p:nvPr/>
        </p:nvSpPr>
        <p:spPr>
          <a:xfrm>
            <a:off x="1371600" y="5291280"/>
            <a:ext cx="2646000" cy="25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36720" bIns="3672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pt-BR" sz="1200" spc="-1" strike="noStrike">
                <a:solidFill>
                  <a:srgbClr val="1e2d52"/>
                </a:solidFill>
                <a:latin typeface="Calibri"/>
              </a:rPr>
              <a:t>Incidentes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" name="TextBox 33"/>
          <p:cNvSpPr/>
          <p:nvPr/>
        </p:nvSpPr>
        <p:spPr>
          <a:xfrm>
            <a:off x="1371600" y="5684400"/>
            <a:ext cx="2646000" cy="22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36720" bIns="3672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pt-BR" sz="1000" spc="-1" strike="noStrike">
                <a:solidFill>
                  <a:srgbClr val="374151"/>
                </a:solidFill>
                <a:latin typeface="Calibri"/>
              </a:rPr>
              <a:t>tickets escalados a Admin/Sustentação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" name="Rectangle 34"/>
          <p:cNvSpPr/>
          <p:nvPr/>
        </p:nvSpPr>
        <p:spPr>
          <a:xfrm>
            <a:off x="4338360" y="5181480"/>
            <a:ext cx="3514680" cy="1264320"/>
          </a:xfrm>
          <a:prstGeom prst="rect">
            <a:avLst/>
          </a:prstGeom>
          <a:solidFill>
            <a:srgbClr val="f1f5f9"/>
          </a:solidFill>
          <a:ln w="6350">
            <a:solidFill>
              <a:srgbClr val="9ca3a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09" name="TextBox 35"/>
          <p:cNvSpPr/>
          <p:nvPr/>
        </p:nvSpPr>
        <p:spPr>
          <a:xfrm>
            <a:off x="4475520" y="5609880"/>
            <a:ext cx="502200" cy="40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36720" bIns="3672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pt-BR" sz="2200" spc="-1" strike="noStrike">
                <a:solidFill>
                  <a:srgbClr val="6d28d9"/>
                </a:solidFill>
                <a:latin typeface="Calibri"/>
              </a:rPr>
              <a:t>08</a:t>
            </a:r>
            <a:endParaRPr b="0" lang="pt-BR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0" name="TextBox 36"/>
          <p:cNvSpPr/>
          <p:nvPr/>
        </p:nvSpPr>
        <p:spPr>
          <a:xfrm>
            <a:off x="5069880" y="5291280"/>
            <a:ext cx="2646000" cy="25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36720" bIns="3672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pt-BR" sz="1200" spc="-1" strike="noStrike">
                <a:solidFill>
                  <a:srgbClr val="1e2d52"/>
                </a:solidFill>
                <a:latin typeface="Calibri"/>
              </a:rPr>
              <a:t>Equipe Sustentação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" name="TextBox 37"/>
          <p:cNvSpPr/>
          <p:nvPr/>
        </p:nvSpPr>
        <p:spPr>
          <a:xfrm>
            <a:off x="5069880" y="5684400"/>
            <a:ext cx="2646000" cy="22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36720" bIns="3672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pt-BR" sz="1000" spc="-1" strike="noStrike">
                <a:solidFill>
                  <a:srgbClr val="374151"/>
                </a:solidFill>
                <a:latin typeface="Calibri"/>
              </a:rPr>
              <a:t>flag is_support independente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2" name="Rectangle 38"/>
          <p:cNvSpPr/>
          <p:nvPr/>
        </p:nvSpPr>
        <p:spPr>
          <a:xfrm>
            <a:off x="8036280" y="5181480"/>
            <a:ext cx="3514680" cy="1264320"/>
          </a:xfrm>
          <a:prstGeom prst="rect">
            <a:avLst/>
          </a:prstGeom>
          <a:solidFill>
            <a:srgbClr val="f1f5f9"/>
          </a:solidFill>
          <a:ln w="6350">
            <a:solidFill>
              <a:srgbClr val="9ca3a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3" name="TextBox 39"/>
          <p:cNvSpPr/>
          <p:nvPr/>
        </p:nvSpPr>
        <p:spPr>
          <a:xfrm>
            <a:off x="8173440" y="5609880"/>
            <a:ext cx="502200" cy="40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36720" bIns="3672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pt-BR" sz="2200" spc="-1" strike="noStrike">
                <a:solidFill>
                  <a:srgbClr val="6d28d9"/>
                </a:solidFill>
                <a:latin typeface="Calibri"/>
              </a:rPr>
              <a:t>09</a:t>
            </a:r>
            <a:endParaRPr b="0" lang="pt-BR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4" name="TextBox 40"/>
          <p:cNvSpPr/>
          <p:nvPr/>
        </p:nvSpPr>
        <p:spPr>
          <a:xfrm>
            <a:off x="8767800" y="5291280"/>
            <a:ext cx="2646000" cy="25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36720" bIns="3672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pt-BR" sz="1200" spc="-1" strike="noStrike">
                <a:solidFill>
                  <a:srgbClr val="1e2d52"/>
                </a:solidFill>
                <a:latin typeface="Calibri"/>
              </a:rPr>
              <a:t>Releases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5" name="TextBox 41"/>
          <p:cNvSpPr/>
          <p:nvPr/>
        </p:nvSpPr>
        <p:spPr>
          <a:xfrm>
            <a:off x="8767800" y="5684400"/>
            <a:ext cx="2646000" cy="22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36720" bIns="3672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pt-BR" sz="1000" spc="-1" strike="noStrike">
                <a:solidFill>
                  <a:srgbClr val="374151"/>
                </a:solidFill>
                <a:latin typeface="Calibri"/>
              </a:rPr>
              <a:t>versionamento, snapshot pré-destrutiva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6" name="Rectangle 42"/>
          <p:cNvSpPr/>
          <p:nvPr/>
        </p:nvSpPr>
        <p:spPr>
          <a:xfrm>
            <a:off x="0" y="6583680"/>
            <a:ext cx="12191040" cy="17640"/>
          </a:xfrm>
          <a:prstGeom prst="rect">
            <a:avLst/>
          </a:prstGeom>
          <a:solidFill>
            <a:srgbClr val="9ca3a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6640" bIns="-26640" anchor="ctr">
            <a:noAutofit/>
          </a:bodyPr>
          <a:p>
            <a:pPr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7" name="TextBox 43"/>
          <p:cNvSpPr/>
          <p:nvPr/>
        </p:nvSpPr>
        <p:spPr>
          <a:xfrm>
            <a:off x="640080" y="6615720"/>
            <a:ext cx="7314480" cy="21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36720" bIns="36720" anchor="ctr">
            <a:spAutoFit/>
          </a:bodyPr>
          <a:p>
            <a:pPr defTabSz="457200">
              <a:lnSpc>
                <a:spcPct val="100000"/>
              </a:lnSpc>
            </a:pPr>
            <a:r>
              <a:rPr b="0" lang="pt-BR" sz="900" spc="-1" strike="noStrike">
                <a:solidFill>
                  <a:srgbClr val="64748b"/>
                </a:solidFill>
                <a:latin typeface="Calibri"/>
              </a:rPr>
              <a:t>GCA — Gestão de Codificação Assistida · Apresentação Comercial</a:t>
            </a:r>
            <a:endParaRPr b="0" lang="pt-B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8" name="TextBox 44"/>
          <p:cNvSpPr/>
          <p:nvPr/>
        </p:nvSpPr>
        <p:spPr>
          <a:xfrm>
            <a:off x="10820160" y="6615720"/>
            <a:ext cx="913680" cy="21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36720" bIns="36720" anchor="ctr">
            <a:spAutoFit/>
          </a:bodyPr>
          <a:p>
            <a:pPr algn="r" defTabSz="457200">
              <a:lnSpc>
                <a:spcPct val="100000"/>
              </a:lnSpc>
            </a:pPr>
            <a:r>
              <a:rPr b="0" lang="pt-BR" sz="900" spc="-1" strike="noStrike">
                <a:solidFill>
                  <a:srgbClr val="64748b"/>
                </a:solidFill>
                <a:latin typeface="Calibri"/>
              </a:rPr>
              <a:t>6 / 13</a:t>
            </a:r>
            <a:endParaRPr b="0" lang="pt-BR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Rectangle 1"/>
          <p:cNvSpPr/>
          <p:nvPr/>
        </p:nvSpPr>
        <p:spPr>
          <a:xfrm>
            <a:off x="0" y="0"/>
            <a:ext cx="12191040" cy="109080"/>
          </a:xfrm>
          <a:prstGeom prst="rect">
            <a:avLst/>
          </a:prstGeom>
          <a:solidFill>
            <a:srgbClr val="1e2d5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20" name="TextBox 2"/>
          <p:cNvSpPr/>
          <p:nvPr/>
        </p:nvSpPr>
        <p:spPr>
          <a:xfrm>
            <a:off x="640080" y="316800"/>
            <a:ext cx="5485680" cy="22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36720" bIns="3672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pt-BR" sz="1000" spc="-1" strike="noStrike">
                <a:solidFill>
                  <a:srgbClr val="6d28d9"/>
                </a:solidFill>
                <a:latin typeface="Calibri"/>
              </a:rPr>
              <a:t>04 · FUNCIONALIDADES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1" name="TextBox 3"/>
          <p:cNvSpPr/>
          <p:nvPr/>
        </p:nvSpPr>
        <p:spPr>
          <a:xfrm>
            <a:off x="640080" y="984240"/>
            <a:ext cx="10057680" cy="49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36720" bIns="3672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pt-BR" sz="2800" spc="-1" strike="noStrike">
                <a:solidFill>
                  <a:srgbClr val="1e2d52"/>
                </a:solidFill>
                <a:latin typeface="Calibri"/>
              </a:rPr>
              <a:t>Área de Projeto (visão do GP)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22" name="Picture 4" descr="logogca.png"/>
          <p:cNvPicPr/>
          <p:nvPr/>
        </p:nvPicPr>
        <p:blipFill>
          <a:blip r:embed="rId1"/>
          <a:stretch/>
        </p:blipFill>
        <p:spPr>
          <a:xfrm>
            <a:off x="11076120" y="205560"/>
            <a:ext cx="748440" cy="502200"/>
          </a:xfrm>
          <a:prstGeom prst="rect">
            <a:avLst/>
          </a:prstGeom>
          <a:ln w="0">
            <a:noFill/>
          </a:ln>
        </p:spPr>
      </p:pic>
      <p:sp>
        <p:nvSpPr>
          <p:cNvPr id="223" name="TextBox 5"/>
          <p:cNvSpPr/>
          <p:nvPr/>
        </p:nvSpPr>
        <p:spPr>
          <a:xfrm>
            <a:off x="640080" y="1691640"/>
            <a:ext cx="10910880" cy="25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36720" bIns="36720" anchor="t">
            <a:spAutoFit/>
          </a:bodyPr>
          <a:p>
            <a:pPr defTabSz="457200">
              <a:lnSpc>
                <a:spcPct val="100000"/>
              </a:lnSpc>
            </a:pPr>
            <a:r>
              <a:rPr b="0" i="1" lang="pt-BR" sz="1200" spc="-1" strike="noStrike">
                <a:solidFill>
                  <a:srgbClr val="64748b"/>
                </a:solidFill>
                <a:latin typeface="Calibri"/>
              </a:rPr>
              <a:t>Acessada via /p/{slug} por Dev, Tester, QA e GP. Sidebar do projeto cobre todo o ciclo, agrupada em quatro frentes.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4" name="Rectangle 6"/>
          <p:cNvSpPr/>
          <p:nvPr/>
        </p:nvSpPr>
        <p:spPr>
          <a:xfrm>
            <a:off x="640080" y="2377440"/>
            <a:ext cx="2589840" cy="410760"/>
          </a:xfrm>
          <a:prstGeom prst="rect">
            <a:avLst/>
          </a:prstGeom>
          <a:solidFill>
            <a:srgbClr val="6d28d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25" name="TextBox 7"/>
          <p:cNvSpPr/>
          <p:nvPr/>
        </p:nvSpPr>
        <p:spPr>
          <a:xfrm>
            <a:off x="640080" y="2447280"/>
            <a:ext cx="258984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36720" bIns="3672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1" lang="pt-BR" sz="1300" spc="-1" strike="noStrike">
                <a:solidFill>
                  <a:srgbClr val="ffffff"/>
                </a:solidFill>
                <a:latin typeface="Calibri"/>
              </a:rPr>
              <a:t>Descoberta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6" name="Rectangle 8"/>
          <p:cNvSpPr/>
          <p:nvPr/>
        </p:nvSpPr>
        <p:spPr>
          <a:xfrm>
            <a:off x="640080" y="2880360"/>
            <a:ext cx="2589840" cy="328320"/>
          </a:xfrm>
          <a:prstGeom prst="rect">
            <a:avLst/>
          </a:prstGeom>
          <a:solidFill>
            <a:srgbClr val="f1f5f9"/>
          </a:solidFill>
          <a:ln w="5080">
            <a:solidFill>
              <a:srgbClr val="9ca3a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27" name="Rectangle 9"/>
          <p:cNvSpPr/>
          <p:nvPr/>
        </p:nvSpPr>
        <p:spPr>
          <a:xfrm>
            <a:off x="749880" y="2999160"/>
            <a:ext cx="90720" cy="90720"/>
          </a:xfrm>
          <a:prstGeom prst="rect">
            <a:avLst/>
          </a:prstGeom>
          <a:solidFill>
            <a:srgbClr val="6d28d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28" name="TextBox 10"/>
          <p:cNvSpPr/>
          <p:nvPr/>
        </p:nvSpPr>
        <p:spPr>
          <a:xfrm>
            <a:off x="914400" y="2924280"/>
            <a:ext cx="2224080" cy="24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36720" bIns="36720" anchor="ctr">
            <a:spAutoFit/>
          </a:bodyPr>
          <a:p>
            <a:pPr defTabSz="457200">
              <a:lnSpc>
                <a:spcPct val="100000"/>
              </a:lnSpc>
            </a:pPr>
            <a:r>
              <a:rPr b="0" lang="pt-BR" sz="1100" spc="-1" strike="noStrike">
                <a:solidFill>
                  <a:srgbClr val="1e2d52"/>
                </a:solidFill>
                <a:latin typeface="Calibri"/>
              </a:rPr>
              <a:t>Equipe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9" name="Rectangle 11"/>
          <p:cNvSpPr/>
          <p:nvPr/>
        </p:nvSpPr>
        <p:spPr>
          <a:xfrm>
            <a:off x="640080" y="3264480"/>
            <a:ext cx="2589840" cy="328320"/>
          </a:xfrm>
          <a:prstGeom prst="rect">
            <a:avLst/>
          </a:prstGeom>
          <a:solidFill>
            <a:srgbClr val="f1f5f9"/>
          </a:solidFill>
          <a:ln w="5080">
            <a:solidFill>
              <a:srgbClr val="9ca3a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30" name="Rectangle 12"/>
          <p:cNvSpPr/>
          <p:nvPr/>
        </p:nvSpPr>
        <p:spPr>
          <a:xfrm>
            <a:off x="749880" y="3383280"/>
            <a:ext cx="90720" cy="90720"/>
          </a:xfrm>
          <a:prstGeom prst="rect">
            <a:avLst/>
          </a:prstGeom>
          <a:solidFill>
            <a:srgbClr val="6d28d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31" name="TextBox 13"/>
          <p:cNvSpPr/>
          <p:nvPr/>
        </p:nvSpPr>
        <p:spPr>
          <a:xfrm>
            <a:off x="914400" y="3308400"/>
            <a:ext cx="2224080" cy="24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36720" bIns="36720" anchor="ctr">
            <a:spAutoFit/>
          </a:bodyPr>
          <a:p>
            <a:pPr defTabSz="457200">
              <a:lnSpc>
                <a:spcPct val="100000"/>
              </a:lnSpc>
            </a:pPr>
            <a:r>
              <a:rPr b="0" lang="pt-BR" sz="1100" spc="-1" strike="noStrike">
                <a:solidFill>
                  <a:srgbClr val="1e2d52"/>
                </a:solidFill>
                <a:latin typeface="Calibri"/>
              </a:rPr>
              <a:t>OCG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2" name="Rectangle 14"/>
          <p:cNvSpPr/>
          <p:nvPr/>
        </p:nvSpPr>
        <p:spPr>
          <a:xfrm>
            <a:off x="640080" y="3648600"/>
            <a:ext cx="2589840" cy="328320"/>
          </a:xfrm>
          <a:prstGeom prst="rect">
            <a:avLst/>
          </a:prstGeom>
          <a:solidFill>
            <a:srgbClr val="f1f5f9"/>
          </a:solidFill>
          <a:ln w="5080">
            <a:solidFill>
              <a:srgbClr val="9ca3a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33" name="Rectangle 15"/>
          <p:cNvSpPr/>
          <p:nvPr/>
        </p:nvSpPr>
        <p:spPr>
          <a:xfrm>
            <a:off x="749880" y="3767400"/>
            <a:ext cx="90720" cy="90720"/>
          </a:xfrm>
          <a:prstGeom prst="rect">
            <a:avLst/>
          </a:prstGeom>
          <a:solidFill>
            <a:srgbClr val="6d28d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34" name="TextBox 16"/>
          <p:cNvSpPr/>
          <p:nvPr/>
        </p:nvSpPr>
        <p:spPr>
          <a:xfrm>
            <a:off x="914400" y="3692520"/>
            <a:ext cx="2224080" cy="24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36720" bIns="36720" anchor="ctr">
            <a:spAutoFit/>
          </a:bodyPr>
          <a:p>
            <a:pPr defTabSz="457200">
              <a:lnSpc>
                <a:spcPct val="100000"/>
              </a:lnSpc>
            </a:pPr>
            <a:r>
              <a:rPr b="0" lang="pt-BR" sz="1100" spc="-1" strike="noStrike">
                <a:solidFill>
                  <a:srgbClr val="1e2d52"/>
                </a:solidFill>
                <a:latin typeface="Calibri"/>
              </a:rPr>
              <a:t>Repositórios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5" name="Rectangle 17"/>
          <p:cNvSpPr/>
          <p:nvPr/>
        </p:nvSpPr>
        <p:spPr>
          <a:xfrm>
            <a:off x="640080" y="4032360"/>
            <a:ext cx="2589840" cy="328320"/>
          </a:xfrm>
          <a:prstGeom prst="rect">
            <a:avLst/>
          </a:prstGeom>
          <a:solidFill>
            <a:srgbClr val="f1f5f9"/>
          </a:solidFill>
          <a:ln w="5080">
            <a:solidFill>
              <a:srgbClr val="9ca3a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36" name="Rectangle 18"/>
          <p:cNvSpPr/>
          <p:nvPr/>
        </p:nvSpPr>
        <p:spPr>
          <a:xfrm>
            <a:off x="749880" y="4151520"/>
            <a:ext cx="90720" cy="90720"/>
          </a:xfrm>
          <a:prstGeom prst="rect">
            <a:avLst/>
          </a:prstGeom>
          <a:solidFill>
            <a:srgbClr val="6d28d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37" name="TextBox 19"/>
          <p:cNvSpPr/>
          <p:nvPr/>
        </p:nvSpPr>
        <p:spPr>
          <a:xfrm>
            <a:off x="914400" y="4076280"/>
            <a:ext cx="2224080" cy="24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36720" bIns="36720" anchor="ctr">
            <a:spAutoFit/>
          </a:bodyPr>
          <a:p>
            <a:pPr defTabSz="457200">
              <a:lnSpc>
                <a:spcPct val="100000"/>
              </a:lnSpc>
            </a:pPr>
            <a:r>
              <a:rPr b="0" lang="pt-BR" sz="1100" spc="-1" strike="noStrike">
                <a:solidFill>
                  <a:srgbClr val="1e2d52"/>
                </a:solidFill>
                <a:latin typeface="Calibri"/>
              </a:rPr>
              <a:t>Ingestão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8" name="Rectangle 20"/>
          <p:cNvSpPr/>
          <p:nvPr/>
        </p:nvSpPr>
        <p:spPr>
          <a:xfrm>
            <a:off x="640080" y="4416480"/>
            <a:ext cx="2589840" cy="328320"/>
          </a:xfrm>
          <a:prstGeom prst="rect">
            <a:avLst/>
          </a:prstGeom>
          <a:solidFill>
            <a:srgbClr val="f1f5f9"/>
          </a:solidFill>
          <a:ln w="5080">
            <a:solidFill>
              <a:srgbClr val="9ca3a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39" name="Rectangle 21"/>
          <p:cNvSpPr/>
          <p:nvPr/>
        </p:nvSpPr>
        <p:spPr>
          <a:xfrm>
            <a:off x="749880" y="4535280"/>
            <a:ext cx="90720" cy="90720"/>
          </a:xfrm>
          <a:prstGeom prst="rect">
            <a:avLst/>
          </a:prstGeom>
          <a:solidFill>
            <a:srgbClr val="6d28d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40" name="TextBox 22"/>
          <p:cNvSpPr/>
          <p:nvPr/>
        </p:nvSpPr>
        <p:spPr>
          <a:xfrm>
            <a:off x="914400" y="4460400"/>
            <a:ext cx="2224080" cy="24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36720" bIns="36720" anchor="ctr">
            <a:spAutoFit/>
          </a:bodyPr>
          <a:p>
            <a:pPr defTabSz="457200">
              <a:lnSpc>
                <a:spcPct val="100000"/>
              </a:lnSpc>
            </a:pPr>
            <a:r>
              <a:rPr b="0" lang="pt-BR" sz="1100" spc="-1" strike="noStrike">
                <a:solidFill>
                  <a:srgbClr val="1e2d52"/>
                </a:solidFill>
                <a:latin typeface="Calibri"/>
              </a:rPr>
              <a:t>Gatekeeper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1" name="Rectangle 23"/>
          <p:cNvSpPr/>
          <p:nvPr/>
        </p:nvSpPr>
        <p:spPr>
          <a:xfrm>
            <a:off x="640080" y="4800600"/>
            <a:ext cx="2589840" cy="328320"/>
          </a:xfrm>
          <a:prstGeom prst="rect">
            <a:avLst/>
          </a:prstGeom>
          <a:solidFill>
            <a:srgbClr val="f1f5f9"/>
          </a:solidFill>
          <a:ln w="5080">
            <a:solidFill>
              <a:srgbClr val="9ca3a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42" name="Rectangle 24"/>
          <p:cNvSpPr/>
          <p:nvPr/>
        </p:nvSpPr>
        <p:spPr>
          <a:xfrm>
            <a:off x="749880" y="4919400"/>
            <a:ext cx="90720" cy="90720"/>
          </a:xfrm>
          <a:prstGeom prst="rect">
            <a:avLst/>
          </a:prstGeom>
          <a:solidFill>
            <a:srgbClr val="6d28d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43" name="TextBox 25"/>
          <p:cNvSpPr/>
          <p:nvPr/>
        </p:nvSpPr>
        <p:spPr>
          <a:xfrm>
            <a:off x="914400" y="4844520"/>
            <a:ext cx="2224080" cy="24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36720" bIns="36720" anchor="ctr">
            <a:spAutoFit/>
          </a:bodyPr>
          <a:p>
            <a:pPr defTabSz="457200">
              <a:lnSpc>
                <a:spcPct val="100000"/>
              </a:lnSpc>
            </a:pPr>
            <a:r>
              <a:rPr b="0" lang="pt-BR" sz="1100" spc="-1" strike="noStrike">
                <a:solidFill>
                  <a:srgbClr val="1e2d52"/>
                </a:solidFill>
                <a:latin typeface="Calibri"/>
              </a:rPr>
              <a:t>Arguidor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4" name="Rectangle 26"/>
          <p:cNvSpPr/>
          <p:nvPr/>
        </p:nvSpPr>
        <p:spPr>
          <a:xfrm>
            <a:off x="3413520" y="2377440"/>
            <a:ext cx="2589840" cy="410760"/>
          </a:xfrm>
          <a:prstGeom prst="rect">
            <a:avLst/>
          </a:prstGeom>
          <a:solidFill>
            <a:srgbClr val="05966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45" name="TextBox 27"/>
          <p:cNvSpPr/>
          <p:nvPr/>
        </p:nvSpPr>
        <p:spPr>
          <a:xfrm>
            <a:off x="3413520" y="2447280"/>
            <a:ext cx="258984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36720" bIns="3672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1" lang="pt-BR" sz="1300" spc="-1" strike="noStrike">
                <a:solidFill>
                  <a:srgbClr val="ffffff"/>
                </a:solidFill>
                <a:latin typeface="Calibri"/>
              </a:rPr>
              <a:t>Execução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6" name="Rectangle 28"/>
          <p:cNvSpPr/>
          <p:nvPr/>
        </p:nvSpPr>
        <p:spPr>
          <a:xfrm>
            <a:off x="3413520" y="2880360"/>
            <a:ext cx="2589840" cy="328320"/>
          </a:xfrm>
          <a:prstGeom prst="rect">
            <a:avLst/>
          </a:prstGeom>
          <a:solidFill>
            <a:srgbClr val="f1f5f9"/>
          </a:solidFill>
          <a:ln w="5080">
            <a:solidFill>
              <a:srgbClr val="9ca3a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47" name="Rectangle 29"/>
          <p:cNvSpPr/>
          <p:nvPr/>
        </p:nvSpPr>
        <p:spPr>
          <a:xfrm>
            <a:off x="3523320" y="2999160"/>
            <a:ext cx="90720" cy="90720"/>
          </a:xfrm>
          <a:prstGeom prst="rect">
            <a:avLst/>
          </a:prstGeom>
          <a:solidFill>
            <a:srgbClr val="05966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48" name="TextBox 30"/>
          <p:cNvSpPr/>
          <p:nvPr/>
        </p:nvSpPr>
        <p:spPr>
          <a:xfrm>
            <a:off x="3687840" y="2924280"/>
            <a:ext cx="2224080" cy="24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36720" bIns="36720" anchor="ctr">
            <a:spAutoFit/>
          </a:bodyPr>
          <a:p>
            <a:pPr defTabSz="457200">
              <a:lnSpc>
                <a:spcPct val="100000"/>
              </a:lnSpc>
            </a:pPr>
            <a:r>
              <a:rPr b="0" lang="pt-BR" sz="1100" spc="-1" strike="noStrike">
                <a:solidFill>
                  <a:srgbClr val="1e2d52"/>
                </a:solidFill>
                <a:latin typeface="Calibri"/>
              </a:rPr>
              <a:t>CodeGen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9" name="Rectangle 31"/>
          <p:cNvSpPr/>
          <p:nvPr/>
        </p:nvSpPr>
        <p:spPr>
          <a:xfrm>
            <a:off x="3413520" y="3264480"/>
            <a:ext cx="2589840" cy="328320"/>
          </a:xfrm>
          <a:prstGeom prst="rect">
            <a:avLst/>
          </a:prstGeom>
          <a:solidFill>
            <a:srgbClr val="f1f5f9"/>
          </a:solidFill>
          <a:ln w="5080">
            <a:solidFill>
              <a:srgbClr val="9ca3a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50" name="Rectangle 32"/>
          <p:cNvSpPr/>
          <p:nvPr/>
        </p:nvSpPr>
        <p:spPr>
          <a:xfrm>
            <a:off x="3523320" y="3383280"/>
            <a:ext cx="90720" cy="90720"/>
          </a:xfrm>
          <a:prstGeom prst="rect">
            <a:avLst/>
          </a:prstGeom>
          <a:solidFill>
            <a:srgbClr val="05966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51" name="TextBox 33"/>
          <p:cNvSpPr/>
          <p:nvPr/>
        </p:nvSpPr>
        <p:spPr>
          <a:xfrm>
            <a:off x="3687840" y="3308400"/>
            <a:ext cx="2224080" cy="24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36720" bIns="36720" anchor="ctr">
            <a:spAutoFit/>
          </a:bodyPr>
          <a:p>
            <a:pPr defTabSz="457200">
              <a:lnSpc>
                <a:spcPct val="100000"/>
              </a:lnSpc>
            </a:pPr>
            <a:r>
              <a:rPr b="0" lang="pt-BR" sz="1100" spc="-1" strike="noStrike">
                <a:solidFill>
                  <a:srgbClr val="1e2d52"/>
                </a:solidFill>
                <a:latin typeface="Calibri"/>
              </a:rPr>
              <a:t>Backlog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2" name="Rectangle 34"/>
          <p:cNvSpPr/>
          <p:nvPr/>
        </p:nvSpPr>
        <p:spPr>
          <a:xfrm>
            <a:off x="3413520" y="3648600"/>
            <a:ext cx="2589840" cy="328320"/>
          </a:xfrm>
          <a:prstGeom prst="rect">
            <a:avLst/>
          </a:prstGeom>
          <a:solidFill>
            <a:srgbClr val="f1f5f9"/>
          </a:solidFill>
          <a:ln w="5080">
            <a:solidFill>
              <a:srgbClr val="9ca3a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53" name="Rectangle 35"/>
          <p:cNvSpPr/>
          <p:nvPr/>
        </p:nvSpPr>
        <p:spPr>
          <a:xfrm>
            <a:off x="3523320" y="3767400"/>
            <a:ext cx="90720" cy="90720"/>
          </a:xfrm>
          <a:prstGeom prst="rect">
            <a:avLst/>
          </a:prstGeom>
          <a:solidFill>
            <a:srgbClr val="05966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54" name="TextBox 36"/>
          <p:cNvSpPr/>
          <p:nvPr/>
        </p:nvSpPr>
        <p:spPr>
          <a:xfrm>
            <a:off x="3687840" y="3692520"/>
            <a:ext cx="2224080" cy="24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36720" bIns="36720" anchor="ctr">
            <a:spAutoFit/>
          </a:bodyPr>
          <a:p>
            <a:pPr defTabSz="457200">
              <a:lnSpc>
                <a:spcPct val="100000"/>
              </a:lnSpc>
            </a:pPr>
            <a:r>
              <a:rPr b="0" lang="pt-BR" sz="1100" spc="-1" strike="noStrike">
                <a:solidFill>
                  <a:srgbClr val="1e2d52"/>
                </a:solidFill>
                <a:latin typeface="Calibri"/>
              </a:rPr>
              <a:t>Roadmap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5" name="Rectangle 37"/>
          <p:cNvSpPr/>
          <p:nvPr/>
        </p:nvSpPr>
        <p:spPr>
          <a:xfrm>
            <a:off x="3413520" y="4032360"/>
            <a:ext cx="2589840" cy="328320"/>
          </a:xfrm>
          <a:prstGeom prst="rect">
            <a:avLst/>
          </a:prstGeom>
          <a:solidFill>
            <a:srgbClr val="f1f5f9"/>
          </a:solidFill>
          <a:ln w="5080">
            <a:solidFill>
              <a:srgbClr val="9ca3a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56" name="Rectangle 38"/>
          <p:cNvSpPr/>
          <p:nvPr/>
        </p:nvSpPr>
        <p:spPr>
          <a:xfrm>
            <a:off x="3523320" y="4151520"/>
            <a:ext cx="90720" cy="90720"/>
          </a:xfrm>
          <a:prstGeom prst="rect">
            <a:avLst/>
          </a:prstGeom>
          <a:solidFill>
            <a:srgbClr val="05966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57" name="TextBox 39"/>
          <p:cNvSpPr/>
          <p:nvPr/>
        </p:nvSpPr>
        <p:spPr>
          <a:xfrm>
            <a:off x="3687840" y="4076280"/>
            <a:ext cx="2224080" cy="24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36720" bIns="36720" anchor="ctr">
            <a:spAutoFit/>
          </a:bodyPr>
          <a:p>
            <a:pPr defTabSz="457200">
              <a:lnSpc>
                <a:spcPct val="100000"/>
              </a:lnSpc>
            </a:pPr>
            <a:r>
              <a:rPr b="0" lang="pt-BR" sz="1100" spc="-1" strike="noStrike">
                <a:solidFill>
                  <a:srgbClr val="1e2d52"/>
                </a:solidFill>
                <a:latin typeface="Calibri"/>
              </a:rPr>
              <a:t>Deploy Plan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8" name="Rectangle 40"/>
          <p:cNvSpPr/>
          <p:nvPr/>
        </p:nvSpPr>
        <p:spPr>
          <a:xfrm>
            <a:off x="6187320" y="2377440"/>
            <a:ext cx="2589840" cy="410760"/>
          </a:xfrm>
          <a:prstGeom prst="rect">
            <a:avLst/>
          </a:prstGeom>
          <a:solidFill>
            <a:srgbClr val="d9770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59" name="TextBox 41"/>
          <p:cNvSpPr/>
          <p:nvPr/>
        </p:nvSpPr>
        <p:spPr>
          <a:xfrm>
            <a:off x="6187320" y="2447280"/>
            <a:ext cx="258984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36720" bIns="3672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1" lang="pt-BR" sz="1300" spc="-1" strike="noStrike">
                <a:solidFill>
                  <a:srgbClr val="ffffff"/>
                </a:solidFill>
                <a:latin typeface="Calibri"/>
              </a:rPr>
              <a:t>Qualidade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0" name="Rectangle 42"/>
          <p:cNvSpPr/>
          <p:nvPr/>
        </p:nvSpPr>
        <p:spPr>
          <a:xfrm>
            <a:off x="6187320" y="2880360"/>
            <a:ext cx="2589840" cy="328320"/>
          </a:xfrm>
          <a:prstGeom prst="rect">
            <a:avLst/>
          </a:prstGeom>
          <a:solidFill>
            <a:srgbClr val="f1f5f9"/>
          </a:solidFill>
          <a:ln w="5080">
            <a:solidFill>
              <a:srgbClr val="9ca3a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61" name="Rectangle 43"/>
          <p:cNvSpPr/>
          <p:nvPr/>
        </p:nvSpPr>
        <p:spPr>
          <a:xfrm>
            <a:off x="6297120" y="2999160"/>
            <a:ext cx="90720" cy="90720"/>
          </a:xfrm>
          <a:prstGeom prst="rect">
            <a:avLst/>
          </a:prstGeom>
          <a:solidFill>
            <a:srgbClr val="d9770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62" name="TextBox 44"/>
          <p:cNvSpPr/>
          <p:nvPr/>
        </p:nvSpPr>
        <p:spPr>
          <a:xfrm>
            <a:off x="6461640" y="2924280"/>
            <a:ext cx="2224080" cy="24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36720" bIns="36720" anchor="ctr">
            <a:spAutoFit/>
          </a:bodyPr>
          <a:p>
            <a:pPr defTabSz="457200">
              <a:lnSpc>
                <a:spcPct val="100000"/>
              </a:lnSpc>
            </a:pPr>
            <a:r>
              <a:rPr b="0" lang="pt-BR" sz="1100" spc="-1" strike="noStrike">
                <a:solidFill>
                  <a:srgbClr val="1e2d52"/>
                </a:solidFill>
                <a:latin typeface="Calibri"/>
              </a:rPr>
              <a:t>Plano de Testes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3" name="Rectangle 45"/>
          <p:cNvSpPr/>
          <p:nvPr/>
        </p:nvSpPr>
        <p:spPr>
          <a:xfrm>
            <a:off x="6187320" y="3264480"/>
            <a:ext cx="2589840" cy="328320"/>
          </a:xfrm>
          <a:prstGeom prst="rect">
            <a:avLst/>
          </a:prstGeom>
          <a:solidFill>
            <a:srgbClr val="f1f5f9"/>
          </a:solidFill>
          <a:ln w="5080">
            <a:solidFill>
              <a:srgbClr val="9ca3a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64" name="Rectangle 46"/>
          <p:cNvSpPr/>
          <p:nvPr/>
        </p:nvSpPr>
        <p:spPr>
          <a:xfrm>
            <a:off x="6297120" y="3383280"/>
            <a:ext cx="90720" cy="90720"/>
          </a:xfrm>
          <a:prstGeom prst="rect">
            <a:avLst/>
          </a:prstGeom>
          <a:solidFill>
            <a:srgbClr val="d9770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65" name="TextBox 47"/>
          <p:cNvSpPr/>
          <p:nvPr/>
        </p:nvSpPr>
        <p:spPr>
          <a:xfrm>
            <a:off x="6461640" y="3308400"/>
            <a:ext cx="2224080" cy="24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36720" bIns="36720" anchor="ctr">
            <a:spAutoFit/>
          </a:bodyPr>
          <a:p>
            <a:pPr defTabSz="457200">
              <a:lnSpc>
                <a:spcPct val="100000"/>
              </a:lnSpc>
            </a:pPr>
            <a:r>
              <a:rPr b="0" lang="pt-BR" sz="1100" spc="-1" strike="noStrike">
                <a:solidFill>
                  <a:srgbClr val="1e2d52"/>
                </a:solidFill>
                <a:latin typeface="Calibri"/>
              </a:rPr>
              <a:t>Tester Review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6" name="Rectangle 48"/>
          <p:cNvSpPr/>
          <p:nvPr/>
        </p:nvSpPr>
        <p:spPr>
          <a:xfrm>
            <a:off x="6187320" y="3648600"/>
            <a:ext cx="2589840" cy="328320"/>
          </a:xfrm>
          <a:prstGeom prst="rect">
            <a:avLst/>
          </a:prstGeom>
          <a:solidFill>
            <a:srgbClr val="f1f5f9"/>
          </a:solidFill>
          <a:ln w="5080">
            <a:solidFill>
              <a:srgbClr val="9ca3a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67" name="Rectangle 49"/>
          <p:cNvSpPr/>
          <p:nvPr/>
        </p:nvSpPr>
        <p:spPr>
          <a:xfrm>
            <a:off x="6297120" y="3767400"/>
            <a:ext cx="90720" cy="90720"/>
          </a:xfrm>
          <a:prstGeom prst="rect">
            <a:avLst/>
          </a:prstGeom>
          <a:solidFill>
            <a:srgbClr val="d9770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68" name="TextBox 50"/>
          <p:cNvSpPr/>
          <p:nvPr/>
        </p:nvSpPr>
        <p:spPr>
          <a:xfrm>
            <a:off x="6461640" y="3692520"/>
            <a:ext cx="2224080" cy="24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36720" bIns="36720" anchor="ctr">
            <a:spAutoFit/>
          </a:bodyPr>
          <a:p>
            <a:pPr defTabSz="457200">
              <a:lnSpc>
                <a:spcPct val="100000"/>
              </a:lnSpc>
            </a:pPr>
            <a:r>
              <a:rPr b="0" lang="pt-BR" sz="1100" spc="-1" strike="noStrike">
                <a:solidFill>
                  <a:srgbClr val="1e2d52"/>
                </a:solidFill>
                <a:latin typeface="Calibri"/>
              </a:rPr>
              <a:t>Doc Viva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9" name="Rectangle 51"/>
          <p:cNvSpPr/>
          <p:nvPr/>
        </p:nvSpPr>
        <p:spPr>
          <a:xfrm>
            <a:off x="6187320" y="4032360"/>
            <a:ext cx="2589840" cy="328320"/>
          </a:xfrm>
          <a:prstGeom prst="rect">
            <a:avLst/>
          </a:prstGeom>
          <a:solidFill>
            <a:srgbClr val="f1f5f9"/>
          </a:solidFill>
          <a:ln w="5080">
            <a:solidFill>
              <a:srgbClr val="9ca3a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70" name="Rectangle 52"/>
          <p:cNvSpPr/>
          <p:nvPr/>
        </p:nvSpPr>
        <p:spPr>
          <a:xfrm>
            <a:off x="6297120" y="4151520"/>
            <a:ext cx="90720" cy="90720"/>
          </a:xfrm>
          <a:prstGeom prst="rect">
            <a:avLst/>
          </a:prstGeom>
          <a:solidFill>
            <a:srgbClr val="d9770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71" name="TextBox 53"/>
          <p:cNvSpPr/>
          <p:nvPr/>
        </p:nvSpPr>
        <p:spPr>
          <a:xfrm>
            <a:off x="6461640" y="4076280"/>
            <a:ext cx="2224080" cy="24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36720" bIns="36720" anchor="ctr">
            <a:spAutoFit/>
          </a:bodyPr>
          <a:p>
            <a:pPr defTabSz="457200">
              <a:lnSpc>
                <a:spcPct val="100000"/>
              </a:lnSpc>
            </a:pPr>
            <a:r>
              <a:rPr b="0" lang="pt-BR" sz="1100" spc="-1" strike="noStrike">
                <a:solidFill>
                  <a:srgbClr val="1e2d52"/>
                </a:solidFill>
                <a:latin typeface="Calibri"/>
              </a:rPr>
              <a:t>Definition of Done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2" name="Rectangle 54"/>
          <p:cNvSpPr/>
          <p:nvPr/>
        </p:nvSpPr>
        <p:spPr>
          <a:xfrm>
            <a:off x="8960760" y="2377440"/>
            <a:ext cx="2589840" cy="410760"/>
          </a:xfrm>
          <a:prstGeom prst="rect">
            <a:avLst/>
          </a:prstGeom>
          <a:solidFill>
            <a:srgbClr val="1e2d5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73" name="TextBox 55"/>
          <p:cNvSpPr/>
          <p:nvPr/>
        </p:nvSpPr>
        <p:spPr>
          <a:xfrm>
            <a:off x="8960760" y="2447280"/>
            <a:ext cx="258984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36720" bIns="3672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1" lang="pt-BR" sz="1300" spc="-1" strike="noStrike">
                <a:solidFill>
                  <a:srgbClr val="ffffff"/>
                </a:solidFill>
                <a:latin typeface="Calibri"/>
              </a:rPr>
              <a:t>Operação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4" name="Rectangle 56"/>
          <p:cNvSpPr/>
          <p:nvPr/>
        </p:nvSpPr>
        <p:spPr>
          <a:xfrm>
            <a:off x="8960760" y="2880360"/>
            <a:ext cx="2589840" cy="328320"/>
          </a:xfrm>
          <a:prstGeom prst="rect">
            <a:avLst/>
          </a:prstGeom>
          <a:solidFill>
            <a:srgbClr val="f1f5f9"/>
          </a:solidFill>
          <a:ln w="5080">
            <a:solidFill>
              <a:srgbClr val="9ca3a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75" name="Rectangle 57"/>
          <p:cNvSpPr/>
          <p:nvPr/>
        </p:nvSpPr>
        <p:spPr>
          <a:xfrm>
            <a:off x="9070560" y="2999160"/>
            <a:ext cx="90720" cy="90720"/>
          </a:xfrm>
          <a:prstGeom prst="rect">
            <a:avLst/>
          </a:prstGeom>
          <a:solidFill>
            <a:srgbClr val="1e2d5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76" name="TextBox 58"/>
          <p:cNvSpPr/>
          <p:nvPr/>
        </p:nvSpPr>
        <p:spPr>
          <a:xfrm>
            <a:off x="9235080" y="2924280"/>
            <a:ext cx="2224080" cy="24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36720" bIns="36720" anchor="ctr">
            <a:spAutoFit/>
          </a:bodyPr>
          <a:p>
            <a:pPr defTabSz="457200">
              <a:lnSpc>
                <a:spcPct val="100000"/>
              </a:lnSpc>
            </a:pPr>
            <a:r>
              <a:rPr b="0" lang="pt-BR" sz="1100" spc="-1" strike="noStrike">
                <a:solidFill>
                  <a:srgbClr val="1e2d52"/>
                </a:solidFill>
                <a:latin typeface="Calibri"/>
              </a:rPr>
              <a:t>Configurações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7" name="Rectangle 59"/>
          <p:cNvSpPr/>
          <p:nvPr/>
        </p:nvSpPr>
        <p:spPr>
          <a:xfrm>
            <a:off x="8960760" y="3264480"/>
            <a:ext cx="2589840" cy="328320"/>
          </a:xfrm>
          <a:prstGeom prst="rect">
            <a:avLst/>
          </a:prstGeom>
          <a:solidFill>
            <a:srgbClr val="f1f5f9"/>
          </a:solidFill>
          <a:ln w="5080">
            <a:solidFill>
              <a:srgbClr val="9ca3a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78" name="Rectangle 60"/>
          <p:cNvSpPr/>
          <p:nvPr/>
        </p:nvSpPr>
        <p:spPr>
          <a:xfrm>
            <a:off x="9070560" y="3383280"/>
            <a:ext cx="90720" cy="90720"/>
          </a:xfrm>
          <a:prstGeom prst="rect">
            <a:avLst/>
          </a:prstGeom>
          <a:solidFill>
            <a:srgbClr val="1e2d5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79" name="TextBox 61"/>
          <p:cNvSpPr/>
          <p:nvPr/>
        </p:nvSpPr>
        <p:spPr>
          <a:xfrm>
            <a:off x="9235080" y="3308400"/>
            <a:ext cx="2224080" cy="24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36720" bIns="36720" anchor="ctr">
            <a:spAutoFit/>
          </a:bodyPr>
          <a:p>
            <a:pPr defTabSz="457200">
              <a:lnSpc>
                <a:spcPct val="100000"/>
              </a:lnSpc>
            </a:pPr>
            <a:r>
              <a:rPr b="0" lang="pt-BR" sz="1100" spc="-1" strike="noStrike">
                <a:solidFill>
                  <a:srgbClr val="1e2d52"/>
                </a:solidFill>
                <a:latin typeface="Calibri"/>
              </a:rPr>
              <a:t>Audit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0" name="Rectangle 62"/>
          <p:cNvSpPr/>
          <p:nvPr/>
        </p:nvSpPr>
        <p:spPr>
          <a:xfrm>
            <a:off x="8960760" y="3648600"/>
            <a:ext cx="2589840" cy="328320"/>
          </a:xfrm>
          <a:prstGeom prst="rect">
            <a:avLst/>
          </a:prstGeom>
          <a:solidFill>
            <a:srgbClr val="f1f5f9"/>
          </a:solidFill>
          <a:ln w="5080">
            <a:solidFill>
              <a:srgbClr val="9ca3a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81" name="Rectangle 63"/>
          <p:cNvSpPr/>
          <p:nvPr/>
        </p:nvSpPr>
        <p:spPr>
          <a:xfrm>
            <a:off x="9070560" y="3767400"/>
            <a:ext cx="90720" cy="90720"/>
          </a:xfrm>
          <a:prstGeom prst="rect">
            <a:avLst/>
          </a:prstGeom>
          <a:solidFill>
            <a:srgbClr val="1e2d5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82" name="TextBox 64"/>
          <p:cNvSpPr/>
          <p:nvPr/>
        </p:nvSpPr>
        <p:spPr>
          <a:xfrm>
            <a:off x="9235080" y="3692520"/>
            <a:ext cx="2224080" cy="24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36720" bIns="36720" anchor="ctr">
            <a:spAutoFit/>
          </a:bodyPr>
          <a:p>
            <a:pPr defTabSz="457200">
              <a:lnSpc>
                <a:spcPct val="100000"/>
              </a:lnSpc>
            </a:pPr>
            <a:r>
              <a:rPr b="0" lang="pt-BR" sz="1100" spc="-1" strike="noStrike">
                <a:solidFill>
                  <a:srgbClr val="1e2d52"/>
                </a:solidFill>
                <a:latin typeface="Calibri"/>
              </a:rPr>
              <a:t>Backups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3" name="Rectangle 65"/>
          <p:cNvSpPr/>
          <p:nvPr/>
        </p:nvSpPr>
        <p:spPr>
          <a:xfrm>
            <a:off x="8960760" y="4032360"/>
            <a:ext cx="2589840" cy="328320"/>
          </a:xfrm>
          <a:prstGeom prst="rect">
            <a:avLst/>
          </a:prstGeom>
          <a:solidFill>
            <a:srgbClr val="f1f5f9"/>
          </a:solidFill>
          <a:ln w="5080">
            <a:solidFill>
              <a:srgbClr val="9ca3a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84" name="Rectangle 66"/>
          <p:cNvSpPr/>
          <p:nvPr/>
        </p:nvSpPr>
        <p:spPr>
          <a:xfrm>
            <a:off x="9070560" y="4151520"/>
            <a:ext cx="90720" cy="90720"/>
          </a:xfrm>
          <a:prstGeom prst="rect">
            <a:avLst/>
          </a:prstGeom>
          <a:solidFill>
            <a:srgbClr val="1e2d5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85" name="TextBox 67"/>
          <p:cNvSpPr/>
          <p:nvPr/>
        </p:nvSpPr>
        <p:spPr>
          <a:xfrm>
            <a:off x="9235080" y="4076280"/>
            <a:ext cx="2224080" cy="24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36720" bIns="36720" anchor="ctr">
            <a:spAutoFit/>
          </a:bodyPr>
          <a:p>
            <a:pPr defTabSz="457200">
              <a:lnSpc>
                <a:spcPct val="100000"/>
              </a:lnSpc>
            </a:pPr>
            <a:r>
              <a:rPr b="0" lang="pt-BR" sz="1100" spc="-1" strike="noStrike">
                <a:solidFill>
                  <a:srgbClr val="1e2d52"/>
                </a:solidFill>
                <a:latin typeface="Calibri"/>
              </a:rPr>
              <a:t>Incidentes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6" name="Rectangle 68"/>
          <p:cNvSpPr/>
          <p:nvPr/>
        </p:nvSpPr>
        <p:spPr>
          <a:xfrm>
            <a:off x="8960760" y="4416480"/>
            <a:ext cx="2589840" cy="328320"/>
          </a:xfrm>
          <a:prstGeom prst="rect">
            <a:avLst/>
          </a:prstGeom>
          <a:solidFill>
            <a:srgbClr val="f1f5f9"/>
          </a:solidFill>
          <a:ln w="5080">
            <a:solidFill>
              <a:srgbClr val="9ca3a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87" name="Rectangle 69"/>
          <p:cNvSpPr/>
          <p:nvPr/>
        </p:nvSpPr>
        <p:spPr>
          <a:xfrm>
            <a:off x="9070560" y="4535280"/>
            <a:ext cx="90720" cy="90720"/>
          </a:xfrm>
          <a:prstGeom prst="rect">
            <a:avLst/>
          </a:prstGeom>
          <a:solidFill>
            <a:srgbClr val="1e2d5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88" name="TextBox 70"/>
          <p:cNvSpPr/>
          <p:nvPr/>
        </p:nvSpPr>
        <p:spPr>
          <a:xfrm>
            <a:off x="9235080" y="4460400"/>
            <a:ext cx="2224080" cy="24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36720" bIns="36720" anchor="ctr">
            <a:spAutoFit/>
          </a:bodyPr>
          <a:p>
            <a:pPr defTabSz="457200">
              <a:lnSpc>
                <a:spcPct val="100000"/>
              </a:lnSpc>
            </a:pPr>
            <a:r>
              <a:rPr b="0" lang="pt-BR" sz="1100" spc="-1" strike="noStrike">
                <a:solidFill>
                  <a:srgbClr val="1e2d52"/>
                </a:solidFill>
                <a:latin typeface="Calibri"/>
              </a:rPr>
              <a:t>Métricas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9" name="Rectangle 71"/>
          <p:cNvSpPr/>
          <p:nvPr/>
        </p:nvSpPr>
        <p:spPr>
          <a:xfrm>
            <a:off x="0" y="6583680"/>
            <a:ext cx="12191040" cy="17640"/>
          </a:xfrm>
          <a:prstGeom prst="rect">
            <a:avLst/>
          </a:prstGeom>
          <a:solidFill>
            <a:srgbClr val="9ca3a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6640" bIns="-26640" anchor="ctr">
            <a:noAutofit/>
          </a:bodyPr>
          <a:p>
            <a:pPr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90" name="TextBox 72"/>
          <p:cNvSpPr/>
          <p:nvPr/>
        </p:nvSpPr>
        <p:spPr>
          <a:xfrm>
            <a:off x="640080" y="6615720"/>
            <a:ext cx="7314480" cy="21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36720" bIns="36720" anchor="ctr">
            <a:spAutoFit/>
          </a:bodyPr>
          <a:p>
            <a:pPr defTabSz="457200">
              <a:lnSpc>
                <a:spcPct val="100000"/>
              </a:lnSpc>
            </a:pPr>
            <a:r>
              <a:rPr b="0" lang="pt-BR" sz="900" spc="-1" strike="noStrike">
                <a:solidFill>
                  <a:srgbClr val="64748b"/>
                </a:solidFill>
                <a:latin typeface="Calibri"/>
              </a:rPr>
              <a:t>GCA — Gestão de Codificação Assistida · Apresentação Comercial</a:t>
            </a:r>
            <a:endParaRPr b="0" lang="pt-B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1" name="TextBox 73"/>
          <p:cNvSpPr/>
          <p:nvPr/>
        </p:nvSpPr>
        <p:spPr>
          <a:xfrm>
            <a:off x="10820160" y="6615720"/>
            <a:ext cx="913680" cy="21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36720" bIns="36720" anchor="ctr">
            <a:spAutoFit/>
          </a:bodyPr>
          <a:p>
            <a:pPr algn="r" defTabSz="457200">
              <a:lnSpc>
                <a:spcPct val="100000"/>
              </a:lnSpc>
            </a:pPr>
            <a:r>
              <a:rPr b="0" lang="pt-BR" sz="900" spc="-1" strike="noStrike">
                <a:solidFill>
                  <a:srgbClr val="64748b"/>
                </a:solidFill>
                <a:latin typeface="Calibri"/>
              </a:rPr>
              <a:t>7 / 13</a:t>
            </a:r>
            <a:endParaRPr b="0" lang="pt-BR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Rectangle 1"/>
          <p:cNvSpPr/>
          <p:nvPr/>
        </p:nvSpPr>
        <p:spPr>
          <a:xfrm>
            <a:off x="0" y="0"/>
            <a:ext cx="12191040" cy="109080"/>
          </a:xfrm>
          <a:prstGeom prst="rect">
            <a:avLst/>
          </a:prstGeom>
          <a:solidFill>
            <a:srgbClr val="1e2d5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93" name="TextBox 2"/>
          <p:cNvSpPr/>
          <p:nvPr/>
        </p:nvSpPr>
        <p:spPr>
          <a:xfrm>
            <a:off x="640080" y="316800"/>
            <a:ext cx="5485680" cy="22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36720" bIns="3672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pt-BR" sz="1000" spc="-1" strike="noStrike">
                <a:solidFill>
                  <a:srgbClr val="6d28d9"/>
                </a:solidFill>
                <a:latin typeface="Calibri"/>
              </a:rPr>
              <a:t>04 · FUNCIONALIDADES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4" name="TextBox 3"/>
          <p:cNvSpPr/>
          <p:nvPr/>
        </p:nvSpPr>
        <p:spPr>
          <a:xfrm>
            <a:off x="640080" y="984240"/>
            <a:ext cx="10057680" cy="49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36720" bIns="3672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pt-BR" sz="2800" spc="-1" strike="noStrike">
                <a:solidFill>
                  <a:srgbClr val="1e2d52"/>
                </a:solidFill>
                <a:latin typeface="Calibri"/>
              </a:rPr>
              <a:t>Inteligência Artificial e Automação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95" name="Picture 4" descr="logogca.png"/>
          <p:cNvPicPr/>
          <p:nvPr/>
        </p:nvPicPr>
        <p:blipFill>
          <a:blip r:embed="rId1"/>
          <a:stretch/>
        </p:blipFill>
        <p:spPr>
          <a:xfrm>
            <a:off x="11076120" y="205560"/>
            <a:ext cx="748440" cy="502200"/>
          </a:xfrm>
          <a:prstGeom prst="rect">
            <a:avLst/>
          </a:prstGeom>
          <a:ln w="0">
            <a:noFill/>
          </a:ln>
        </p:spPr>
      </p:pic>
      <p:sp>
        <p:nvSpPr>
          <p:cNvPr id="296" name="Rectangle 5"/>
          <p:cNvSpPr/>
          <p:nvPr/>
        </p:nvSpPr>
        <p:spPr>
          <a:xfrm>
            <a:off x="640080" y="1691640"/>
            <a:ext cx="5317920" cy="2193840"/>
          </a:xfrm>
          <a:prstGeom prst="rect">
            <a:avLst/>
          </a:prstGeom>
          <a:solidFill>
            <a:srgbClr val="ffffff"/>
          </a:solidFill>
          <a:ln w="12700">
            <a:solidFill>
              <a:srgbClr val="6d28d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97" name="Rectangle 6"/>
          <p:cNvSpPr/>
          <p:nvPr/>
        </p:nvSpPr>
        <p:spPr>
          <a:xfrm>
            <a:off x="640080" y="1691640"/>
            <a:ext cx="163800" cy="2193840"/>
          </a:xfrm>
          <a:prstGeom prst="rect">
            <a:avLst/>
          </a:prstGeom>
          <a:solidFill>
            <a:srgbClr val="6d28d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98" name="TextBox 7"/>
          <p:cNvSpPr/>
          <p:nvPr/>
        </p:nvSpPr>
        <p:spPr>
          <a:xfrm>
            <a:off x="960120" y="1856160"/>
            <a:ext cx="4860720" cy="28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36720" bIns="3672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pt-BR" sz="1400" spc="-1" strike="noStrike">
                <a:solidFill>
                  <a:srgbClr val="1e2d52"/>
                </a:solidFill>
                <a:latin typeface="Calibri"/>
              </a:rPr>
              <a:t>OCG — Objeto Canônico de Governança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9" name="TextBox 8"/>
          <p:cNvSpPr/>
          <p:nvPr/>
        </p:nvSpPr>
        <p:spPr>
          <a:xfrm>
            <a:off x="960120" y="2377440"/>
            <a:ext cx="4860720" cy="40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36720" bIns="3672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pt-BR" sz="1100" spc="-1" strike="noStrike">
                <a:solidFill>
                  <a:srgbClr val="374151"/>
                </a:solidFill>
                <a:latin typeface="Calibri"/>
              </a:rPr>
              <a:t>Pipeline de 8 agentes (analyzer + 7 pilares paralelos + consolidator). Versionado em ocg_delta_log. Toda decisão arquitetural passa por aqui.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0" name="Rectangle 9"/>
          <p:cNvSpPr/>
          <p:nvPr/>
        </p:nvSpPr>
        <p:spPr>
          <a:xfrm>
            <a:off x="6233040" y="1691640"/>
            <a:ext cx="5317920" cy="2193840"/>
          </a:xfrm>
          <a:prstGeom prst="rect">
            <a:avLst/>
          </a:prstGeom>
          <a:solidFill>
            <a:srgbClr val="ffffff"/>
          </a:solidFill>
          <a:ln w="12700">
            <a:solidFill>
              <a:srgbClr val="6d28d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01" name="Rectangle 10"/>
          <p:cNvSpPr/>
          <p:nvPr/>
        </p:nvSpPr>
        <p:spPr>
          <a:xfrm>
            <a:off x="6233040" y="1691640"/>
            <a:ext cx="163800" cy="2193840"/>
          </a:xfrm>
          <a:prstGeom prst="rect">
            <a:avLst/>
          </a:prstGeom>
          <a:solidFill>
            <a:srgbClr val="6d28d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02" name="TextBox 11"/>
          <p:cNvSpPr/>
          <p:nvPr/>
        </p:nvSpPr>
        <p:spPr>
          <a:xfrm>
            <a:off x="6553080" y="1856160"/>
            <a:ext cx="4860720" cy="28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36720" bIns="3672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pt-BR" sz="1400" spc="-1" strike="noStrike">
                <a:solidFill>
                  <a:srgbClr val="1e2d52"/>
                </a:solidFill>
                <a:latin typeface="Calibri"/>
              </a:rPr>
              <a:t>Roteamento híbrido por criticidade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3" name="TextBox 12"/>
          <p:cNvSpPr/>
          <p:nvPr/>
        </p:nvSpPr>
        <p:spPr>
          <a:xfrm>
            <a:off x="6553080" y="2377440"/>
            <a:ext cx="4860720" cy="40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36720" bIns="3672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pt-BR" sz="1100" spc="-1" strike="noStrike">
                <a:solidFill>
                  <a:srgbClr val="374151"/>
                </a:solidFill>
                <a:latin typeface="Calibri"/>
              </a:rPr>
              <a:t>Baixa criticidade → Ollama local (custo zero). Alta criticidade → Premium (Anthropic/OpenAI). Auditável por chamada em ai_usage_log.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4" name="Rectangle 13"/>
          <p:cNvSpPr/>
          <p:nvPr/>
        </p:nvSpPr>
        <p:spPr>
          <a:xfrm>
            <a:off x="640080" y="4069080"/>
            <a:ext cx="5317920" cy="2193840"/>
          </a:xfrm>
          <a:prstGeom prst="rect">
            <a:avLst/>
          </a:prstGeom>
          <a:solidFill>
            <a:srgbClr val="ffffff"/>
          </a:solidFill>
          <a:ln w="12700">
            <a:solidFill>
              <a:srgbClr val="6d28d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05" name="Rectangle 14"/>
          <p:cNvSpPr/>
          <p:nvPr/>
        </p:nvSpPr>
        <p:spPr>
          <a:xfrm>
            <a:off x="640080" y="4069080"/>
            <a:ext cx="163800" cy="2193840"/>
          </a:xfrm>
          <a:prstGeom prst="rect">
            <a:avLst/>
          </a:prstGeom>
          <a:solidFill>
            <a:srgbClr val="6d28d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06" name="TextBox 15"/>
          <p:cNvSpPr/>
          <p:nvPr/>
        </p:nvSpPr>
        <p:spPr>
          <a:xfrm>
            <a:off x="960120" y="4233600"/>
            <a:ext cx="4860720" cy="28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36720" bIns="3672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pt-BR" sz="1400" spc="-1" strike="noStrike">
                <a:solidFill>
                  <a:srgbClr val="1e2d52"/>
                </a:solidFill>
                <a:latin typeface="Calibri"/>
              </a:rPr>
              <a:t>Plano de Testes gerado por LLM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7" name="TextBox 16"/>
          <p:cNvSpPr/>
          <p:nvPr/>
        </p:nvSpPr>
        <p:spPr>
          <a:xfrm>
            <a:off x="960120" y="4754880"/>
            <a:ext cx="4860720" cy="40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36720" bIns="3672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pt-BR" sz="1100" spc="-1" strike="noStrike">
                <a:solidFill>
                  <a:srgbClr val="374151"/>
                </a:solidFill>
                <a:latin typeface="Calibri"/>
              </a:rPr>
              <a:t>Cinco tipos: unit/integration/e2e (Ollama, por módulo) + security/compliance (Premium, globais). Provenance completa por spec.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8" name="Rectangle 17"/>
          <p:cNvSpPr/>
          <p:nvPr/>
        </p:nvSpPr>
        <p:spPr>
          <a:xfrm>
            <a:off x="6233040" y="4069080"/>
            <a:ext cx="5317920" cy="2193840"/>
          </a:xfrm>
          <a:prstGeom prst="rect">
            <a:avLst/>
          </a:prstGeom>
          <a:solidFill>
            <a:srgbClr val="ffffff"/>
          </a:solidFill>
          <a:ln w="12700">
            <a:solidFill>
              <a:srgbClr val="6d28d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09" name="Rectangle 18"/>
          <p:cNvSpPr/>
          <p:nvPr/>
        </p:nvSpPr>
        <p:spPr>
          <a:xfrm>
            <a:off x="6233040" y="4069080"/>
            <a:ext cx="163800" cy="2193840"/>
          </a:xfrm>
          <a:prstGeom prst="rect">
            <a:avLst/>
          </a:prstGeom>
          <a:solidFill>
            <a:srgbClr val="6d28d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10" name="TextBox 19"/>
          <p:cNvSpPr/>
          <p:nvPr/>
        </p:nvSpPr>
        <p:spPr>
          <a:xfrm>
            <a:off x="6553080" y="4233600"/>
            <a:ext cx="4860720" cy="28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36720" bIns="3672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pt-BR" sz="1400" spc="-1" strike="noStrike">
                <a:solidFill>
                  <a:srgbClr val="1e2d52"/>
                </a:solidFill>
                <a:latin typeface="Calibri"/>
              </a:rPr>
              <a:t>Documentação Viva real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1" name="TextBox 20"/>
          <p:cNvSpPr/>
          <p:nvPr/>
        </p:nvSpPr>
        <p:spPr>
          <a:xfrm>
            <a:off x="6553080" y="4754880"/>
            <a:ext cx="4860720" cy="40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36720" bIns="3672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pt-BR" sz="1100" spc="-1" strike="noStrike">
                <a:solidFill>
                  <a:srgbClr val="374151"/>
                </a:solidFill>
                <a:latin typeface="Calibri"/>
              </a:rPr>
              <a:t>module_doc por módulo (Ollama) + index e architecture consolidados (Premium). Stale detection automática quando OCG evolui.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2" name="Rectangle 21"/>
          <p:cNvSpPr/>
          <p:nvPr/>
        </p:nvSpPr>
        <p:spPr>
          <a:xfrm>
            <a:off x="0" y="6583680"/>
            <a:ext cx="12191040" cy="17640"/>
          </a:xfrm>
          <a:prstGeom prst="rect">
            <a:avLst/>
          </a:prstGeom>
          <a:solidFill>
            <a:srgbClr val="9ca3a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6640" bIns="-26640" anchor="ctr">
            <a:noAutofit/>
          </a:bodyPr>
          <a:p>
            <a:pPr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13" name="TextBox 22"/>
          <p:cNvSpPr/>
          <p:nvPr/>
        </p:nvSpPr>
        <p:spPr>
          <a:xfrm>
            <a:off x="640080" y="6615720"/>
            <a:ext cx="7314480" cy="21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36720" bIns="36720" anchor="ctr">
            <a:spAutoFit/>
          </a:bodyPr>
          <a:p>
            <a:pPr defTabSz="457200">
              <a:lnSpc>
                <a:spcPct val="100000"/>
              </a:lnSpc>
            </a:pPr>
            <a:r>
              <a:rPr b="0" lang="pt-BR" sz="900" spc="-1" strike="noStrike">
                <a:solidFill>
                  <a:srgbClr val="64748b"/>
                </a:solidFill>
                <a:latin typeface="Calibri"/>
              </a:rPr>
              <a:t>GCA — Gestão de Codificação Assistida · Apresentação Comercial</a:t>
            </a:r>
            <a:endParaRPr b="0" lang="pt-B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4" name="TextBox 23"/>
          <p:cNvSpPr/>
          <p:nvPr/>
        </p:nvSpPr>
        <p:spPr>
          <a:xfrm>
            <a:off x="10820160" y="6615720"/>
            <a:ext cx="913680" cy="21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36720" bIns="36720" anchor="ctr">
            <a:spAutoFit/>
          </a:bodyPr>
          <a:p>
            <a:pPr algn="r" defTabSz="457200">
              <a:lnSpc>
                <a:spcPct val="100000"/>
              </a:lnSpc>
            </a:pPr>
            <a:r>
              <a:rPr b="0" lang="pt-BR" sz="900" spc="-1" strike="noStrike">
                <a:solidFill>
                  <a:srgbClr val="64748b"/>
                </a:solidFill>
                <a:latin typeface="Calibri"/>
              </a:rPr>
              <a:t>8 / 13</a:t>
            </a:r>
            <a:endParaRPr b="0" lang="pt-BR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Rectangle 1"/>
          <p:cNvSpPr/>
          <p:nvPr/>
        </p:nvSpPr>
        <p:spPr>
          <a:xfrm>
            <a:off x="0" y="0"/>
            <a:ext cx="12191040" cy="109080"/>
          </a:xfrm>
          <a:prstGeom prst="rect">
            <a:avLst/>
          </a:prstGeom>
          <a:solidFill>
            <a:srgbClr val="1e2d5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16" name="TextBox 2"/>
          <p:cNvSpPr/>
          <p:nvPr/>
        </p:nvSpPr>
        <p:spPr>
          <a:xfrm>
            <a:off x="640080" y="316800"/>
            <a:ext cx="5485680" cy="22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36720" bIns="3672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pt-BR" sz="1000" spc="-1" strike="noStrike">
                <a:solidFill>
                  <a:srgbClr val="6d28d9"/>
                </a:solidFill>
                <a:latin typeface="Calibri"/>
              </a:rPr>
              <a:t>05 · MATURIDADE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7" name="TextBox 3"/>
          <p:cNvSpPr/>
          <p:nvPr/>
        </p:nvSpPr>
        <p:spPr>
          <a:xfrm>
            <a:off x="640080" y="984240"/>
            <a:ext cx="10057680" cy="49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36720" bIns="3672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pt-BR" sz="2800" spc="-1" strike="noStrike">
                <a:solidFill>
                  <a:srgbClr val="1e2d52"/>
                </a:solidFill>
                <a:latin typeface="Calibri"/>
              </a:rPr>
              <a:t>O que esperar do produto — visão honesta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18" name="Picture 4" descr="logogca.png"/>
          <p:cNvPicPr/>
          <p:nvPr/>
        </p:nvPicPr>
        <p:blipFill>
          <a:blip r:embed="rId1"/>
          <a:stretch/>
        </p:blipFill>
        <p:spPr>
          <a:xfrm>
            <a:off x="11076120" y="205560"/>
            <a:ext cx="748440" cy="502200"/>
          </a:xfrm>
          <a:prstGeom prst="rect">
            <a:avLst/>
          </a:prstGeom>
          <a:ln w="0">
            <a:noFill/>
          </a:ln>
        </p:spPr>
      </p:pic>
      <p:sp>
        <p:nvSpPr>
          <p:cNvPr id="319" name="Rectangle 5"/>
          <p:cNvSpPr/>
          <p:nvPr/>
        </p:nvSpPr>
        <p:spPr>
          <a:xfrm>
            <a:off x="640080" y="1691640"/>
            <a:ext cx="3514680" cy="502200"/>
          </a:xfrm>
          <a:prstGeom prst="rect">
            <a:avLst/>
          </a:prstGeom>
          <a:solidFill>
            <a:srgbClr val="05966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20" name="TextBox 6"/>
          <p:cNvSpPr/>
          <p:nvPr/>
        </p:nvSpPr>
        <p:spPr>
          <a:xfrm>
            <a:off x="640080" y="1799640"/>
            <a:ext cx="3514680" cy="28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36720" bIns="3672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1" lang="pt-BR" sz="1400" spc="-1" strike="noStrike">
                <a:solidFill>
                  <a:srgbClr val="ffffff"/>
                </a:solidFill>
                <a:latin typeface="Calibri"/>
              </a:rPr>
              <a:t>V1 — Entregue agora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1" name="Rectangle 7"/>
          <p:cNvSpPr/>
          <p:nvPr/>
        </p:nvSpPr>
        <p:spPr>
          <a:xfrm>
            <a:off x="640080" y="2286000"/>
            <a:ext cx="3514680" cy="376200"/>
          </a:xfrm>
          <a:prstGeom prst="rect">
            <a:avLst/>
          </a:prstGeom>
          <a:solidFill>
            <a:srgbClr val="f1f5f9"/>
          </a:solidFill>
          <a:ln w="5080">
            <a:solidFill>
              <a:srgbClr val="9ca3a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22" name="Rectangle 8"/>
          <p:cNvSpPr/>
          <p:nvPr/>
        </p:nvSpPr>
        <p:spPr>
          <a:xfrm>
            <a:off x="640080" y="2286000"/>
            <a:ext cx="90720" cy="376200"/>
          </a:xfrm>
          <a:prstGeom prst="rect">
            <a:avLst/>
          </a:prstGeom>
          <a:solidFill>
            <a:srgbClr val="05966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23" name="TextBox 9"/>
          <p:cNvSpPr/>
          <p:nvPr/>
        </p:nvSpPr>
        <p:spPr>
          <a:xfrm>
            <a:off x="841320" y="2361600"/>
            <a:ext cx="3222000" cy="22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36720" bIns="36720" anchor="ctr">
            <a:spAutoFit/>
          </a:bodyPr>
          <a:p>
            <a:pPr defTabSz="457200">
              <a:lnSpc>
                <a:spcPct val="100000"/>
              </a:lnSpc>
            </a:pPr>
            <a:r>
              <a:rPr b="0" lang="pt-BR" sz="1000" spc="-1" strike="noStrike">
                <a:solidFill>
                  <a:srgbClr val="1e2d52"/>
                </a:solidFill>
                <a:latin typeface="Calibri"/>
              </a:rPr>
              <a:t>10 MVPs fechados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4" name="Rectangle 10"/>
          <p:cNvSpPr/>
          <p:nvPr/>
        </p:nvSpPr>
        <p:spPr>
          <a:xfrm>
            <a:off x="640080" y="2736000"/>
            <a:ext cx="3514680" cy="376200"/>
          </a:xfrm>
          <a:prstGeom prst="rect">
            <a:avLst/>
          </a:prstGeom>
          <a:solidFill>
            <a:srgbClr val="f1f5f9"/>
          </a:solidFill>
          <a:ln w="5080">
            <a:solidFill>
              <a:srgbClr val="9ca3a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25" name="Rectangle 11"/>
          <p:cNvSpPr/>
          <p:nvPr/>
        </p:nvSpPr>
        <p:spPr>
          <a:xfrm>
            <a:off x="640080" y="2736000"/>
            <a:ext cx="90720" cy="376200"/>
          </a:xfrm>
          <a:prstGeom prst="rect">
            <a:avLst/>
          </a:prstGeom>
          <a:solidFill>
            <a:srgbClr val="05966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26" name="TextBox 12"/>
          <p:cNvSpPr/>
          <p:nvPr/>
        </p:nvSpPr>
        <p:spPr>
          <a:xfrm>
            <a:off x="841320" y="2811600"/>
            <a:ext cx="3222000" cy="22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36720" bIns="36720" anchor="ctr">
            <a:spAutoFit/>
          </a:bodyPr>
          <a:p>
            <a:pPr defTabSz="457200">
              <a:lnSpc>
                <a:spcPct val="100000"/>
              </a:lnSpc>
            </a:pPr>
            <a:r>
              <a:rPr b="0" lang="pt-BR" sz="1000" spc="-1" strike="noStrike">
                <a:solidFill>
                  <a:srgbClr val="1e2d52"/>
                </a:solidFill>
                <a:latin typeface="Calibri"/>
              </a:rPr>
              <a:t>1.162 testes de regressão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7" name="Rectangle 13"/>
          <p:cNvSpPr/>
          <p:nvPr/>
        </p:nvSpPr>
        <p:spPr>
          <a:xfrm>
            <a:off x="640080" y="3186000"/>
            <a:ext cx="3514680" cy="376200"/>
          </a:xfrm>
          <a:prstGeom prst="rect">
            <a:avLst/>
          </a:prstGeom>
          <a:solidFill>
            <a:srgbClr val="f1f5f9"/>
          </a:solidFill>
          <a:ln w="5080">
            <a:solidFill>
              <a:srgbClr val="9ca3a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28" name="Rectangle 14"/>
          <p:cNvSpPr/>
          <p:nvPr/>
        </p:nvSpPr>
        <p:spPr>
          <a:xfrm>
            <a:off x="640080" y="3186000"/>
            <a:ext cx="90720" cy="376200"/>
          </a:xfrm>
          <a:prstGeom prst="rect">
            <a:avLst/>
          </a:prstGeom>
          <a:solidFill>
            <a:srgbClr val="05966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29" name="TextBox 15"/>
          <p:cNvSpPr/>
          <p:nvPr/>
        </p:nvSpPr>
        <p:spPr>
          <a:xfrm>
            <a:off x="841320" y="3261600"/>
            <a:ext cx="3222000" cy="22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36720" bIns="36720" anchor="ctr">
            <a:spAutoFit/>
          </a:bodyPr>
          <a:p>
            <a:pPr defTabSz="457200">
              <a:lnSpc>
                <a:spcPct val="100000"/>
              </a:lnSpc>
            </a:pPr>
            <a:r>
              <a:rPr b="0" lang="pt-BR" sz="1000" spc="-1" strike="noStrike">
                <a:solidFill>
                  <a:srgbClr val="1e2d52"/>
                </a:solidFill>
                <a:latin typeface="Calibri"/>
              </a:rPr>
              <a:t>RBAC canônico de 5 papéis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0" name="Rectangle 16"/>
          <p:cNvSpPr/>
          <p:nvPr/>
        </p:nvSpPr>
        <p:spPr>
          <a:xfrm>
            <a:off x="640080" y="3636360"/>
            <a:ext cx="3514680" cy="376200"/>
          </a:xfrm>
          <a:prstGeom prst="rect">
            <a:avLst/>
          </a:prstGeom>
          <a:solidFill>
            <a:srgbClr val="f1f5f9"/>
          </a:solidFill>
          <a:ln w="5080">
            <a:solidFill>
              <a:srgbClr val="9ca3a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31" name="Rectangle 17"/>
          <p:cNvSpPr/>
          <p:nvPr/>
        </p:nvSpPr>
        <p:spPr>
          <a:xfrm>
            <a:off x="640080" y="3636360"/>
            <a:ext cx="90720" cy="376200"/>
          </a:xfrm>
          <a:prstGeom prst="rect">
            <a:avLst/>
          </a:prstGeom>
          <a:solidFill>
            <a:srgbClr val="05966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32" name="TextBox 18"/>
          <p:cNvSpPr/>
          <p:nvPr/>
        </p:nvSpPr>
        <p:spPr>
          <a:xfrm>
            <a:off x="841320" y="3711960"/>
            <a:ext cx="3222000" cy="22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36720" bIns="36720" anchor="ctr">
            <a:spAutoFit/>
          </a:bodyPr>
          <a:p>
            <a:pPr defTabSz="457200">
              <a:lnSpc>
                <a:spcPct val="100000"/>
              </a:lnSpc>
            </a:pPr>
            <a:r>
              <a:rPr b="0" lang="pt-BR" sz="1000" spc="-1" strike="noStrike">
                <a:solidFill>
                  <a:srgbClr val="1e2d52"/>
                </a:solidFill>
                <a:latin typeface="Calibri"/>
              </a:rPr>
              <a:t>OCG + 7 pilares Gatekeeper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3" name="Rectangle 19"/>
          <p:cNvSpPr/>
          <p:nvPr/>
        </p:nvSpPr>
        <p:spPr>
          <a:xfrm>
            <a:off x="640080" y="4086360"/>
            <a:ext cx="3514680" cy="376200"/>
          </a:xfrm>
          <a:prstGeom prst="rect">
            <a:avLst/>
          </a:prstGeom>
          <a:solidFill>
            <a:srgbClr val="f1f5f9"/>
          </a:solidFill>
          <a:ln w="5080">
            <a:solidFill>
              <a:srgbClr val="9ca3a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34" name="Rectangle 20"/>
          <p:cNvSpPr/>
          <p:nvPr/>
        </p:nvSpPr>
        <p:spPr>
          <a:xfrm>
            <a:off x="640080" y="4086360"/>
            <a:ext cx="90720" cy="376200"/>
          </a:xfrm>
          <a:prstGeom prst="rect">
            <a:avLst/>
          </a:prstGeom>
          <a:solidFill>
            <a:srgbClr val="05966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35" name="TextBox 21"/>
          <p:cNvSpPr/>
          <p:nvPr/>
        </p:nvSpPr>
        <p:spPr>
          <a:xfrm>
            <a:off x="841320" y="4161960"/>
            <a:ext cx="3222000" cy="22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36720" bIns="36720" anchor="ctr">
            <a:spAutoFit/>
          </a:bodyPr>
          <a:p>
            <a:pPr defTabSz="457200">
              <a:lnSpc>
                <a:spcPct val="100000"/>
              </a:lnSpc>
            </a:pPr>
            <a:r>
              <a:rPr b="0" lang="pt-BR" sz="1000" spc="-1" strike="noStrike">
                <a:solidFill>
                  <a:srgbClr val="1e2d52"/>
                </a:solidFill>
                <a:latin typeface="Calibri"/>
              </a:rPr>
              <a:t>CodeGen em 7 linguagens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6" name="Rectangle 22"/>
          <p:cNvSpPr/>
          <p:nvPr/>
        </p:nvSpPr>
        <p:spPr>
          <a:xfrm>
            <a:off x="640080" y="4536360"/>
            <a:ext cx="3514680" cy="376200"/>
          </a:xfrm>
          <a:prstGeom prst="rect">
            <a:avLst/>
          </a:prstGeom>
          <a:solidFill>
            <a:srgbClr val="f1f5f9"/>
          </a:solidFill>
          <a:ln w="5080">
            <a:solidFill>
              <a:srgbClr val="9ca3a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37" name="Rectangle 23"/>
          <p:cNvSpPr/>
          <p:nvPr/>
        </p:nvSpPr>
        <p:spPr>
          <a:xfrm>
            <a:off x="640080" y="4536360"/>
            <a:ext cx="90720" cy="376200"/>
          </a:xfrm>
          <a:prstGeom prst="rect">
            <a:avLst/>
          </a:prstGeom>
          <a:solidFill>
            <a:srgbClr val="05966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38" name="TextBox 24"/>
          <p:cNvSpPr/>
          <p:nvPr/>
        </p:nvSpPr>
        <p:spPr>
          <a:xfrm>
            <a:off x="841320" y="4611960"/>
            <a:ext cx="3222000" cy="22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36720" bIns="36720" anchor="ctr">
            <a:spAutoFit/>
          </a:bodyPr>
          <a:p>
            <a:pPr defTabSz="457200">
              <a:lnSpc>
                <a:spcPct val="100000"/>
              </a:lnSpc>
            </a:pPr>
            <a:r>
              <a:rPr b="0" lang="pt-BR" sz="1000" spc="-1" strike="noStrike">
                <a:solidFill>
                  <a:srgbClr val="1e2d52"/>
                </a:solidFill>
                <a:latin typeface="Calibri"/>
              </a:rPr>
              <a:t>TestSpecs e LiveDocs reativos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9" name="Rectangle 25"/>
          <p:cNvSpPr/>
          <p:nvPr/>
        </p:nvSpPr>
        <p:spPr>
          <a:xfrm>
            <a:off x="640080" y="4986360"/>
            <a:ext cx="3514680" cy="376200"/>
          </a:xfrm>
          <a:prstGeom prst="rect">
            <a:avLst/>
          </a:prstGeom>
          <a:solidFill>
            <a:srgbClr val="f1f5f9"/>
          </a:solidFill>
          <a:ln w="5080">
            <a:solidFill>
              <a:srgbClr val="9ca3a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40" name="Rectangle 26"/>
          <p:cNvSpPr/>
          <p:nvPr/>
        </p:nvSpPr>
        <p:spPr>
          <a:xfrm>
            <a:off x="640080" y="4986360"/>
            <a:ext cx="90720" cy="376200"/>
          </a:xfrm>
          <a:prstGeom prst="rect">
            <a:avLst/>
          </a:prstGeom>
          <a:solidFill>
            <a:srgbClr val="05966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41" name="TextBox 27"/>
          <p:cNvSpPr/>
          <p:nvPr/>
        </p:nvSpPr>
        <p:spPr>
          <a:xfrm>
            <a:off x="841320" y="5061960"/>
            <a:ext cx="3222000" cy="22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36720" bIns="36720" anchor="ctr">
            <a:spAutoFit/>
          </a:bodyPr>
          <a:p>
            <a:pPr defTabSz="457200">
              <a:lnSpc>
                <a:spcPct val="100000"/>
              </a:lnSpc>
            </a:pPr>
            <a:r>
              <a:rPr b="0" lang="pt-BR" sz="1000" spc="-1" strike="noStrike">
                <a:solidFill>
                  <a:srgbClr val="1e2d52"/>
                </a:solidFill>
                <a:latin typeface="Calibri"/>
              </a:rPr>
              <a:t>Backups por projeto + restore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2" name="Rectangle 28"/>
          <p:cNvSpPr/>
          <p:nvPr/>
        </p:nvSpPr>
        <p:spPr>
          <a:xfrm>
            <a:off x="640080" y="5436720"/>
            <a:ext cx="3514680" cy="376200"/>
          </a:xfrm>
          <a:prstGeom prst="rect">
            <a:avLst/>
          </a:prstGeom>
          <a:solidFill>
            <a:srgbClr val="f1f5f9"/>
          </a:solidFill>
          <a:ln w="5080">
            <a:solidFill>
              <a:srgbClr val="9ca3a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43" name="Rectangle 29"/>
          <p:cNvSpPr/>
          <p:nvPr/>
        </p:nvSpPr>
        <p:spPr>
          <a:xfrm>
            <a:off x="640080" y="5436720"/>
            <a:ext cx="90720" cy="376200"/>
          </a:xfrm>
          <a:prstGeom prst="rect">
            <a:avLst/>
          </a:prstGeom>
          <a:solidFill>
            <a:srgbClr val="05966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44" name="TextBox 30"/>
          <p:cNvSpPr/>
          <p:nvPr/>
        </p:nvSpPr>
        <p:spPr>
          <a:xfrm>
            <a:off x="841320" y="5512320"/>
            <a:ext cx="3222000" cy="22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36720" bIns="36720" anchor="ctr">
            <a:spAutoFit/>
          </a:bodyPr>
          <a:p>
            <a:pPr defTabSz="457200">
              <a:lnSpc>
                <a:spcPct val="100000"/>
              </a:lnSpc>
            </a:pPr>
            <a:r>
              <a:rPr b="0" lang="pt-BR" sz="1000" spc="-1" strike="noStrike">
                <a:solidFill>
                  <a:srgbClr val="1e2d52"/>
                </a:solidFill>
                <a:latin typeface="Calibri"/>
              </a:rPr>
              <a:t>Releases versionadas com snapshot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5" name="Rectangle 31"/>
          <p:cNvSpPr/>
          <p:nvPr/>
        </p:nvSpPr>
        <p:spPr>
          <a:xfrm>
            <a:off x="640080" y="5886720"/>
            <a:ext cx="3514680" cy="376200"/>
          </a:xfrm>
          <a:prstGeom prst="rect">
            <a:avLst/>
          </a:prstGeom>
          <a:solidFill>
            <a:srgbClr val="f1f5f9"/>
          </a:solidFill>
          <a:ln w="5080">
            <a:solidFill>
              <a:srgbClr val="9ca3a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46" name="Rectangle 32"/>
          <p:cNvSpPr/>
          <p:nvPr/>
        </p:nvSpPr>
        <p:spPr>
          <a:xfrm>
            <a:off x="640080" y="5886720"/>
            <a:ext cx="90720" cy="376200"/>
          </a:xfrm>
          <a:prstGeom prst="rect">
            <a:avLst/>
          </a:prstGeom>
          <a:solidFill>
            <a:srgbClr val="05966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47" name="TextBox 33"/>
          <p:cNvSpPr/>
          <p:nvPr/>
        </p:nvSpPr>
        <p:spPr>
          <a:xfrm>
            <a:off x="841320" y="5962320"/>
            <a:ext cx="3222000" cy="22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36720" bIns="36720" anchor="ctr">
            <a:spAutoFit/>
          </a:bodyPr>
          <a:p>
            <a:pPr defTabSz="457200">
              <a:lnSpc>
                <a:spcPct val="100000"/>
              </a:lnSpc>
            </a:pPr>
            <a:r>
              <a:rPr b="0" lang="pt-BR" sz="1000" spc="-1" strike="noStrike">
                <a:solidFill>
                  <a:srgbClr val="1e2d52"/>
                </a:solidFill>
                <a:latin typeface="Calibri"/>
              </a:rPr>
              <a:t>Tickets de incidente roteados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8" name="Rectangle 34"/>
          <p:cNvSpPr/>
          <p:nvPr/>
        </p:nvSpPr>
        <p:spPr>
          <a:xfrm>
            <a:off x="4338360" y="1691640"/>
            <a:ext cx="3514680" cy="502200"/>
          </a:xfrm>
          <a:prstGeom prst="rect">
            <a:avLst/>
          </a:prstGeom>
          <a:solidFill>
            <a:srgbClr val="d9770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49" name="TextBox 35"/>
          <p:cNvSpPr/>
          <p:nvPr/>
        </p:nvSpPr>
        <p:spPr>
          <a:xfrm>
            <a:off x="4338360" y="1799640"/>
            <a:ext cx="3514680" cy="28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36720" bIns="3672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1" lang="pt-BR" sz="1400" spc="-1" strike="noStrike">
                <a:solidFill>
                  <a:srgbClr val="ffffff"/>
                </a:solidFill>
                <a:latin typeface="Calibri"/>
              </a:rPr>
              <a:t>V1+ — Próximos releases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0" name="Rectangle 36"/>
          <p:cNvSpPr/>
          <p:nvPr/>
        </p:nvSpPr>
        <p:spPr>
          <a:xfrm>
            <a:off x="4338360" y="2286000"/>
            <a:ext cx="3514680" cy="601200"/>
          </a:xfrm>
          <a:prstGeom prst="rect">
            <a:avLst/>
          </a:prstGeom>
          <a:solidFill>
            <a:srgbClr val="f1f5f9"/>
          </a:solidFill>
          <a:ln w="5080">
            <a:solidFill>
              <a:srgbClr val="9ca3a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51" name="Rectangle 37"/>
          <p:cNvSpPr/>
          <p:nvPr/>
        </p:nvSpPr>
        <p:spPr>
          <a:xfrm>
            <a:off x="4338360" y="2286000"/>
            <a:ext cx="90720" cy="601200"/>
          </a:xfrm>
          <a:prstGeom prst="rect">
            <a:avLst/>
          </a:prstGeom>
          <a:solidFill>
            <a:srgbClr val="d9770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52" name="TextBox 38"/>
          <p:cNvSpPr/>
          <p:nvPr/>
        </p:nvSpPr>
        <p:spPr>
          <a:xfrm>
            <a:off x="4539240" y="2473920"/>
            <a:ext cx="3222000" cy="22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36720" bIns="36720" anchor="ctr">
            <a:spAutoFit/>
          </a:bodyPr>
          <a:p>
            <a:pPr defTabSz="457200">
              <a:lnSpc>
                <a:spcPct val="100000"/>
              </a:lnSpc>
            </a:pPr>
            <a:r>
              <a:rPr b="0" lang="pt-BR" sz="1000" spc="-1" strike="noStrike">
                <a:solidFill>
                  <a:srgbClr val="1e2d52"/>
                </a:solidFill>
                <a:latin typeface="Calibri"/>
              </a:rPr>
              <a:t>SSO via OIDC (Azure AD, Okta, Google)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3" name="Rectangle 39"/>
          <p:cNvSpPr/>
          <p:nvPr/>
        </p:nvSpPr>
        <p:spPr>
          <a:xfrm>
            <a:off x="4338360" y="2961000"/>
            <a:ext cx="3514680" cy="601200"/>
          </a:xfrm>
          <a:prstGeom prst="rect">
            <a:avLst/>
          </a:prstGeom>
          <a:solidFill>
            <a:srgbClr val="f1f5f9"/>
          </a:solidFill>
          <a:ln w="5080">
            <a:solidFill>
              <a:srgbClr val="9ca3a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54" name="Rectangle 40"/>
          <p:cNvSpPr/>
          <p:nvPr/>
        </p:nvSpPr>
        <p:spPr>
          <a:xfrm>
            <a:off x="4338360" y="2961000"/>
            <a:ext cx="90720" cy="601200"/>
          </a:xfrm>
          <a:prstGeom prst="rect">
            <a:avLst/>
          </a:prstGeom>
          <a:solidFill>
            <a:srgbClr val="d9770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55" name="TextBox 41"/>
          <p:cNvSpPr/>
          <p:nvPr/>
        </p:nvSpPr>
        <p:spPr>
          <a:xfrm>
            <a:off x="4539240" y="3148920"/>
            <a:ext cx="3222000" cy="22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36720" bIns="36720" anchor="ctr">
            <a:spAutoFit/>
          </a:bodyPr>
          <a:p>
            <a:pPr defTabSz="457200">
              <a:lnSpc>
                <a:spcPct val="100000"/>
              </a:lnSpc>
            </a:pPr>
            <a:r>
              <a:rPr b="0" lang="pt-BR" sz="1000" spc="-1" strike="noStrike">
                <a:solidFill>
                  <a:srgbClr val="1e2d52"/>
                </a:solidFill>
                <a:latin typeface="Calibri"/>
              </a:rPr>
              <a:t>SAML 2.0 corporativo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6" name="Rectangle 42"/>
          <p:cNvSpPr/>
          <p:nvPr/>
        </p:nvSpPr>
        <p:spPr>
          <a:xfrm>
            <a:off x="4338360" y="3636360"/>
            <a:ext cx="3514680" cy="601200"/>
          </a:xfrm>
          <a:prstGeom prst="rect">
            <a:avLst/>
          </a:prstGeom>
          <a:solidFill>
            <a:srgbClr val="f1f5f9"/>
          </a:solidFill>
          <a:ln w="5080">
            <a:solidFill>
              <a:srgbClr val="9ca3a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57" name="Rectangle 43"/>
          <p:cNvSpPr/>
          <p:nvPr/>
        </p:nvSpPr>
        <p:spPr>
          <a:xfrm>
            <a:off x="4338360" y="3636360"/>
            <a:ext cx="90720" cy="601200"/>
          </a:xfrm>
          <a:prstGeom prst="rect">
            <a:avLst/>
          </a:prstGeom>
          <a:solidFill>
            <a:srgbClr val="d9770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58" name="TextBox 44"/>
          <p:cNvSpPr/>
          <p:nvPr/>
        </p:nvSpPr>
        <p:spPr>
          <a:xfrm>
            <a:off x="4539240" y="3824280"/>
            <a:ext cx="3222000" cy="22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36720" bIns="36720" anchor="ctr">
            <a:spAutoFit/>
          </a:bodyPr>
          <a:p>
            <a:pPr defTabSz="457200">
              <a:lnSpc>
                <a:spcPct val="100000"/>
              </a:lnSpc>
            </a:pPr>
            <a:r>
              <a:rPr b="0" lang="pt-BR" sz="1000" spc="-1" strike="noStrike">
                <a:solidFill>
                  <a:srgbClr val="1e2d52"/>
                </a:solidFill>
                <a:latin typeface="Calibri"/>
              </a:rPr>
              <a:t>Wizard de instalação assistida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9" name="Rectangle 45"/>
          <p:cNvSpPr/>
          <p:nvPr/>
        </p:nvSpPr>
        <p:spPr>
          <a:xfrm>
            <a:off x="4338360" y="4311360"/>
            <a:ext cx="3514680" cy="601200"/>
          </a:xfrm>
          <a:prstGeom prst="rect">
            <a:avLst/>
          </a:prstGeom>
          <a:solidFill>
            <a:srgbClr val="f1f5f9"/>
          </a:solidFill>
          <a:ln w="5080">
            <a:solidFill>
              <a:srgbClr val="9ca3a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60" name="Rectangle 46"/>
          <p:cNvSpPr/>
          <p:nvPr/>
        </p:nvSpPr>
        <p:spPr>
          <a:xfrm>
            <a:off x="4338360" y="4311360"/>
            <a:ext cx="90720" cy="601200"/>
          </a:xfrm>
          <a:prstGeom prst="rect">
            <a:avLst/>
          </a:prstGeom>
          <a:solidFill>
            <a:srgbClr val="d9770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61" name="TextBox 47"/>
          <p:cNvSpPr/>
          <p:nvPr/>
        </p:nvSpPr>
        <p:spPr>
          <a:xfrm>
            <a:off x="4539240" y="4499280"/>
            <a:ext cx="3222000" cy="22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36720" bIns="36720" anchor="ctr">
            <a:spAutoFit/>
          </a:bodyPr>
          <a:p>
            <a:pPr defTabSz="457200">
              <a:lnSpc>
                <a:spcPct val="100000"/>
              </a:lnSpc>
            </a:pPr>
            <a:r>
              <a:rPr b="0" lang="pt-BR" sz="1000" spc="-1" strike="noStrike">
                <a:solidFill>
                  <a:srgbClr val="1e2d52"/>
                </a:solidFill>
                <a:latin typeface="Calibri"/>
              </a:rPr>
              <a:t>Auto-upgrade preservando dados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2" name="Rectangle 48"/>
          <p:cNvSpPr/>
          <p:nvPr/>
        </p:nvSpPr>
        <p:spPr>
          <a:xfrm>
            <a:off x="4338360" y="4986360"/>
            <a:ext cx="3514680" cy="601200"/>
          </a:xfrm>
          <a:prstGeom prst="rect">
            <a:avLst/>
          </a:prstGeom>
          <a:solidFill>
            <a:srgbClr val="f1f5f9"/>
          </a:solidFill>
          <a:ln w="5080">
            <a:solidFill>
              <a:srgbClr val="9ca3a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63" name="Rectangle 49"/>
          <p:cNvSpPr/>
          <p:nvPr/>
        </p:nvSpPr>
        <p:spPr>
          <a:xfrm>
            <a:off x="4338360" y="4986360"/>
            <a:ext cx="90720" cy="601200"/>
          </a:xfrm>
          <a:prstGeom prst="rect">
            <a:avLst/>
          </a:prstGeom>
          <a:solidFill>
            <a:srgbClr val="d9770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64" name="TextBox 50"/>
          <p:cNvSpPr/>
          <p:nvPr/>
        </p:nvSpPr>
        <p:spPr>
          <a:xfrm>
            <a:off x="4539240" y="5174280"/>
            <a:ext cx="3222000" cy="22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36720" bIns="36720" anchor="ctr">
            <a:spAutoFit/>
          </a:bodyPr>
          <a:p>
            <a:pPr defTabSz="457200">
              <a:lnSpc>
                <a:spcPct val="100000"/>
              </a:lnSpc>
            </a:pPr>
            <a:r>
              <a:rPr b="0" lang="pt-BR" sz="1000" spc="-1" strike="noStrike">
                <a:solidFill>
                  <a:srgbClr val="1e2d52"/>
                </a:solidFill>
                <a:latin typeface="Calibri"/>
              </a:rPr>
              <a:t>Multi-instância federada (read-only)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5" name="Rectangle 51"/>
          <p:cNvSpPr/>
          <p:nvPr/>
        </p:nvSpPr>
        <p:spPr>
          <a:xfrm>
            <a:off x="4338360" y="5661720"/>
            <a:ext cx="3514680" cy="601200"/>
          </a:xfrm>
          <a:prstGeom prst="rect">
            <a:avLst/>
          </a:prstGeom>
          <a:solidFill>
            <a:srgbClr val="f1f5f9"/>
          </a:solidFill>
          <a:ln w="5080">
            <a:solidFill>
              <a:srgbClr val="9ca3a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66" name="Rectangle 52"/>
          <p:cNvSpPr/>
          <p:nvPr/>
        </p:nvSpPr>
        <p:spPr>
          <a:xfrm>
            <a:off x="4338360" y="5661720"/>
            <a:ext cx="90720" cy="601200"/>
          </a:xfrm>
          <a:prstGeom prst="rect">
            <a:avLst/>
          </a:prstGeom>
          <a:solidFill>
            <a:srgbClr val="d9770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67" name="TextBox 53"/>
          <p:cNvSpPr/>
          <p:nvPr/>
        </p:nvSpPr>
        <p:spPr>
          <a:xfrm>
            <a:off x="4539240" y="5849640"/>
            <a:ext cx="3222000" cy="22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36720" bIns="36720" anchor="ctr">
            <a:spAutoFit/>
          </a:bodyPr>
          <a:p>
            <a:pPr defTabSz="457200">
              <a:lnSpc>
                <a:spcPct val="100000"/>
              </a:lnSpc>
            </a:pPr>
            <a:r>
              <a:rPr b="0" lang="pt-BR" sz="1000" spc="-1" strike="noStrike">
                <a:solidFill>
                  <a:srgbClr val="1e2d52"/>
                </a:solidFill>
                <a:latin typeface="Calibri"/>
              </a:rPr>
              <a:t>Backup off-site assinado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8" name="Rectangle 54"/>
          <p:cNvSpPr/>
          <p:nvPr/>
        </p:nvSpPr>
        <p:spPr>
          <a:xfrm>
            <a:off x="8036280" y="1691640"/>
            <a:ext cx="3514680" cy="502200"/>
          </a:xfrm>
          <a:prstGeom prst="rect">
            <a:avLst/>
          </a:prstGeom>
          <a:solidFill>
            <a:srgbClr val="6d28d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69" name="TextBox 55"/>
          <p:cNvSpPr/>
          <p:nvPr/>
        </p:nvSpPr>
        <p:spPr>
          <a:xfrm>
            <a:off x="8036280" y="1799640"/>
            <a:ext cx="3514680" cy="28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36720" bIns="3672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1" lang="pt-BR" sz="1400" spc="-1" strike="noStrike">
                <a:solidFill>
                  <a:srgbClr val="ffffff"/>
                </a:solidFill>
                <a:latin typeface="Calibri"/>
              </a:rPr>
              <a:t>V2 — Visão de produto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0" name="Rectangle 56"/>
          <p:cNvSpPr/>
          <p:nvPr/>
        </p:nvSpPr>
        <p:spPr>
          <a:xfrm>
            <a:off x="8036280" y="2286000"/>
            <a:ext cx="3514680" cy="601200"/>
          </a:xfrm>
          <a:prstGeom prst="rect">
            <a:avLst/>
          </a:prstGeom>
          <a:solidFill>
            <a:srgbClr val="f1f5f9"/>
          </a:solidFill>
          <a:ln w="5080">
            <a:solidFill>
              <a:srgbClr val="9ca3a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71" name="Rectangle 57"/>
          <p:cNvSpPr/>
          <p:nvPr/>
        </p:nvSpPr>
        <p:spPr>
          <a:xfrm>
            <a:off x="8036280" y="2286000"/>
            <a:ext cx="90720" cy="601200"/>
          </a:xfrm>
          <a:prstGeom prst="rect">
            <a:avLst/>
          </a:prstGeom>
          <a:solidFill>
            <a:srgbClr val="6d28d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72" name="TextBox 58"/>
          <p:cNvSpPr/>
          <p:nvPr/>
        </p:nvSpPr>
        <p:spPr>
          <a:xfrm>
            <a:off x="8237520" y="2473920"/>
            <a:ext cx="3222000" cy="22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36720" bIns="36720" anchor="ctr">
            <a:spAutoFit/>
          </a:bodyPr>
          <a:p>
            <a:pPr defTabSz="457200">
              <a:lnSpc>
                <a:spcPct val="100000"/>
              </a:lnSpc>
            </a:pPr>
            <a:r>
              <a:rPr b="0" lang="pt-BR" sz="1000" spc="-1" strike="noStrike">
                <a:solidFill>
                  <a:srgbClr val="1e2d52"/>
                </a:solidFill>
                <a:latin typeface="Calibri"/>
              </a:rPr>
              <a:t>Federação cross-instância (benchmarks)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3" name="Rectangle 59"/>
          <p:cNvSpPr/>
          <p:nvPr/>
        </p:nvSpPr>
        <p:spPr>
          <a:xfrm>
            <a:off x="8036280" y="2961000"/>
            <a:ext cx="3514680" cy="601200"/>
          </a:xfrm>
          <a:prstGeom prst="rect">
            <a:avLst/>
          </a:prstGeom>
          <a:solidFill>
            <a:srgbClr val="f1f5f9"/>
          </a:solidFill>
          <a:ln w="5080">
            <a:solidFill>
              <a:srgbClr val="9ca3a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74" name="Rectangle 60"/>
          <p:cNvSpPr/>
          <p:nvPr/>
        </p:nvSpPr>
        <p:spPr>
          <a:xfrm>
            <a:off x="8036280" y="2961000"/>
            <a:ext cx="90720" cy="601200"/>
          </a:xfrm>
          <a:prstGeom prst="rect">
            <a:avLst/>
          </a:prstGeom>
          <a:solidFill>
            <a:srgbClr val="6d28d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75" name="TextBox 61"/>
          <p:cNvSpPr/>
          <p:nvPr/>
        </p:nvSpPr>
        <p:spPr>
          <a:xfrm>
            <a:off x="8237520" y="3148920"/>
            <a:ext cx="3222000" cy="22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36720" bIns="36720" anchor="ctr">
            <a:spAutoFit/>
          </a:bodyPr>
          <a:p>
            <a:pPr defTabSz="457200">
              <a:lnSpc>
                <a:spcPct val="100000"/>
              </a:lnSpc>
            </a:pPr>
            <a:r>
              <a:rPr b="0" lang="pt-BR" sz="1000" spc="-1" strike="noStrike">
                <a:solidFill>
                  <a:srgbClr val="1e2d52"/>
                </a:solidFill>
                <a:latin typeface="Calibri"/>
              </a:rPr>
              <a:t>Marketplace de prompts curados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6" name="Rectangle 62"/>
          <p:cNvSpPr/>
          <p:nvPr/>
        </p:nvSpPr>
        <p:spPr>
          <a:xfrm>
            <a:off x="8036280" y="3636360"/>
            <a:ext cx="3514680" cy="601200"/>
          </a:xfrm>
          <a:prstGeom prst="rect">
            <a:avLst/>
          </a:prstGeom>
          <a:solidFill>
            <a:srgbClr val="f1f5f9"/>
          </a:solidFill>
          <a:ln w="5080">
            <a:solidFill>
              <a:srgbClr val="9ca3a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77" name="Rectangle 63"/>
          <p:cNvSpPr/>
          <p:nvPr/>
        </p:nvSpPr>
        <p:spPr>
          <a:xfrm>
            <a:off x="8036280" y="3636360"/>
            <a:ext cx="90720" cy="601200"/>
          </a:xfrm>
          <a:prstGeom prst="rect">
            <a:avLst/>
          </a:prstGeom>
          <a:solidFill>
            <a:srgbClr val="6d28d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78" name="TextBox 64"/>
          <p:cNvSpPr/>
          <p:nvPr/>
        </p:nvSpPr>
        <p:spPr>
          <a:xfrm>
            <a:off x="8237520" y="3824280"/>
            <a:ext cx="3222000" cy="22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36720" bIns="36720" anchor="ctr">
            <a:spAutoFit/>
          </a:bodyPr>
          <a:p>
            <a:pPr defTabSz="457200">
              <a:lnSpc>
                <a:spcPct val="100000"/>
              </a:lnSpc>
            </a:pPr>
            <a:r>
              <a:rPr b="0" lang="pt-BR" sz="1000" spc="-1" strike="noStrike">
                <a:solidFill>
                  <a:srgbClr val="1e2d52"/>
                </a:solidFill>
                <a:latin typeface="Calibri"/>
              </a:rPr>
              <a:t>Hardening operacional avançado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9" name="Rectangle 65"/>
          <p:cNvSpPr/>
          <p:nvPr/>
        </p:nvSpPr>
        <p:spPr>
          <a:xfrm>
            <a:off x="8036280" y="4311360"/>
            <a:ext cx="3514680" cy="601200"/>
          </a:xfrm>
          <a:prstGeom prst="rect">
            <a:avLst/>
          </a:prstGeom>
          <a:solidFill>
            <a:srgbClr val="f1f5f9"/>
          </a:solidFill>
          <a:ln w="5080">
            <a:solidFill>
              <a:srgbClr val="9ca3a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80" name="Rectangle 66"/>
          <p:cNvSpPr/>
          <p:nvPr/>
        </p:nvSpPr>
        <p:spPr>
          <a:xfrm>
            <a:off x="8036280" y="4311360"/>
            <a:ext cx="90720" cy="601200"/>
          </a:xfrm>
          <a:prstGeom prst="rect">
            <a:avLst/>
          </a:prstGeom>
          <a:solidFill>
            <a:srgbClr val="6d28d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81" name="TextBox 67"/>
          <p:cNvSpPr/>
          <p:nvPr/>
        </p:nvSpPr>
        <p:spPr>
          <a:xfrm>
            <a:off x="8237520" y="4499280"/>
            <a:ext cx="3222000" cy="22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36720" bIns="36720" anchor="ctr">
            <a:spAutoFit/>
          </a:bodyPr>
          <a:p>
            <a:pPr defTabSz="457200">
              <a:lnSpc>
                <a:spcPct val="100000"/>
              </a:lnSpc>
            </a:pPr>
            <a:r>
              <a:rPr b="0" lang="pt-BR" sz="1000" spc="-1" strike="noStrike">
                <a:solidFill>
                  <a:srgbClr val="1e2d52"/>
                </a:solidFill>
                <a:latin typeface="Calibri"/>
              </a:rPr>
              <a:t>Versionamento de releases declarativas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2" name="Rectangle 68"/>
          <p:cNvSpPr/>
          <p:nvPr/>
        </p:nvSpPr>
        <p:spPr>
          <a:xfrm>
            <a:off x="8036280" y="4986360"/>
            <a:ext cx="3514680" cy="601200"/>
          </a:xfrm>
          <a:prstGeom prst="rect">
            <a:avLst/>
          </a:prstGeom>
          <a:solidFill>
            <a:srgbClr val="f1f5f9"/>
          </a:solidFill>
          <a:ln w="5080">
            <a:solidFill>
              <a:srgbClr val="9ca3a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83" name="Rectangle 69"/>
          <p:cNvSpPr/>
          <p:nvPr/>
        </p:nvSpPr>
        <p:spPr>
          <a:xfrm>
            <a:off x="8036280" y="4986360"/>
            <a:ext cx="90720" cy="601200"/>
          </a:xfrm>
          <a:prstGeom prst="rect">
            <a:avLst/>
          </a:prstGeom>
          <a:solidFill>
            <a:srgbClr val="6d28d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84" name="TextBox 70"/>
          <p:cNvSpPr/>
          <p:nvPr/>
        </p:nvSpPr>
        <p:spPr>
          <a:xfrm>
            <a:off x="8237520" y="5174280"/>
            <a:ext cx="3222000" cy="22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36720" bIns="36720" anchor="ctr">
            <a:spAutoFit/>
          </a:bodyPr>
          <a:p>
            <a:pPr defTabSz="457200">
              <a:lnSpc>
                <a:spcPct val="100000"/>
              </a:lnSpc>
            </a:pPr>
            <a:r>
              <a:rPr b="0" lang="pt-BR" sz="1000" spc="-1" strike="noStrike">
                <a:solidFill>
                  <a:srgbClr val="1e2d52"/>
                </a:solidFill>
                <a:latin typeface="Calibri"/>
              </a:rPr>
              <a:t>Trocas autorizadas entre instâncias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5" name="Rectangle 71"/>
          <p:cNvSpPr/>
          <p:nvPr/>
        </p:nvSpPr>
        <p:spPr>
          <a:xfrm>
            <a:off x="8036280" y="5661720"/>
            <a:ext cx="3514680" cy="601200"/>
          </a:xfrm>
          <a:prstGeom prst="rect">
            <a:avLst/>
          </a:prstGeom>
          <a:solidFill>
            <a:srgbClr val="f1f5f9"/>
          </a:solidFill>
          <a:ln w="5080">
            <a:solidFill>
              <a:srgbClr val="9ca3a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86" name="Rectangle 72"/>
          <p:cNvSpPr/>
          <p:nvPr/>
        </p:nvSpPr>
        <p:spPr>
          <a:xfrm>
            <a:off x="8036280" y="5661720"/>
            <a:ext cx="90720" cy="601200"/>
          </a:xfrm>
          <a:prstGeom prst="rect">
            <a:avLst/>
          </a:prstGeom>
          <a:solidFill>
            <a:srgbClr val="6d28d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87" name="TextBox 73"/>
          <p:cNvSpPr/>
          <p:nvPr/>
        </p:nvSpPr>
        <p:spPr>
          <a:xfrm>
            <a:off x="8237520" y="5849640"/>
            <a:ext cx="3222000" cy="22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36720" bIns="36720" anchor="ctr">
            <a:spAutoFit/>
          </a:bodyPr>
          <a:p>
            <a:pPr defTabSz="457200">
              <a:lnSpc>
                <a:spcPct val="100000"/>
              </a:lnSpc>
            </a:pPr>
            <a:r>
              <a:rPr b="0" lang="pt-BR" sz="1000" spc="-1" strike="noStrike">
                <a:solidFill>
                  <a:srgbClr val="1e2d52"/>
                </a:solidFill>
                <a:latin typeface="Calibri"/>
              </a:rPr>
              <a:t>Dashboard executivo cross-instância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8" name="Rectangle 74"/>
          <p:cNvSpPr/>
          <p:nvPr/>
        </p:nvSpPr>
        <p:spPr>
          <a:xfrm>
            <a:off x="0" y="6583680"/>
            <a:ext cx="12191040" cy="17640"/>
          </a:xfrm>
          <a:prstGeom prst="rect">
            <a:avLst/>
          </a:prstGeom>
          <a:solidFill>
            <a:srgbClr val="9ca3a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6640" bIns="-26640" anchor="ctr">
            <a:noAutofit/>
          </a:bodyPr>
          <a:p>
            <a:pPr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89" name="TextBox 75"/>
          <p:cNvSpPr/>
          <p:nvPr/>
        </p:nvSpPr>
        <p:spPr>
          <a:xfrm>
            <a:off x="640080" y="6615720"/>
            <a:ext cx="7314480" cy="21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36720" bIns="36720" anchor="ctr">
            <a:spAutoFit/>
          </a:bodyPr>
          <a:p>
            <a:pPr defTabSz="457200">
              <a:lnSpc>
                <a:spcPct val="100000"/>
              </a:lnSpc>
            </a:pPr>
            <a:r>
              <a:rPr b="0" lang="pt-BR" sz="900" spc="-1" strike="noStrike">
                <a:solidFill>
                  <a:srgbClr val="64748b"/>
                </a:solidFill>
                <a:latin typeface="Calibri"/>
              </a:rPr>
              <a:t>GCA — Gestão de Codificação Assistida · Apresentação Comercial</a:t>
            </a:r>
            <a:endParaRPr b="0" lang="pt-B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0" name="TextBox 76"/>
          <p:cNvSpPr/>
          <p:nvPr/>
        </p:nvSpPr>
        <p:spPr>
          <a:xfrm>
            <a:off x="10820160" y="6615720"/>
            <a:ext cx="913680" cy="21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36720" bIns="36720" anchor="ctr">
            <a:spAutoFit/>
          </a:bodyPr>
          <a:p>
            <a:pPr algn="r" defTabSz="457200">
              <a:lnSpc>
                <a:spcPct val="100000"/>
              </a:lnSpc>
            </a:pPr>
            <a:r>
              <a:rPr b="0" lang="pt-BR" sz="900" spc="-1" strike="noStrike">
                <a:solidFill>
                  <a:srgbClr val="64748b"/>
                </a:solidFill>
                <a:latin typeface="Calibri"/>
              </a:rPr>
              <a:t>9 / 13</a:t>
            </a:r>
            <a:endParaRPr b="0" lang="pt-BR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Rectangle 1"/>
          <p:cNvSpPr/>
          <p:nvPr/>
        </p:nvSpPr>
        <p:spPr>
          <a:xfrm>
            <a:off x="0" y="0"/>
            <a:ext cx="12191040" cy="109080"/>
          </a:xfrm>
          <a:prstGeom prst="rect">
            <a:avLst/>
          </a:prstGeom>
          <a:solidFill>
            <a:srgbClr val="1e2d5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92" name="TextBox 2"/>
          <p:cNvSpPr/>
          <p:nvPr/>
        </p:nvSpPr>
        <p:spPr>
          <a:xfrm>
            <a:off x="640080" y="316800"/>
            <a:ext cx="5485680" cy="22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36720" bIns="3672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pt-BR" sz="1000" spc="-1" strike="noStrike">
                <a:solidFill>
                  <a:srgbClr val="6d28d9"/>
                </a:solidFill>
                <a:latin typeface="Calibri"/>
              </a:rPr>
              <a:t>06 · ROADMAP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3" name="TextBox 3"/>
          <p:cNvSpPr/>
          <p:nvPr/>
        </p:nvSpPr>
        <p:spPr>
          <a:xfrm>
            <a:off x="640080" y="984240"/>
            <a:ext cx="10057680" cy="49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36720" bIns="3672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pt-BR" sz="2800" spc="-1" strike="noStrike">
                <a:solidFill>
                  <a:srgbClr val="1e2d52"/>
                </a:solidFill>
                <a:latin typeface="Calibri"/>
              </a:rPr>
              <a:t>Próximas entregas definidas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94" name="Picture 4" descr="logogca.png"/>
          <p:cNvPicPr/>
          <p:nvPr/>
        </p:nvPicPr>
        <p:blipFill>
          <a:blip r:embed="rId1"/>
          <a:stretch/>
        </p:blipFill>
        <p:spPr>
          <a:xfrm>
            <a:off x="11076120" y="205560"/>
            <a:ext cx="748440" cy="502200"/>
          </a:xfrm>
          <a:prstGeom prst="rect">
            <a:avLst/>
          </a:prstGeom>
          <a:ln w="0">
            <a:noFill/>
          </a:ln>
        </p:spPr>
      </p:pic>
      <p:sp>
        <p:nvSpPr>
          <p:cNvPr id="395" name="Rectangle 5"/>
          <p:cNvSpPr/>
          <p:nvPr/>
        </p:nvSpPr>
        <p:spPr>
          <a:xfrm>
            <a:off x="640080" y="1691640"/>
            <a:ext cx="10910880" cy="100512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d5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96" name="Rectangle 6"/>
          <p:cNvSpPr/>
          <p:nvPr/>
        </p:nvSpPr>
        <p:spPr>
          <a:xfrm>
            <a:off x="640080" y="1691640"/>
            <a:ext cx="1279440" cy="1005120"/>
          </a:xfrm>
          <a:prstGeom prst="rect">
            <a:avLst/>
          </a:prstGeom>
          <a:solidFill>
            <a:srgbClr val="1e2d5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97" name="TextBox 7"/>
          <p:cNvSpPr/>
          <p:nvPr/>
        </p:nvSpPr>
        <p:spPr>
          <a:xfrm>
            <a:off x="640080" y="2051280"/>
            <a:ext cx="1279440" cy="28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36720" bIns="3672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1" lang="pt-BR" sz="1400" spc="-1" strike="noStrike">
                <a:solidFill>
                  <a:srgbClr val="ffffff"/>
                </a:solidFill>
                <a:latin typeface="Calibri"/>
              </a:rPr>
              <a:t>MVP 11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8" name="TextBox 8"/>
          <p:cNvSpPr/>
          <p:nvPr/>
        </p:nvSpPr>
        <p:spPr>
          <a:xfrm>
            <a:off x="2103120" y="1783080"/>
            <a:ext cx="7801920" cy="28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36720" bIns="3672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pt-BR" sz="1400" spc="-1" strike="noStrike">
                <a:solidFill>
                  <a:srgbClr val="1e2d52"/>
                </a:solidFill>
                <a:latin typeface="Calibri"/>
              </a:rPr>
              <a:t>Identity Federation — SSO via OIDC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9" name="TextBox 9"/>
          <p:cNvSpPr/>
          <p:nvPr/>
        </p:nvSpPr>
        <p:spPr>
          <a:xfrm>
            <a:off x="2103120" y="2194560"/>
            <a:ext cx="7801920" cy="24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36720" bIns="3672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pt-BR" sz="1100" spc="-1" strike="noStrike">
                <a:solidFill>
                  <a:srgbClr val="374151"/>
                </a:solidFill>
                <a:latin typeface="Calibri"/>
              </a:rPr>
              <a:t>Azure AD, Okta, Google Workspace, Keycloak. JIT provisioning. Fallback bcrypt sempre preservado.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0" name="Rectangle 10"/>
          <p:cNvSpPr/>
          <p:nvPr/>
        </p:nvSpPr>
        <p:spPr>
          <a:xfrm>
            <a:off x="10088640" y="1874520"/>
            <a:ext cx="1370880" cy="639360"/>
          </a:xfrm>
          <a:prstGeom prst="rect">
            <a:avLst/>
          </a:prstGeom>
          <a:solidFill>
            <a:srgbClr val="f1f5f9"/>
          </a:solidFill>
          <a:ln w="5080">
            <a:solidFill>
              <a:srgbClr val="9ca3a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01" name="TextBox 11"/>
          <p:cNvSpPr/>
          <p:nvPr/>
        </p:nvSpPr>
        <p:spPr>
          <a:xfrm>
            <a:off x="10088640" y="2066400"/>
            <a:ext cx="13708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36720" bIns="3672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1" lang="pt-BR" sz="1200" spc="-1" strike="noStrike">
                <a:solidFill>
                  <a:srgbClr val="6d28d9"/>
                </a:solidFill>
                <a:latin typeface="Calibri"/>
              </a:rPr>
              <a:t>3-4 dias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2" name="Rectangle 12"/>
          <p:cNvSpPr/>
          <p:nvPr/>
        </p:nvSpPr>
        <p:spPr>
          <a:xfrm>
            <a:off x="640080" y="2880360"/>
            <a:ext cx="10910880" cy="100512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d5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03" name="Rectangle 13"/>
          <p:cNvSpPr/>
          <p:nvPr/>
        </p:nvSpPr>
        <p:spPr>
          <a:xfrm>
            <a:off x="640080" y="2880360"/>
            <a:ext cx="1279440" cy="1005120"/>
          </a:xfrm>
          <a:prstGeom prst="rect">
            <a:avLst/>
          </a:prstGeom>
          <a:solidFill>
            <a:srgbClr val="1e2d5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04" name="TextBox 14"/>
          <p:cNvSpPr/>
          <p:nvPr/>
        </p:nvSpPr>
        <p:spPr>
          <a:xfrm>
            <a:off x="640080" y="3240000"/>
            <a:ext cx="1279440" cy="28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36720" bIns="3672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1" lang="pt-BR" sz="1400" spc="-1" strike="noStrike">
                <a:solidFill>
                  <a:srgbClr val="ffffff"/>
                </a:solidFill>
                <a:latin typeface="Calibri"/>
              </a:rPr>
              <a:t>MVP 12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5" name="TextBox 15"/>
          <p:cNvSpPr/>
          <p:nvPr/>
        </p:nvSpPr>
        <p:spPr>
          <a:xfrm>
            <a:off x="2103120" y="2971800"/>
            <a:ext cx="7801920" cy="28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36720" bIns="3672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pt-BR" sz="1400" spc="-1" strike="noStrike">
                <a:solidFill>
                  <a:srgbClr val="1e2d52"/>
                </a:solidFill>
                <a:latin typeface="Calibri"/>
              </a:rPr>
              <a:t>SAML 2.0 corporativo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6" name="TextBox 16"/>
          <p:cNvSpPr/>
          <p:nvPr/>
        </p:nvSpPr>
        <p:spPr>
          <a:xfrm>
            <a:off x="2103120" y="3383280"/>
            <a:ext cx="7801920" cy="24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36720" bIns="3672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pt-BR" sz="1100" spc="-1" strike="noStrike">
                <a:solidFill>
                  <a:srgbClr val="374151"/>
                </a:solidFill>
                <a:latin typeface="Calibri"/>
              </a:rPr>
              <a:t>ACS endpoint, metadata exchange, claim mapping. Para clientes que ainda padronizam SAML.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7" name="Rectangle 17"/>
          <p:cNvSpPr/>
          <p:nvPr/>
        </p:nvSpPr>
        <p:spPr>
          <a:xfrm>
            <a:off x="10088640" y="3063240"/>
            <a:ext cx="1370880" cy="639360"/>
          </a:xfrm>
          <a:prstGeom prst="rect">
            <a:avLst/>
          </a:prstGeom>
          <a:solidFill>
            <a:srgbClr val="f1f5f9"/>
          </a:solidFill>
          <a:ln w="5080">
            <a:solidFill>
              <a:srgbClr val="9ca3a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08" name="TextBox 18"/>
          <p:cNvSpPr/>
          <p:nvPr/>
        </p:nvSpPr>
        <p:spPr>
          <a:xfrm>
            <a:off x="10088640" y="3255120"/>
            <a:ext cx="13708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36720" bIns="3672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1" lang="pt-BR" sz="1200" spc="-1" strike="noStrike">
                <a:solidFill>
                  <a:srgbClr val="6d28d9"/>
                </a:solidFill>
                <a:latin typeface="Calibri"/>
              </a:rPr>
              <a:t>5-7 dias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9" name="Rectangle 19"/>
          <p:cNvSpPr/>
          <p:nvPr/>
        </p:nvSpPr>
        <p:spPr>
          <a:xfrm>
            <a:off x="640080" y="4069080"/>
            <a:ext cx="10910880" cy="100512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d5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10" name="Rectangle 20"/>
          <p:cNvSpPr/>
          <p:nvPr/>
        </p:nvSpPr>
        <p:spPr>
          <a:xfrm>
            <a:off x="640080" y="4069080"/>
            <a:ext cx="1279440" cy="1005120"/>
          </a:xfrm>
          <a:prstGeom prst="rect">
            <a:avLst/>
          </a:prstGeom>
          <a:solidFill>
            <a:srgbClr val="1e2d5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11" name="TextBox 21"/>
          <p:cNvSpPr/>
          <p:nvPr/>
        </p:nvSpPr>
        <p:spPr>
          <a:xfrm>
            <a:off x="640080" y="4428720"/>
            <a:ext cx="1279440" cy="28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36720" bIns="3672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1" lang="pt-BR" sz="1400" spc="-1" strike="noStrike">
                <a:solidFill>
                  <a:srgbClr val="ffffff"/>
                </a:solidFill>
                <a:latin typeface="Calibri"/>
              </a:rPr>
              <a:t>MVP 13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2" name="TextBox 22"/>
          <p:cNvSpPr/>
          <p:nvPr/>
        </p:nvSpPr>
        <p:spPr>
          <a:xfrm>
            <a:off x="2103120" y="4160520"/>
            <a:ext cx="7801920" cy="28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36720" bIns="3672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pt-BR" sz="1400" spc="-1" strike="noStrike">
                <a:solidFill>
                  <a:srgbClr val="1e2d52"/>
                </a:solidFill>
                <a:latin typeface="Calibri"/>
              </a:rPr>
              <a:t>Data Federation — métricas cross-instância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3" name="TextBox 23"/>
          <p:cNvSpPr/>
          <p:nvPr/>
        </p:nvSpPr>
        <p:spPr>
          <a:xfrm>
            <a:off x="2103120" y="4572000"/>
            <a:ext cx="7801920" cy="24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36720" bIns="3672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pt-BR" sz="1100" spc="-1" strike="noStrike">
                <a:solidFill>
                  <a:srgbClr val="374151"/>
                </a:solidFill>
                <a:latin typeface="Calibri"/>
              </a:rPr>
              <a:t>Endpoints /federation/* com mTLS, anonimização, allow-list explícito. Exige emenda formal ao contrato §3.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4" name="Rectangle 24"/>
          <p:cNvSpPr/>
          <p:nvPr/>
        </p:nvSpPr>
        <p:spPr>
          <a:xfrm>
            <a:off x="10088640" y="4251960"/>
            <a:ext cx="1370880" cy="639360"/>
          </a:xfrm>
          <a:prstGeom prst="rect">
            <a:avLst/>
          </a:prstGeom>
          <a:solidFill>
            <a:srgbClr val="f1f5f9"/>
          </a:solidFill>
          <a:ln w="5080">
            <a:solidFill>
              <a:srgbClr val="9ca3a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15" name="TextBox 25"/>
          <p:cNvSpPr/>
          <p:nvPr/>
        </p:nvSpPr>
        <p:spPr>
          <a:xfrm>
            <a:off x="10088640" y="4443840"/>
            <a:ext cx="13708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36720" bIns="3672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1" lang="pt-BR" sz="1200" spc="-1" strike="noStrike">
                <a:solidFill>
                  <a:srgbClr val="6d28d9"/>
                </a:solidFill>
                <a:latin typeface="Calibri"/>
              </a:rPr>
              <a:t>8-12 dias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6" name="Rectangle 26"/>
          <p:cNvSpPr/>
          <p:nvPr/>
        </p:nvSpPr>
        <p:spPr>
          <a:xfrm>
            <a:off x="640080" y="5257800"/>
            <a:ext cx="10910880" cy="100512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d5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17" name="Rectangle 27"/>
          <p:cNvSpPr/>
          <p:nvPr/>
        </p:nvSpPr>
        <p:spPr>
          <a:xfrm>
            <a:off x="640080" y="5257800"/>
            <a:ext cx="1279440" cy="1005120"/>
          </a:xfrm>
          <a:prstGeom prst="rect">
            <a:avLst/>
          </a:prstGeom>
          <a:solidFill>
            <a:srgbClr val="1e2d5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18" name="TextBox 28"/>
          <p:cNvSpPr/>
          <p:nvPr/>
        </p:nvSpPr>
        <p:spPr>
          <a:xfrm>
            <a:off x="640080" y="5617440"/>
            <a:ext cx="1279440" cy="28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36720" bIns="3672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1" lang="pt-BR" sz="1400" spc="-1" strike="noStrike">
                <a:solidFill>
                  <a:srgbClr val="ffffff"/>
                </a:solidFill>
                <a:latin typeface="Calibri"/>
              </a:rPr>
              <a:t>Hardening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9" name="TextBox 29"/>
          <p:cNvSpPr/>
          <p:nvPr/>
        </p:nvSpPr>
        <p:spPr>
          <a:xfrm>
            <a:off x="2103120" y="5349240"/>
            <a:ext cx="7801920" cy="28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36720" bIns="3672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pt-BR" sz="1400" spc="-1" strike="noStrike">
                <a:solidFill>
                  <a:srgbClr val="1e2d52"/>
                </a:solidFill>
                <a:latin typeface="Calibri"/>
              </a:rPr>
              <a:t>Wizard de instalação + auto-upgrade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0" name="TextBox 30"/>
          <p:cNvSpPr/>
          <p:nvPr/>
        </p:nvSpPr>
        <p:spPr>
          <a:xfrm>
            <a:off x="2103120" y="5760720"/>
            <a:ext cx="7801920" cy="24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36720" bIns="3672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pt-BR" sz="1100" spc="-1" strike="noStrike">
                <a:solidFill>
                  <a:srgbClr val="374151"/>
                </a:solidFill>
                <a:latin typeface="Calibri"/>
              </a:rPr>
              <a:t>Setup interativo Ubuntu/Windows, smoke tests, releases declarativas com snapshot pré-destrutiva.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1" name="Rectangle 31"/>
          <p:cNvSpPr/>
          <p:nvPr/>
        </p:nvSpPr>
        <p:spPr>
          <a:xfrm>
            <a:off x="10088640" y="5440680"/>
            <a:ext cx="1370880" cy="639360"/>
          </a:xfrm>
          <a:prstGeom prst="rect">
            <a:avLst/>
          </a:prstGeom>
          <a:solidFill>
            <a:srgbClr val="f1f5f9"/>
          </a:solidFill>
          <a:ln w="5080">
            <a:solidFill>
              <a:srgbClr val="9ca3a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22" name="TextBox 32"/>
          <p:cNvSpPr/>
          <p:nvPr/>
        </p:nvSpPr>
        <p:spPr>
          <a:xfrm>
            <a:off x="10088640" y="5632560"/>
            <a:ext cx="13708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36720" bIns="3672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1" lang="pt-BR" sz="1200" spc="-1" strike="noStrike">
                <a:solidFill>
                  <a:srgbClr val="6d28d9"/>
                </a:solidFill>
                <a:latin typeface="Calibri"/>
              </a:rPr>
              <a:t>Sub-projeto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3" name="Rectangle 33"/>
          <p:cNvSpPr/>
          <p:nvPr/>
        </p:nvSpPr>
        <p:spPr>
          <a:xfrm>
            <a:off x="0" y="6583680"/>
            <a:ext cx="12191040" cy="17640"/>
          </a:xfrm>
          <a:prstGeom prst="rect">
            <a:avLst/>
          </a:prstGeom>
          <a:solidFill>
            <a:srgbClr val="9ca3a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6640" bIns="-26640" anchor="ctr">
            <a:noAutofit/>
          </a:bodyPr>
          <a:p>
            <a:pPr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24" name="TextBox 34"/>
          <p:cNvSpPr/>
          <p:nvPr/>
        </p:nvSpPr>
        <p:spPr>
          <a:xfrm>
            <a:off x="640080" y="6615720"/>
            <a:ext cx="7314480" cy="21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36720" bIns="36720" anchor="ctr">
            <a:spAutoFit/>
          </a:bodyPr>
          <a:p>
            <a:pPr defTabSz="457200">
              <a:lnSpc>
                <a:spcPct val="100000"/>
              </a:lnSpc>
            </a:pPr>
            <a:r>
              <a:rPr b="0" lang="pt-BR" sz="900" spc="-1" strike="noStrike">
                <a:solidFill>
                  <a:srgbClr val="64748b"/>
                </a:solidFill>
                <a:latin typeface="Calibri"/>
              </a:rPr>
              <a:t>GCA — Gestão de Codificação Assistida · Apresentação Comercial</a:t>
            </a:r>
            <a:endParaRPr b="0" lang="pt-B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5" name="TextBox 35"/>
          <p:cNvSpPr/>
          <p:nvPr/>
        </p:nvSpPr>
        <p:spPr>
          <a:xfrm>
            <a:off x="10820160" y="6615720"/>
            <a:ext cx="913680" cy="21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36720" bIns="36720" anchor="ctr">
            <a:spAutoFit/>
          </a:bodyPr>
          <a:p>
            <a:pPr algn="r" defTabSz="457200">
              <a:lnSpc>
                <a:spcPct val="100000"/>
              </a:lnSpc>
            </a:pPr>
            <a:r>
              <a:rPr b="0" lang="pt-BR" sz="900" spc="-1" strike="noStrike">
                <a:solidFill>
                  <a:srgbClr val="64748b"/>
                </a:solidFill>
                <a:latin typeface="Calibri"/>
              </a:rPr>
              <a:t>10 / 13</a:t>
            </a:r>
            <a:endParaRPr b="0" lang="pt-BR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Rectangle 1"/>
          <p:cNvSpPr/>
          <p:nvPr/>
        </p:nvSpPr>
        <p:spPr>
          <a:xfrm>
            <a:off x="0" y="0"/>
            <a:ext cx="12191040" cy="109080"/>
          </a:xfrm>
          <a:prstGeom prst="rect">
            <a:avLst/>
          </a:prstGeom>
          <a:solidFill>
            <a:srgbClr val="1e2d5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27" name="TextBox 2"/>
          <p:cNvSpPr/>
          <p:nvPr/>
        </p:nvSpPr>
        <p:spPr>
          <a:xfrm>
            <a:off x="640080" y="316800"/>
            <a:ext cx="5485680" cy="22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36720" bIns="3672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pt-BR" sz="1000" spc="-1" strike="noStrike">
                <a:solidFill>
                  <a:srgbClr val="6d28d9"/>
                </a:solidFill>
                <a:latin typeface="Calibri"/>
              </a:rPr>
              <a:t>ESTADO DO PRODUTO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8" name="TextBox 3"/>
          <p:cNvSpPr/>
          <p:nvPr/>
        </p:nvSpPr>
        <p:spPr>
          <a:xfrm>
            <a:off x="640080" y="984240"/>
            <a:ext cx="10057680" cy="49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36720" bIns="3672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pt-BR" sz="2800" spc="-1" strike="noStrike">
                <a:solidFill>
                  <a:srgbClr val="1e2d52"/>
                </a:solidFill>
                <a:latin typeface="Calibri"/>
              </a:rPr>
              <a:t>Métricas atuais — abril de 2026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29" name="Picture 4" descr="logogca.png"/>
          <p:cNvPicPr/>
          <p:nvPr/>
        </p:nvPicPr>
        <p:blipFill>
          <a:blip r:embed="rId1"/>
          <a:stretch/>
        </p:blipFill>
        <p:spPr>
          <a:xfrm>
            <a:off x="11076120" y="205560"/>
            <a:ext cx="748440" cy="502200"/>
          </a:xfrm>
          <a:prstGeom prst="rect">
            <a:avLst/>
          </a:prstGeom>
          <a:ln w="0">
            <a:noFill/>
          </a:ln>
        </p:spPr>
      </p:pic>
      <p:sp>
        <p:nvSpPr>
          <p:cNvPr id="430" name="Rectangle 5"/>
          <p:cNvSpPr/>
          <p:nvPr/>
        </p:nvSpPr>
        <p:spPr>
          <a:xfrm>
            <a:off x="640080" y="1691640"/>
            <a:ext cx="3484080" cy="2193840"/>
          </a:xfrm>
          <a:prstGeom prst="rect">
            <a:avLst/>
          </a:prstGeom>
          <a:solidFill>
            <a:srgbClr val="ffffff"/>
          </a:solidFill>
          <a:ln w="19050">
            <a:solidFill>
              <a:srgbClr val="6d28d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31" name="TextBox 6"/>
          <p:cNvSpPr/>
          <p:nvPr/>
        </p:nvSpPr>
        <p:spPr>
          <a:xfrm>
            <a:off x="640080" y="2030040"/>
            <a:ext cx="3484080" cy="89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36720" bIns="3672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1" lang="pt-BR" sz="5400" spc="-1" strike="noStrike">
                <a:solidFill>
                  <a:srgbClr val="6d28d9"/>
                </a:solidFill>
                <a:latin typeface="Calibri"/>
              </a:rPr>
              <a:t>10</a:t>
            </a:r>
            <a:endParaRPr b="0" lang="pt-BR" sz="5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2" name="TextBox 7"/>
          <p:cNvSpPr/>
          <p:nvPr/>
        </p:nvSpPr>
        <p:spPr>
          <a:xfrm>
            <a:off x="640080" y="3311280"/>
            <a:ext cx="348408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36720" bIns="3672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0" lang="pt-BR" sz="1300" spc="-1" strike="noStrike">
                <a:solidFill>
                  <a:srgbClr val="1e293b"/>
                </a:solidFill>
                <a:latin typeface="Calibri"/>
              </a:rPr>
              <a:t>MVPs fechados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3" name="Rectangle 8"/>
          <p:cNvSpPr/>
          <p:nvPr/>
        </p:nvSpPr>
        <p:spPr>
          <a:xfrm>
            <a:off x="4353480" y="1691640"/>
            <a:ext cx="3484080" cy="2193840"/>
          </a:xfrm>
          <a:prstGeom prst="rect">
            <a:avLst/>
          </a:prstGeom>
          <a:solidFill>
            <a:srgbClr val="ffffff"/>
          </a:solidFill>
          <a:ln w="19050">
            <a:solidFill>
              <a:srgbClr val="05966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34" name="TextBox 9"/>
          <p:cNvSpPr/>
          <p:nvPr/>
        </p:nvSpPr>
        <p:spPr>
          <a:xfrm>
            <a:off x="4353480" y="2030040"/>
            <a:ext cx="3484080" cy="89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36720" bIns="3672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1" lang="pt-BR" sz="5400" spc="-1" strike="noStrike">
                <a:solidFill>
                  <a:srgbClr val="059669"/>
                </a:solidFill>
                <a:latin typeface="Calibri"/>
              </a:rPr>
              <a:t>1.162</a:t>
            </a:r>
            <a:endParaRPr b="0" lang="pt-BR" sz="5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5" name="TextBox 10"/>
          <p:cNvSpPr/>
          <p:nvPr/>
        </p:nvSpPr>
        <p:spPr>
          <a:xfrm>
            <a:off x="4353480" y="3311280"/>
            <a:ext cx="348408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36720" bIns="3672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0" lang="pt-BR" sz="1300" spc="-1" strike="noStrike">
                <a:solidFill>
                  <a:srgbClr val="1e293b"/>
                </a:solidFill>
                <a:latin typeface="Calibri"/>
              </a:rPr>
              <a:t>Testes de regressão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6" name="Rectangle 11"/>
          <p:cNvSpPr/>
          <p:nvPr/>
        </p:nvSpPr>
        <p:spPr>
          <a:xfrm>
            <a:off x="8066880" y="1691640"/>
            <a:ext cx="3484080" cy="2193840"/>
          </a:xfrm>
          <a:prstGeom prst="rect">
            <a:avLst/>
          </a:prstGeom>
          <a:solidFill>
            <a:srgbClr val="ffffff"/>
          </a:solidFill>
          <a:ln w="19050">
            <a:solidFill>
              <a:srgbClr val="d9770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37" name="TextBox 12"/>
          <p:cNvSpPr/>
          <p:nvPr/>
        </p:nvSpPr>
        <p:spPr>
          <a:xfrm>
            <a:off x="8066880" y="2030040"/>
            <a:ext cx="3484080" cy="89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36720" bIns="3672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1" lang="pt-BR" sz="5400" spc="-1" strike="noStrike">
                <a:solidFill>
                  <a:srgbClr val="d97706"/>
                </a:solidFill>
                <a:latin typeface="Calibri"/>
              </a:rPr>
              <a:t>7</a:t>
            </a:r>
            <a:endParaRPr b="0" lang="pt-BR" sz="5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8" name="TextBox 13"/>
          <p:cNvSpPr/>
          <p:nvPr/>
        </p:nvSpPr>
        <p:spPr>
          <a:xfrm>
            <a:off x="8066880" y="3311280"/>
            <a:ext cx="348408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36720" bIns="3672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0" lang="pt-BR" sz="1300" spc="-1" strike="noStrike">
                <a:solidFill>
                  <a:srgbClr val="1e293b"/>
                </a:solidFill>
                <a:latin typeface="Calibri"/>
              </a:rPr>
              <a:t>Linguagens em CodeGen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9" name="Rectangle 14"/>
          <p:cNvSpPr/>
          <p:nvPr/>
        </p:nvSpPr>
        <p:spPr>
          <a:xfrm>
            <a:off x="640080" y="4069080"/>
            <a:ext cx="3484080" cy="2193840"/>
          </a:xfrm>
          <a:prstGeom prst="rect">
            <a:avLst/>
          </a:prstGeom>
          <a:solidFill>
            <a:srgbClr val="ffffff"/>
          </a:solidFill>
          <a:ln w="19050">
            <a:solidFill>
              <a:srgbClr val="1e2d5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40" name="TextBox 15"/>
          <p:cNvSpPr/>
          <p:nvPr/>
        </p:nvSpPr>
        <p:spPr>
          <a:xfrm>
            <a:off x="640080" y="4407480"/>
            <a:ext cx="3484080" cy="89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36720" bIns="3672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1" lang="pt-BR" sz="5400" spc="-1" strike="noStrike">
                <a:solidFill>
                  <a:srgbClr val="1e2d52"/>
                </a:solidFill>
                <a:latin typeface="Calibri"/>
              </a:rPr>
              <a:t>5</a:t>
            </a:r>
            <a:endParaRPr b="0" lang="pt-BR" sz="5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1" name="TextBox 16"/>
          <p:cNvSpPr/>
          <p:nvPr/>
        </p:nvSpPr>
        <p:spPr>
          <a:xfrm>
            <a:off x="640080" y="5688720"/>
            <a:ext cx="348408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36720" bIns="3672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0" lang="pt-BR" sz="1300" spc="-1" strike="noStrike">
                <a:solidFill>
                  <a:srgbClr val="1e293b"/>
                </a:solidFill>
                <a:latin typeface="Calibri"/>
              </a:rPr>
              <a:t>Papéis canônicos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2" name="Rectangle 17"/>
          <p:cNvSpPr/>
          <p:nvPr/>
        </p:nvSpPr>
        <p:spPr>
          <a:xfrm>
            <a:off x="4353480" y="4069080"/>
            <a:ext cx="3484080" cy="2193840"/>
          </a:xfrm>
          <a:prstGeom prst="rect">
            <a:avLst/>
          </a:prstGeom>
          <a:solidFill>
            <a:srgbClr val="ffffff"/>
          </a:solidFill>
          <a:ln w="19050">
            <a:solidFill>
              <a:srgbClr val="05966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43" name="TextBox 18"/>
          <p:cNvSpPr/>
          <p:nvPr/>
        </p:nvSpPr>
        <p:spPr>
          <a:xfrm>
            <a:off x="4353480" y="4407480"/>
            <a:ext cx="3484080" cy="89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36720" bIns="3672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1" lang="pt-BR" sz="5400" spc="-1" strike="noStrike">
                <a:solidFill>
                  <a:srgbClr val="059669"/>
                </a:solidFill>
                <a:latin typeface="Calibri"/>
              </a:rPr>
              <a:t>0</a:t>
            </a:r>
            <a:endParaRPr b="0" lang="pt-BR" sz="5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4" name="TextBox 19"/>
          <p:cNvSpPr/>
          <p:nvPr/>
        </p:nvSpPr>
        <p:spPr>
          <a:xfrm>
            <a:off x="4353480" y="5688720"/>
            <a:ext cx="348408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36720" bIns="3672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0" lang="pt-BR" sz="1300" spc="-1" strike="noStrike">
                <a:solidFill>
                  <a:srgbClr val="1e293b"/>
                </a:solidFill>
                <a:latin typeface="Calibri"/>
              </a:rPr>
              <a:t>Dívidas bloqueantes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5" name="Rectangle 20"/>
          <p:cNvSpPr/>
          <p:nvPr/>
        </p:nvSpPr>
        <p:spPr>
          <a:xfrm>
            <a:off x="8066880" y="4069080"/>
            <a:ext cx="3484080" cy="2193840"/>
          </a:xfrm>
          <a:prstGeom prst="rect">
            <a:avLst/>
          </a:prstGeom>
          <a:solidFill>
            <a:srgbClr val="ffffff"/>
          </a:solidFill>
          <a:ln w="19050">
            <a:solidFill>
              <a:srgbClr val="6d28d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46" name="TextBox 21"/>
          <p:cNvSpPr/>
          <p:nvPr/>
        </p:nvSpPr>
        <p:spPr>
          <a:xfrm>
            <a:off x="8066880" y="4407480"/>
            <a:ext cx="3484080" cy="89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36720" bIns="3672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1" lang="pt-BR" sz="5400" spc="-1" strike="noStrike">
                <a:solidFill>
                  <a:srgbClr val="6d28d9"/>
                </a:solidFill>
                <a:latin typeface="Calibri"/>
              </a:rPr>
              <a:t>100%</a:t>
            </a:r>
            <a:endParaRPr b="0" lang="pt-BR" sz="5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7" name="TextBox 22"/>
          <p:cNvSpPr/>
          <p:nvPr/>
        </p:nvSpPr>
        <p:spPr>
          <a:xfrm>
            <a:off x="8066880" y="5688720"/>
            <a:ext cx="348408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36720" bIns="3672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0" lang="pt-BR" sz="1300" spc="-1" strike="noStrike">
                <a:solidFill>
                  <a:srgbClr val="1e293b"/>
                </a:solidFill>
                <a:latin typeface="Calibri"/>
              </a:rPr>
              <a:t>Compartimentalização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8" name="Rectangle 23"/>
          <p:cNvSpPr/>
          <p:nvPr/>
        </p:nvSpPr>
        <p:spPr>
          <a:xfrm>
            <a:off x="0" y="6583680"/>
            <a:ext cx="12191040" cy="17640"/>
          </a:xfrm>
          <a:prstGeom prst="rect">
            <a:avLst/>
          </a:prstGeom>
          <a:solidFill>
            <a:srgbClr val="9ca3a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6640" bIns="-26640" anchor="ctr">
            <a:noAutofit/>
          </a:bodyPr>
          <a:p>
            <a:pPr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49" name="TextBox 24"/>
          <p:cNvSpPr/>
          <p:nvPr/>
        </p:nvSpPr>
        <p:spPr>
          <a:xfrm>
            <a:off x="640080" y="6615720"/>
            <a:ext cx="7314480" cy="21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36720" bIns="36720" anchor="ctr">
            <a:spAutoFit/>
          </a:bodyPr>
          <a:p>
            <a:pPr defTabSz="457200">
              <a:lnSpc>
                <a:spcPct val="100000"/>
              </a:lnSpc>
            </a:pPr>
            <a:r>
              <a:rPr b="0" lang="pt-BR" sz="900" spc="-1" strike="noStrike">
                <a:solidFill>
                  <a:srgbClr val="64748b"/>
                </a:solidFill>
                <a:latin typeface="Calibri"/>
              </a:rPr>
              <a:t>GCA — Gestão de Codificação Assistida · Apresentação Comercial</a:t>
            </a:r>
            <a:endParaRPr b="0" lang="pt-B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0" name="TextBox 25"/>
          <p:cNvSpPr/>
          <p:nvPr/>
        </p:nvSpPr>
        <p:spPr>
          <a:xfrm>
            <a:off x="10820160" y="6615720"/>
            <a:ext cx="913680" cy="21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36720" bIns="36720" anchor="ctr">
            <a:spAutoFit/>
          </a:bodyPr>
          <a:p>
            <a:pPr algn="r" defTabSz="457200">
              <a:lnSpc>
                <a:spcPct val="100000"/>
              </a:lnSpc>
            </a:pPr>
            <a:r>
              <a:rPr b="0" lang="pt-BR" sz="900" spc="-1" strike="noStrike">
                <a:solidFill>
                  <a:srgbClr val="64748b"/>
                </a:solidFill>
                <a:latin typeface="Calibri"/>
              </a:rPr>
              <a:t>11 / 13</a:t>
            </a:r>
            <a:endParaRPr b="0" lang="pt-BR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Rectangle 1"/>
          <p:cNvSpPr/>
          <p:nvPr/>
        </p:nvSpPr>
        <p:spPr>
          <a:xfrm>
            <a:off x="0" y="0"/>
            <a:ext cx="12191040" cy="109080"/>
          </a:xfrm>
          <a:prstGeom prst="rect">
            <a:avLst/>
          </a:prstGeom>
          <a:solidFill>
            <a:srgbClr val="1e2d5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52" name="TextBox 2"/>
          <p:cNvSpPr/>
          <p:nvPr/>
        </p:nvSpPr>
        <p:spPr>
          <a:xfrm>
            <a:off x="640080" y="316800"/>
            <a:ext cx="5485680" cy="22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36720" bIns="3672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pt-BR" sz="1000" spc="-1" strike="noStrike">
                <a:solidFill>
                  <a:srgbClr val="6d28d9"/>
                </a:solidFill>
                <a:latin typeface="Calibri"/>
              </a:rPr>
              <a:t>PRÓXIMOS PASSOS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3" name="TextBox 3"/>
          <p:cNvSpPr/>
          <p:nvPr/>
        </p:nvSpPr>
        <p:spPr>
          <a:xfrm>
            <a:off x="640080" y="984240"/>
            <a:ext cx="10057680" cy="49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36720" bIns="3672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pt-BR" sz="2800" spc="-1" strike="noStrike">
                <a:solidFill>
                  <a:srgbClr val="1e2d52"/>
                </a:solidFill>
                <a:latin typeface="Calibri"/>
              </a:rPr>
              <a:t>Como avaliar o GCA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54" name="Picture 4" descr="logogca.png"/>
          <p:cNvPicPr/>
          <p:nvPr/>
        </p:nvPicPr>
        <p:blipFill>
          <a:blip r:embed="rId1"/>
          <a:stretch/>
        </p:blipFill>
        <p:spPr>
          <a:xfrm>
            <a:off x="11076120" y="205560"/>
            <a:ext cx="748440" cy="502200"/>
          </a:xfrm>
          <a:prstGeom prst="rect">
            <a:avLst/>
          </a:prstGeom>
          <a:ln w="0">
            <a:noFill/>
          </a:ln>
        </p:spPr>
      </p:pic>
      <p:sp>
        <p:nvSpPr>
          <p:cNvPr id="455" name="Rectangle 5"/>
          <p:cNvSpPr/>
          <p:nvPr/>
        </p:nvSpPr>
        <p:spPr>
          <a:xfrm>
            <a:off x="640080" y="1691640"/>
            <a:ext cx="10910880" cy="1431720"/>
          </a:xfrm>
          <a:prstGeom prst="rect">
            <a:avLst/>
          </a:prstGeom>
          <a:solidFill>
            <a:srgbClr val="f1f5f9"/>
          </a:solidFill>
          <a:ln w="12700">
            <a:solidFill>
              <a:srgbClr val="1e2d5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56" name="Rectangle 6"/>
          <p:cNvSpPr/>
          <p:nvPr/>
        </p:nvSpPr>
        <p:spPr>
          <a:xfrm>
            <a:off x="640080" y="1691640"/>
            <a:ext cx="1462320" cy="1431720"/>
          </a:xfrm>
          <a:prstGeom prst="rect">
            <a:avLst/>
          </a:prstGeom>
          <a:solidFill>
            <a:srgbClr val="1e2d5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57" name="TextBox 7"/>
          <p:cNvSpPr/>
          <p:nvPr/>
        </p:nvSpPr>
        <p:spPr>
          <a:xfrm>
            <a:off x="640080" y="2020680"/>
            <a:ext cx="1462320" cy="77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36720" bIns="3672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1" lang="pt-BR" sz="4600" spc="-1" strike="noStrike">
                <a:solidFill>
                  <a:srgbClr val="ffffff"/>
                </a:solidFill>
                <a:latin typeface="Calibri"/>
              </a:rPr>
              <a:t>01</a:t>
            </a:r>
            <a:endParaRPr b="0" lang="pt-BR" sz="4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8" name="TextBox 8"/>
          <p:cNvSpPr/>
          <p:nvPr/>
        </p:nvSpPr>
        <p:spPr>
          <a:xfrm>
            <a:off x="2286000" y="1874520"/>
            <a:ext cx="9082080" cy="34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36720" bIns="3672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pt-BR" sz="1800" spc="-1" strike="noStrike">
                <a:solidFill>
                  <a:srgbClr val="1e2d52"/>
                </a:solidFill>
                <a:latin typeface="Calibri"/>
              </a:rPr>
              <a:t>Avaliação técnica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9" name="TextBox 9"/>
          <p:cNvSpPr/>
          <p:nvPr/>
        </p:nvSpPr>
        <p:spPr>
          <a:xfrm>
            <a:off x="2286000" y="2423160"/>
            <a:ext cx="9082080" cy="25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36720" bIns="3672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pt-BR" sz="1200" spc="-1" strike="noStrike">
                <a:solidFill>
                  <a:srgbClr val="374151"/>
                </a:solidFill>
                <a:latin typeface="Calibri"/>
              </a:rPr>
              <a:t>Demo guiada de 60 minutos com pipeline completo (questionário, OCG, Roadmap, CodeGen, Plano de Testes, Doc Viva).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0" name="Rectangle 10"/>
          <p:cNvSpPr/>
          <p:nvPr/>
        </p:nvSpPr>
        <p:spPr>
          <a:xfrm>
            <a:off x="640080" y="3306960"/>
            <a:ext cx="10910880" cy="1431720"/>
          </a:xfrm>
          <a:prstGeom prst="rect">
            <a:avLst/>
          </a:prstGeom>
          <a:solidFill>
            <a:srgbClr val="f1f5f9"/>
          </a:solidFill>
          <a:ln w="12700">
            <a:solidFill>
              <a:srgbClr val="1e2d5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61" name="Rectangle 11"/>
          <p:cNvSpPr/>
          <p:nvPr/>
        </p:nvSpPr>
        <p:spPr>
          <a:xfrm>
            <a:off x="640080" y="3306960"/>
            <a:ext cx="1462320" cy="1431720"/>
          </a:xfrm>
          <a:prstGeom prst="rect">
            <a:avLst/>
          </a:prstGeom>
          <a:solidFill>
            <a:srgbClr val="1e2d5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62" name="TextBox 12"/>
          <p:cNvSpPr/>
          <p:nvPr/>
        </p:nvSpPr>
        <p:spPr>
          <a:xfrm>
            <a:off x="640080" y="3636000"/>
            <a:ext cx="1462320" cy="77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36720" bIns="3672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1" lang="pt-BR" sz="4600" spc="-1" strike="noStrike">
                <a:solidFill>
                  <a:srgbClr val="ffffff"/>
                </a:solidFill>
                <a:latin typeface="Calibri"/>
              </a:rPr>
              <a:t>02</a:t>
            </a:r>
            <a:endParaRPr b="0" lang="pt-BR" sz="4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3" name="TextBox 13"/>
          <p:cNvSpPr/>
          <p:nvPr/>
        </p:nvSpPr>
        <p:spPr>
          <a:xfrm>
            <a:off x="2286000" y="3489840"/>
            <a:ext cx="9082080" cy="34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36720" bIns="3672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pt-BR" sz="1800" spc="-1" strike="noStrike">
                <a:solidFill>
                  <a:srgbClr val="1e2d52"/>
                </a:solidFill>
                <a:latin typeface="Calibri"/>
              </a:rPr>
              <a:t>Piloto em projeto real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4" name="TextBox 14"/>
          <p:cNvSpPr/>
          <p:nvPr/>
        </p:nvSpPr>
        <p:spPr>
          <a:xfrm>
            <a:off x="2286000" y="4038480"/>
            <a:ext cx="9082080" cy="43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36720" bIns="3672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pt-BR" sz="1200" spc="-1" strike="noStrike">
                <a:solidFill>
                  <a:srgbClr val="374151"/>
                </a:solidFill>
                <a:latin typeface="Calibri"/>
              </a:rPr>
              <a:t>Instância dedicada com seu projeto atual. Acompanhamento de 2 semanas para validar adequação, custos de IA e workflow do time.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5" name="Rectangle 15"/>
          <p:cNvSpPr/>
          <p:nvPr/>
        </p:nvSpPr>
        <p:spPr>
          <a:xfrm>
            <a:off x="640080" y="4922640"/>
            <a:ext cx="10910880" cy="1431720"/>
          </a:xfrm>
          <a:prstGeom prst="rect">
            <a:avLst/>
          </a:prstGeom>
          <a:solidFill>
            <a:srgbClr val="f1f5f9"/>
          </a:solidFill>
          <a:ln w="12700">
            <a:solidFill>
              <a:srgbClr val="1e2d5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66" name="Rectangle 16"/>
          <p:cNvSpPr/>
          <p:nvPr/>
        </p:nvSpPr>
        <p:spPr>
          <a:xfrm>
            <a:off x="640080" y="4922640"/>
            <a:ext cx="1462320" cy="1431720"/>
          </a:xfrm>
          <a:prstGeom prst="rect">
            <a:avLst/>
          </a:prstGeom>
          <a:solidFill>
            <a:srgbClr val="1e2d5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67" name="TextBox 17"/>
          <p:cNvSpPr/>
          <p:nvPr/>
        </p:nvSpPr>
        <p:spPr>
          <a:xfrm>
            <a:off x="640080" y="5251680"/>
            <a:ext cx="1462320" cy="77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36720" bIns="3672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1" lang="pt-BR" sz="4600" spc="-1" strike="noStrike">
                <a:solidFill>
                  <a:srgbClr val="ffffff"/>
                </a:solidFill>
                <a:latin typeface="Calibri"/>
              </a:rPr>
              <a:t>03</a:t>
            </a:r>
            <a:endParaRPr b="0" lang="pt-BR" sz="4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8" name="TextBox 18"/>
          <p:cNvSpPr/>
          <p:nvPr/>
        </p:nvSpPr>
        <p:spPr>
          <a:xfrm>
            <a:off x="2286000" y="5105520"/>
            <a:ext cx="9082080" cy="34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36720" bIns="3672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pt-BR" sz="1800" spc="-1" strike="noStrike">
                <a:solidFill>
                  <a:srgbClr val="1e2d52"/>
                </a:solidFill>
                <a:latin typeface="Calibri"/>
              </a:rPr>
              <a:t>Implantação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9" name="TextBox 19"/>
          <p:cNvSpPr/>
          <p:nvPr/>
        </p:nvSpPr>
        <p:spPr>
          <a:xfrm>
            <a:off x="2286000" y="5654160"/>
            <a:ext cx="9082080" cy="43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36720" bIns="3672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pt-BR" sz="1200" spc="-1" strike="noStrike">
                <a:solidFill>
                  <a:srgbClr val="374151"/>
                </a:solidFill>
                <a:latin typeface="Calibri"/>
              </a:rPr>
              <a:t>Instalação assistida em Ubuntu ou Windows, transferência de conhecimento, documentação operacional, contrato de Sustentação.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0" name="Rectangle 20"/>
          <p:cNvSpPr/>
          <p:nvPr/>
        </p:nvSpPr>
        <p:spPr>
          <a:xfrm>
            <a:off x="0" y="6583680"/>
            <a:ext cx="12191040" cy="17640"/>
          </a:xfrm>
          <a:prstGeom prst="rect">
            <a:avLst/>
          </a:prstGeom>
          <a:solidFill>
            <a:srgbClr val="9ca3a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6640" bIns="-26640" anchor="ctr">
            <a:noAutofit/>
          </a:bodyPr>
          <a:p>
            <a:pPr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71" name="TextBox 21"/>
          <p:cNvSpPr/>
          <p:nvPr/>
        </p:nvSpPr>
        <p:spPr>
          <a:xfrm>
            <a:off x="640080" y="6615720"/>
            <a:ext cx="7314480" cy="21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36720" bIns="36720" anchor="ctr">
            <a:spAutoFit/>
          </a:bodyPr>
          <a:p>
            <a:pPr defTabSz="457200">
              <a:lnSpc>
                <a:spcPct val="100000"/>
              </a:lnSpc>
            </a:pPr>
            <a:r>
              <a:rPr b="0" lang="pt-BR" sz="900" spc="-1" strike="noStrike">
                <a:solidFill>
                  <a:srgbClr val="64748b"/>
                </a:solidFill>
                <a:latin typeface="Calibri"/>
              </a:rPr>
              <a:t>GCA — Gestão de Codificação Assistida · Apresentação Comercial</a:t>
            </a:r>
            <a:endParaRPr b="0" lang="pt-B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2" name="TextBox 22"/>
          <p:cNvSpPr/>
          <p:nvPr/>
        </p:nvSpPr>
        <p:spPr>
          <a:xfrm>
            <a:off x="10820160" y="6615720"/>
            <a:ext cx="913680" cy="21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36720" bIns="36720" anchor="ctr">
            <a:spAutoFit/>
          </a:bodyPr>
          <a:p>
            <a:pPr algn="r" defTabSz="457200">
              <a:lnSpc>
                <a:spcPct val="100000"/>
              </a:lnSpc>
            </a:pPr>
            <a:r>
              <a:rPr b="0" lang="pt-BR" sz="900" spc="-1" strike="noStrike">
                <a:solidFill>
                  <a:srgbClr val="64748b"/>
                </a:solidFill>
                <a:latin typeface="Calibri"/>
              </a:rPr>
              <a:t>12 / 13</a:t>
            </a:r>
            <a:endParaRPr b="0" lang="pt-BR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Rectangle 1"/>
          <p:cNvSpPr/>
          <p:nvPr/>
        </p:nvSpPr>
        <p:spPr>
          <a:xfrm>
            <a:off x="0" y="0"/>
            <a:ext cx="365040" cy="6857280"/>
          </a:xfrm>
          <a:prstGeom prst="rect">
            <a:avLst/>
          </a:prstGeom>
          <a:solidFill>
            <a:srgbClr val="1e2d5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474" name="Picture 2" descr="logogca.png"/>
          <p:cNvPicPr/>
          <p:nvPr/>
        </p:nvPicPr>
        <p:blipFill>
          <a:blip r:embed="rId1"/>
          <a:stretch/>
        </p:blipFill>
        <p:spPr>
          <a:xfrm>
            <a:off x="4869720" y="1280160"/>
            <a:ext cx="2451240" cy="1645200"/>
          </a:xfrm>
          <a:prstGeom prst="rect">
            <a:avLst/>
          </a:prstGeom>
          <a:ln w="0">
            <a:noFill/>
          </a:ln>
        </p:spPr>
      </p:pic>
      <p:sp>
        <p:nvSpPr>
          <p:cNvPr id="475" name="TextBox 3"/>
          <p:cNvSpPr/>
          <p:nvPr/>
        </p:nvSpPr>
        <p:spPr>
          <a:xfrm>
            <a:off x="914400" y="3474720"/>
            <a:ext cx="10362240" cy="89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36720" bIns="3672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pt-BR" sz="5400" spc="-1" strike="noStrike">
                <a:solidFill>
                  <a:srgbClr val="1e2d52"/>
                </a:solidFill>
                <a:latin typeface="Calibri"/>
              </a:rPr>
              <a:t>Obrigado.</a:t>
            </a:r>
            <a:endParaRPr b="0" lang="pt-BR" sz="5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6" name="TextBox 4"/>
          <p:cNvSpPr/>
          <p:nvPr/>
        </p:nvSpPr>
        <p:spPr>
          <a:xfrm>
            <a:off x="914400" y="4343400"/>
            <a:ext cx="10362240" cy="34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36720" bIns="3672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i="1" lang="pt-BR" sz="1800" spc="-1" strike="noStrike">
                <a:solidFill>
                  <a:srgbClr val="64748b"/>
                </a:solidFill>
                <a:latin typeface="Calibri"/>
              </a:rPr>
              <a:t>Vamos governar seu próximo projeto juntos.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7" name="TextBox 6"/>
          <p:cNvSpPr/>
          <p:nvPr/>
        </p:nvSpPr>
        <p:spPr>
          <a:xfrm>
            <a:off x="3352680" y="5304960"/>
            <a:ext cx="548568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36720" bIns="3672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1" lang="pt-BR" sz="1300" spc="-1" strike="noStrike">
                <a:solidFill>
                  <a:srgbClr val="ffffff"/>
                </a:solidFill>
                <a:latin typeface="Calibri"/>
              </a:rPr>
              <a:t>Luiz Carlos Pielak  ·  pielak.ctba@gmail.com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8" name="TextBox 7"/>
          <p:cNvSpPr/>
          <p:nvPr/>
        </p:nvSpPr>
        <p:spPr>
          <a:xfrm>
            <a:off x="914400" y="5989320"/>
            <a:ext cx="10362240" cy="22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36720" bIns="3672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pt-BR" sz="1000" spc="-1" strike="noStrike">
                <a:solidFill>
                  <a:srgbClr val="64748b"/>
                </a:solidFill>
                <a:latin typeface="Calibri"/>
              </a:rPr>
              <a:t>GCA — Gestão de Codificação Assistida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Application>LibreOffice/24.2.7.2$Linux_X86_64 LibreOffice_project/420$Build-2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pt-BR</dc:language>
  <cp:lastModifiedBy/>
  <dcterms:modified xsi:type="dcterms:W3CDTF">2026-04-20T09:49:29Z</dcterms:modified>
  <cp:revision>4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