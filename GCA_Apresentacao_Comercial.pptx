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7344DE-DE9D-4219-AB14-7F7E8FF4731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2829FA1-1C5C-47B4-8529-F7A5BD7CBAF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402BBDF9-C220-4804-99A7-E11566BE6B5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E2F30394-35A7-478B-8EDC-24F536CDE3D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9C690D74-F65B-42BA-B7FE-F3AC6672B5D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1F577F72-2E8D-463F-9063-2F962D1E8B4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0C5FDFC5-8381-480E-AEE7-84A9BD8192C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905776A3-2560-42A1-9F08-E52BC835AAE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A9EC2561-EEAC-4421-A66F-9A2D9008D31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2C59D96F-AF5D-472E-9D3B-6686D920334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A23F34E7-2697-4B19-9D78-53976C77DB2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04468E0-08C4-452C-8BA8-2478B2E72D7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Master 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4BF4F0E-416C-446D-BAE9-55A1128FB4D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o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y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C0A9705-65FF-4BFF-8739-4DA90B099C8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o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y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E736779-0185-4A16-B6DC-691DBFCF7F7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ck 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to 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edi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t 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Ma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ste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r 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tit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le 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sty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313D017-9A19-4393-B91D-37C571ACE1E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o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y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C942B4A-AEEB-4EE9-9C0C-9DFD08CAC49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4BA7057-ED43-48B0-A488-60347BD9B81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o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y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A2F4B69-5F03-417C-84D6-2F95CCB0470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2F677A2-349E-40B0-B73C-AFE428ACF44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Clique para editar o formato do texto do título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Clique para editar o formato de texto dos tópicos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2.º nível de tópicos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3.º nível de tópicos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4.º nível de tópicos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5.º nível de tópicos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6.º nível de tópicos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7.º nível de tópicos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4D67F61-1FF2-47A7-8D1B-1E43C042690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Clique para editar o formato de texto dos tópicos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2.º nível de tópicos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3.º nível de tópicos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4.º nível de tópicos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5.º nível de tópicos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6.º nível de tópicos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7.º nível de tópicos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770C142-6DCB-43BE-B889-95E31BCD00E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1" descr="gca-logo-200.png"/>
          <p:cNvPicPr/>
          <p:nvPr/>
        </p:nvPicPr>
        <p:blipFill>
          <a:blip r:embed="rId1"/>
          <a:stretch/>
        </p:blipFill>
        <p:spPr>
          <a:xfrm>
            <a:off x="5029200" y="914400"/>
            <a:ext cx="2102760" cy="1408680"/>
          </a:xfrm>
          <a:prstGeom prst="rect">
            <a:avLst/>
          </a:prstGeom>
          <a:ln w="0">
            <a:noFill/>
          </a:ln>
        </p:spPr>
      </p:pic>
      <p:sp>
        <p:nvSpPr>
          <p:cNvPr id="68" name="TextBox 2"/>
          <p:cNvSpPr/>
          <p:nvPr/>
        </p:nvSpPr>
        <p:spPr>
          <a:xfrm>
            <a:off x="1828800" y="3200400"/>
            <a:ext cx="822924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6000" spc="-1" strike="noStrike">
                <a:solidFill>
                  <a:srgbClr val="a78bfa"/>
                </a:solidFill>
                <a:latin typeface="Segoe UI"/>
              </a:rPr>
              <a:t>GCA</a:t>
            </a:r>
            <a:endParaRPr b="0" lang="pt-BR" sz="6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1828800" y="3931920"/>
            <a:ext cx="82292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800" spc="-1" strike="noStrike">
                <a:solidFill>
                  <a:srgbClr val="f1f5f9"/>
                </a:solidFill>
                <a:latin typeface="Segoe UI"/>
              </a:rPr>
              <a:t>Gestão de Codificação Assistida</a:t>
            </a:r>
            <a:endParaRPr b="0" lang="pt-BR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1828800" y="4754880"/>
            <a:ext cx="82292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94a3b8"/>
                </a:solidFill>
                <a:latin typeface="Segoe UI"/>
              </a:rPr>
              <a:t>Governança inteligente para desenvolvimento de software</a:t>
            </a:r>
            <a:endParaRPr b="0" lang="pt-B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1828800" y="5943600"/>
            <a:ext cx="82292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Segoe UI"/>
              </a:rPr>
              <a:t>GCA Software  •  2026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1" descr="gca-logo-200.png"/>
          <p:cNvPicPr/>
          <p:nvPr/>
        </p:nvPicPr>
        <p:blipFill>
          <a:blip r:embed="rId1"/>
          <a:stretch/>
        </p:blipFill>
        <p:spPr>
          <a:xfrm>
            <a:off x="457200" y="274320"/>
            <a:ext cx="1096920" cy="734760"/>
          </a:xfrm>
          <a:prstGeom prst="rect">
            <a:avLst/>
          </a:prstGeom>
          <a:ln w="0">
            <a:noFill/>
          </a:ln>
        </p:spPr>
      </p:pic>
      <p:sp>
        <p:nvSpPr>
          <p:cNvPr id="73" name="TextBox 2"/>
          <p:cNvSpPr/>
          <p:nvPr/>
        </p:nvSpPr>
        <p:spPr>
          <a:xfrm>
            <a:off x="457200" y="274320"/>
            <a:ext cx="7314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a78bfa"/>
                </a:solidFill>
                <a:latin typeface="Segoe UI"/>
              </a:rPr>
              <a:t>O Problema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Box 3"/>
          <p:cNvSpPr/>
          <p:nvPr/>
        </p:nvSpPr>
        <p:spPr>
          <a:xfrm>
            <a:off x="731520" y="1097280"/>
            <a:ext cx="10515240" cy="10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f1f5f9"/>
                </a:solidFill>
                <a:latin typeface="Segoe UI"/>
              </a:rPr>
              <a:t>Projetos de software falham por falta de governança</a:t>
            </a:r>
            <a:endParaRPr b="0" lang="pt-BR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Rounded Rectangle 4"/>
          <p:cNvSpPr/>
          <p:nvPr/>
        </p:nvSpPr>
        <p:spPr>
          <a:xfrm>
            <a:off x="731520" y="2103120"/>
            <a:ext cx="72720" cy="72720"/>
          </a:xfrm>
          <a:prstGeom prst="roundRect">
            <a:avLst>
              <a:gd name="adj" fmla="val 16667"/>
            </a:avLst>
          </a:prstGeom>
          <a:solidFill>
            <a:srgbClr val="f871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1240" bIns="212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" name="TextBox 5"/>
          <p:cNvSpPr/>
          <p:nvPr/>
        </p:nvSpPr>
        <p:spPr>
          <a:xfrm>
            <a:off x="1097280" y="2057400"/>
            <a:ext cx="100580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94a3b8"/>
                </a:solidFill>
                <a:latin typeface="Segoe UI"/>
              </a:rPr>
              <a:t>70% dos projetos de TI excedem prazo e orçamento por requisitos mal definidos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Rounded Rectangle 6"/>
          <p:cNvSpPr/>
          <p:nvPr/>
        </p:nvSpPr>
        <p:spPr>
          <a:xfrm>
            <a:off x="731520" y="2743200"/>
            <a:ext cx="72720" cy="72720"/>
          </a:xfrm>
          <a:prstGeom prst="roundRect">
            <a:avLst>
              <a:gd name="adj" fmla="val 16667"/>
            </a:avLst>
          </a:prstGeom>
          <a:solidFill>
            <a:srgbClr val="f871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1240" bIns="212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" name="TextBox 7"/>
          <p:cNvSpPr/>
          <p:nvPr/>
        </p:nvSpPr>
        <p:spPr>
          <a:xfrm>
            <a:off x="1097280" y="2697480"/>
            <a:ext cx="100580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94a3b8"/>
                </a:solidFill>
                <a:latin typeface="Segoe UI"/>
              </a:rPr>
              <a:t>Documentação desatualizada gera retrabalho e código que não atende o negócio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Rounded Rectangle 8"/>
          <p:cNvSpPr/>
          <p:nvPr/>
        </p:nvSpPr>
        <p:spPr>
          <a:xfrm>
            <a:off x="731520" y="3383280"/>
            <a:ext cx="72720" cy="72720"/>
          </a:xfrm>
          <a:prstGeom prst="roundRect">
            <a:avLst>
              <a:gd name="adj" fmla="val 16667"/>
            </a:avLst>
          </a:prstGeom>
          <a:solidFill>
            <a:srgbClr val="f871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1240" bIns="212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0" name="TextBox 9"/>
          <p:cNvSpPr/>
          <p:nvPr/>
        </p:nvSpPr>
        <p:spPr>
          <a:xfrm>
            <a:off x="1097280" y="3337560"/>
            <a:ext cx="100580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94a3b8"/>
                </a:solidFill>
                <a:latin typeface="Segoe UI"/>
              </a:rPr>
              <a:t>Decisões de arquitetura sem rastreabilidade comprometem qualidade e segurança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Rounded Rectangle 10"/>
          <p:cNvSpPr/>
          <p:nvPr/>
        </p:nvSpPr>
        <p:spPr>
          <a:xfrm>
            <a:off x="731520" y="4023360"/>
            <a:ext cx="72720" cy="72720"/>
          </a:xfrm>
          <a:prstGeom prst="roundRect">
            <a:avLst>
              <a:gd name="adj" fmla="val 16667"/>
            </a:avLst>
          </a:prstGeom>
          <a:solidFill>
            <a:srgbClr val="f871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1240" bIns="212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" name="TextBox 11"/>
          <p:cNvSpPr/>
          <p:nvPr/>
        </p:nvSpPr>
        <p:spPr>
          <a:xfrm>
            <a:off x="1097280" y="3977640"/>
            <a:ext cx="100580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94a3b8"/>
                </a:solidFill>
                <a:latin typeface="Segoe UI"/>
              </a:rPr>
              <a:t>Equipes gastam 40% do tempo em tarefas que poderiam ser automatizadas por IA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Rounded Rectangle 12"/>
          <p:cNvSpPr/>
          <p:nvPr/>
        </p:nvSpPr>
        <p:spPr>
          <a:xfrm>
            <a:off x="731520" y="4663440"/>
            <a:ext cx="72720" cy="72720"/>
          </a:xfrm>
          <a:prstGeom prst="roundRect">
            <a:avLst>
              <a:gd name="adj" fmla="val 16667"/>
            </a:avLst>
          </a:prstGeom>
          <a:solidFill>
            <a:srgbClr val="f871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1240" bIns="212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" name="TextBox 13"/>
          <p:cNvSpPr/>
          <p:nvPr/>
        </p:nvSpPr>
        <p:spPr>
          <a:xfrm>
            <a:off x="1097280" y="4617720"/>
            <a:ext cx="100580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94a3b8"/>
                </a:solidFill>
                <a:latin typeface="Segoe UI"/>
              </a:rPr>
              <a:t>Compliance (LGPD, GDPR) é verificado tarde demais — quando já é caro corrigir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Rounded Rectangle 14"/>
          <p:cNvSpPr/>
          <p:nvPr/>
        </p:nvSpPr>
        <p:spPr>
          <a:xfrm>
            <a:off x="731520" y="5303520"/>
            <a:ext cx="72720" cy="72720"/>
          </a:xfrm>
          <a:prstGeom prst="roundRect">
            <a:avLst>
              <a:gd name="adj" fmla="val 16667"/>
            </a:avLst>
          </a:prstGeom>
          <a:solidFill>
            <a:srgbClr val="f871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1240" bIns="212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6" name="TextBox 15"/>
          <p:cNvSpPr/>
          <p:nvPr/>
        </p:nvSpPr>
        <p:spPr>
          <a:xfrm>
            <a:off x="1097280" y="5257800"/>
            <a:ext cx="100580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94a3b8"/>
                </a:solidFill>
                <a:latin typeface="Segoe UI"/>
              </a:rPr>
              <a:t>Sem visão unificada, GP não sabe o estado real do projeto até ser tarde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Picture 1" descr="gca-logo-200.png"/>
          <p:cNvPicPr/>
          <p:nvPr/>
        </p:nvPicPr>
        <p:blipFill>
          <a:blip r:embed="rId1"/>
          <a:stretch/>
        </p:blipFill>
        <p:spPr>
          <a:xfrm>
            <a:off x="457200" y="274320"/>
            <a:ext cx="1096920" cy="734760"/>
          </a:xfrm>
          <a:prstGeom prst="rect">
            <a:avLst/>
          </a:prstGeom>
          <a:ln w="0">
            <a:noFill/>
          </a:ln>
        </p:spPr>
      </p:pic>
      <p:sp>
        <p:nvSpPr>
          <p:cNvPr id="88" name="TextBox 2"/>
          <p:cNvSpPr/>
          <p:nvPr/>
        </p:nvSpPr>
        <p:spPr>
          <a:xfrm>
            <a:off x="457200" y="274320"/>
            <a:ext cx="7314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a78bfa"/>
                </a:solidFill>
                <a:latin typeface="Segoe UI"/>
              </a:rPr>
              <a:t>A Solução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TextBox 3"/>
          <p:cNvSpPr/>
          <p:nvPr/>
        </p:nvSpPr>
        <p:spPr>
          <a:xfrm>
            <a:off x="731520" y="1097280"/>
            <a:ext cx="1051524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1f5f9"/>
                </a:solidFill>
                <a:latin typeface="Segoe UI"/>
              </a:rPr>
              <a:t>GCA — Inteligência Artificial aplicada à governança de código</a:t>
            </a:r>
            <a:endParaRPr b="0" lang="pt-BR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Box 4"/>
          <p:cNvSpPr/>
          <p:nvPr/>
        </p:nvSpPr>
        <p:spPr>
          <a:xfrm>
            <a:off x="731520" y="2103120"/>
            <a:ext cx="1005804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94a3b8"/>
                </a:solidFill>
                <a:latin typeface="Segoe UI"/>
              </a:rPr>
              <a:t>O GCA é uma plataforma que governa todo o ciclo de vida de um projeto de software: da concepção (questionário técnico) até a entrega (código gerado e testado), usando IA para analisar, validar e gerar artefatos com rastreabilidade total.</a:t>
            </a:r>
            <a:endParaRPr b="0" lang="pt-B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Rounded Rectangle 5"/>
          <p:cNvSpPr/>
          <p:nvPr/>
        </p:nvSpPr>
        <p:spPr>
          <a:xfrm>
            <a:off x="731520" y="3474720"/>
            <a:ext cx="5028840" cy="10969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" name="TextBox 6"/>
          <p:cNvSpPr/>
          <p:nvPr/>
        </p:nvSpPr>
        <p:spPr>
          <a:xfrm>
            <a:off x="1005840" y="3611880"/>
            <a:ext cx="9140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f1f5f9"/>
                </a:solidFill>
                <a:latin typeface="Segoe UI"/>
              </a:rPr>
              <a:t>🧠</a:t>
            </a:r>
            <a:endParaRPr b="0" lang="pt-BR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Box 7"/>
          <p:cNvSpPr/>
          <p:nvPr/>
        </p:nvSpPr>
        <p:spPr>
          <a:xfrm>
            <a:off x="1645920" y="3611880"/>
            <a:ext cx="36572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1f5f9"/>
                </a:solidFill>
                <a:latin typeface="Segoe UI"/>
              </a:rPr>
              <a:t>OCG — Inteligência Viva</a:t>
            </a:r>
            <a:endParaRPr b="0" lang="pt-B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Box 8"/>
          <p:cNvSpPr/>
          <p:nvPr/>
        </p:nvSpPr>
        <p:spPr>
          <a:xfrm>
            <a:off x="1645920" y="4023360"/>
            <a:ext cx="36572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4a3b8"/>
                </a:solidFill>
                <a:latin typeface="Segoe UI"/>
              </a:rPr>
              <a:t>Objeto de Contexto Global que evolui com cada documento ingerido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Rounded Rectangle 9"/>
          <p:cNvSpPr/>
          <p:nvPr/>
        </p:nvSpPr>
        <p:spPr>
          <a:xfrm>
            <a:off x="6217920" y="3474720"/>
            <a:ext cx="5028840" cy="10969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6" name="TextBox 10"/>
          <p:cNvSpPr/>
          <p:nvPr/>
        </p:nvSpPr>
        <p:spPr>
          <a:xfrm>
            <a:off x="6492240" y="3611880"/>
            <a:ext cx="9140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f1f5f9"/>
                </a:solidFill>
                <a:latin typeface="Segoe UI"/>
              </a:rPr>
              <a:t>🔒</a:t>
            </a:r>
            <a:endParaRPr b="0" lang="pt-BR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Box 11"/>
          <p:cNvSpPr/>
          <p:nvPr/>
        </p:nvSpPr>
        <p:spPr>
          <a:xfrm>
            <a:off x="7132320" y="3611880"/>
            <a:ext cx="36572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1f5f9"/>
                </a:solidFill>
                <a:latin typeface="Segoe UI"/>
              </a:rPr>
              <a:t>7 Pilares de Qualidade</a:t>
            </a:r>
            <a:endParaRPr b="0" lang="pt-B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TextBox 12"/>
          <p:cNvSpPr/>
          <p:nvPr/>
        </p:nvSpPr>
        <p:spPr>
          <a:xfrm>
            <a:off x="7132320" y="4023360"/>
            <a:ext cx="36572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4a3b8"/>
                </a:solidFill>
                <a:latin typeface="Segoe UI"/>
              </a:rPr>
              <a:t>Negócio, Compliance, Escopo, Performance, Arquitetura, Dados, Segurança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Rounded Rectangle 13"/>
          <p:cNvSpPr/>
          <p:nvPr/>
        </p:nvSpPr>
        <p:spPr>
          <a:xfrm>
            <a:off x="731520" y="4846320"/>
            <a:ext cx="5028840" cy="10969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0" name="TextBox 14"/>
          <p:cNvSpPr/>
          <p:nvPr/>
        </p:nvSpPr>
        <p:spPr>
          <a:xfrm>
            <a:off x="1005840" y="4983480"/>
            <a:ext cx="9140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f1f5f9"/>
                </a:solidFill>
                <a:latin typeface="Segoe UI"/>
              </a:rPr>
              <a:t>🤖</a:t>
            </a:r>
            <a:endParaRPr b="0" lang="pt-BR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Box 15"/>
          <p:cNvSpPr/>
          <p:nvPr/>
        </p:nvSpPr>
        <p:spPr>
          <a:xfrm>
            <a:off x="1645920" y="4983480"/>
            <a:ext cx="36572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1f5f9"/>
                </a:solidFill>
                <a:latin typeface="Segoe UI"/>
              </a:rPr>
              <a:t>8 Agentes de IA</a:t>
            </a:r>
            <a:endParaRPr b="0" lang="pt-B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Box 16"/>
          <p:cNvSpPr/>
          <p:nvPr/>
        </p:nvSpPr>
        <p:spPr>
          <a:xfrm>
            <a:off x="1645920" y="5394960"/>
            <a:ext cx="36572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4a3b8"/>
                </a:solidFill>
                <a:latin typeface="Segoe UI"/>
              </a:rPr>
              <a:t>Pipeline que avalia, classifica e consolida requisitos automaticamente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Rounded Rectangle 17"/>
          <p:cNvSpPr/>
          <p:nvPr/>
        </p:nvSpPr>
        <p:spPr>
          <a:xfrm>
            <a:off x="6217920" y="4846320"/>
            <a:ext cx="5028840" cy="10969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4" name="TextBox 18"/>
          <p:cNvSpPr/>
          <p:nvPr/>
        </p:nvSpPr>
        <p:spPr>
          <a:xfrm>
            <a:off x="6492240" y="4983480"/>
            <a:ext cx="9140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f1f5f9"/>
                </a:solidFill>
                <a:latin typeface="Segoe UI"/>
              </a:rPr>
              <a:t>📊</a:t>
            </a:r>
            <a:endParaRPr b="0" lang="pt-BR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Box 19"/>
          <p:cNvSpPr/>
          <p:nvPr/>
        </p:nvSpPr>
        <p:spPr>
          <a:xfrm>
            <a:off x="7132320" y="4983480"/>
            <a:ext cx="36572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1f5f9"/>
                </a:solidFill>
                <a:latin typeface="Segoe UI"/>
              </a:rPr>
              <a:t>Billing Transparente</a:t>
            </a:r>
            <a:endParaRPr b="0" lang="pt-B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Box 20"/>
          <p:cNvSpPr/>
          <p:nvPr/>
        </p:nvSpPr>
        <p:spPr>
          <a:xfrm>
            <a:off x="7132320" y="5394960"/>
            <a:ext cx="36572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4a3b8"/>
                </a:solidFill>
                <a:latin typeface="Segoe UI"/>
              </a:rPr>
              <a:t>Custo de IA por projeto, por operação, em tempo real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Picture 1" descr="gca-logo-200.png"/>
          <p:cNvPicPr/>
          <p:nvPr/>
        </p:nvPicPr>
        <p:blipFill>
          <a:blip r:embed="rId1"/>
          <a:stretch/>
        </p:blipFill>
        <p:spPr>
          <a:xfrm>
            <a:off x="457200" y="274320"/>
            <a:ext cx="1096920" cy="734760"/>
          </a:xfrm>
          <a:prstGeom prst="rect">
            <a:avLst/>
          </a:prstGeom>
          <a:ln w="0">
            <a:noFill/>
          </a:ln>
        </p:spPr>
      </p:pic>
      <p:sp>
        <p:nvSpPr>
          <p:cNvPr id="108" name="TextBox 2"/>
          <p:cNvSpPr/>
          <p:nvPr/>
        </p:nvSpPr>
        <p:spPr>
          <a:xfrm>
            <a:off x="457200" y="274320"/>
            <a:ext cx="7314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a78bfa"/>
                </a:solidFill>
                <a:latin typeface="Segoe UI"/>
              </a:rPr>
              <a:t>Pipeline do Projeto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Box 3"/>
          <p:cNvSpPr/>
          <p:nvPr/>
        </p:nvSpPr>
        <p:spPr>
          <a:xfrm>
            <a:off x="731520" y="914400"/>
            <a:ext cx="105152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1f5f9"/>
                </a:solidFill>
                <a:latin typeface="Segoe UI"/>
              </a:rPr>
              <a:t>Do questionário ao código — governado pelo OCG</a:t>
            </a:r>
            <a:endParaRPr b="0" lang="pt-BR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Rounded Rectangle 4"/>
          <p:cNvSpPr/>
          <p:nvPr/>
        </p:nvSpPr>
        <p:spPr>
          <a:xfrm>
            <a:off x="457200" y="2011680"/>
            <a:ext cx="1279800" cy="18284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1" name="TextBox 5"/>
          <p:cNvSpPr/>
          <p:nvPr/>
        </p:nvSpPr>
        <p:spPr>
          <a:xfrm>
            <a:off x="548640" y="2103120"/>
            <a:ext cx="10969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7c3aed"/>
                </a:solidFill>
                <a:latin typeface="Segoe UI"/>
              </a:rPr>
              <a:t>Questionário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TextBox 6"/>
          <p:cNvSpPr/>
          <p:nvPr/>
        </p:nvSpPr>
        <p:spPr>
          <a:xfrm>
            <a:off x="548640" y="2651760"/>
            <a:ext cx="10969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94a3b8"/>
                </a:solidFill>
                <a:latin typeface="Segoe UI"/>
              </a:rPr>
              <a:t>49 perguntas</a:t>
            </a:r>
            <a:br>
              <a:rPr sz="900"/>
            </a:br>
            <a:r>
              <a:rPr b="0" lang="en-US" sz="900" spc="-1" strike="noStrike">
                <a:solidFill>
                  <a:srgbClr val="94a3b8"/>
                </a:solidFill>
                <a:latin typeface="Segoe UI"/>
              </a:rPr>
              <a:t>8 blocos</a:t>
            </a:r>
            <a:endParaRPr b="0" lang="pt-B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Box 7"/>
          <p:cNvSpPr/>
          <p:nvPr/>
        </p:nvSpPr>
        <p:spPr>
          <a:xfrm>
            <a:off x="1691640" y="2651760"/>
            <a:ext cx="2739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64748b"/>
                </a:solidFill>
                <a:latin typeface="Segoe UI"/>
              </a:rPr>
              <a:t>→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Rounded Rectangle 8"/>
          <p:cNvSpPr/>
          <p:nvPr/>
        </p:nvSpPr>
        <p:spPr>
          <a:xfrm>
            <a:off x="1874520" y="2011680"/>
            <a:ext cx="1279800" cy="18284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5" name="TextBox 9"/>
          <p:cNvSpPr/>
          <p:nvPr/>
        </p:nvSpPr>
        <p:spPr>
          <a:xfrm>
            <a:off x="1965960" y="2103120"/>
            <a:ext cx="10969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87171"/>
                </a:solidFill>
                <a:latin typeface="Segoe UI"/>
              </a:rPr>
              <a:t>Repositório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TextBox 10"/>
          <p:cNvSpPr/>
          <p:nvPr/>
        </p:nvSpPr>
        <p:spPr>
          <a:xfrm>
            <a:off x="1965960" y="2651760"/>
            <a:ext cx="10969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94a3b8"/>
                </a:solidFill>
                <a:latin typeface="Segoe UI"/>
              </a:rPr>
              <a:t>Git do projeto</a:t>
            </a:r>
            <a:br>
              <a:rPr sz="900"/>
            </a:br>
            <a:r>
              <a:rPr b="0" lang="en-US" sz="900" spc="-1" strike="noStrike">
                <a:solidFill>
                  <a:srgbClr val="94a3b8"/>
                </a:solidFill>
                <a:latin typeface="Segoe UI"/>
              </a:rPr>
              <a:t>(bloqueante)</a:t>
            </a:r>
            <a:endParaRPr b="0" lang="pt-B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TextBox 11"/>
          <p:cNvSpPr/>
          <p:nvPr/>
        </p:nvSpPr>
        <p:spPr>
          <a:xfrm>
            <a:off x="3108960" y="2651760"/>
            <a:ext cx="2739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64748b"/>
                </a:solidFill>
                <a:latin typeface="Segoe UI"/>
              </a:rPr>
              <a:t>→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Rounded Rectangle 12"/>
          <p:cNvSpPr/>
          <p:nvPr/>
        </p:nvSpPr>
        <p:spPr>
          <a:xfrm>
            <a:off x="3291840" y="2011680"/>
            <a:ext cx="1279800" cy="18284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9" name="TextBox 13"/>
          <p:cNvSpPr/>
          <p:nvPr/>
        </p:nvSpPr>
        <p:spPr>
          <a:xfrm>
            <a:off x="3383280" y="2103120"/>
            <a:ext cx="10969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60a5fa"/>
                </a:solidFill>
                <a:latin typeface="Segoe UI"/>
              </a:rPr>
              <a:t>Ingestão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TextBox 14"/>
          <p:cNvSpPr/>
          <p:nvPr/>
        </p:nvSpPr>
        <p:spPr>
          <a:xfrm>
            <a:off x="3383280" y="2651760"/>
            <a:ext cx="10969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94a3b8"/>
                </a:solidFill>
                <a:latin typeface="Segoe UI"/>
              </a:rPr>
              <a:t>Docs, código</a:t>
            </a:r>
            <a:br>
              <a:rPr sz="900"/>
            </a:br>
            <a:r>
              <a:rPr b="0" lang="en-US" sz="900" spc="-1" strike="noStrike">
                <a:solidFill>
                  <a:srgbClr val="94a3b8"/>
                </a:solidFill>
                <a:latin typeface="Segoe UI"/>
              </a:rPr>
              <a:t>PII detection</a:t>
            </a:r>
            <a:endParaRPr b="0" lang="pt-B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TextBox 15"/>
          <p:cNvSpPr/>
          <p:nvPr/>
        </p:nvSpPr>
        <p:spPr>
          <a:xfrm>
            <a:off x="4526280" y="2651760"/>
            <a:ext cx="2739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64748b"/>
                </a:solidFill>
                <a:latin typeface="Segoe UI"/>
              </a:rPr>
              <a:t>→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Rounded Rectangle 16"/>
          <p:cNvSpPr/>
          <p:nvPr/>
        </p:nvSpPr>
        <p:spPr>
          <a:xfrm>
            <a:off x="4709160" y="2011680"/>
            <a:ext cx="1279800" cy="18284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3" name="TextBox 17"/>
          <p:cNvSpPr/>
          <p:nvPr/>
        </p:nvSpPr>
        <p:spPr>
          <a:xfrm>
            <a:off x="4800600" y="2103120"/>
            <a:ext cx="10969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bbf24"/>
                </a:solidFill>
                <a:latin typeface="Segoe UI"/>
              </a:rPr>
              <a:t>Gatekeeper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TextBox 18"/>
          <p:cNvSpPr/>
          <p:nvPr/>
        </p:nvSpPr>
        <p:spPr>
          <a:xfrm>
            <a:off x="4800600" y="2651760"/>
            <a:ext cx="10969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94a3b8"/>
                </a:solidFill>
                <a:latin typeface="Segoe UI"/>
              </a:rPr>
              <a:t>7 pilares</a:t>
            </a:r>
            <a:br>
              <a:rPr sz="900"/>
            </a:br>
            <a:r>
              <a:rPr b="0" lang="en-US" sz="900" spc="-1" strike="noStrike">
                <a:solidFill>
                  <a:srgbClr val="94a3b8"/>
                </a:solidFill>
                <a:latin typeface="Segoe UI"/>
              </a:rPr>
              <a:t>scores</a:t>
            </a:r>
            <a:endParaRPr b="0" lang="pt-B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Box 19"/>
          <p:cNvSpPr/>
          <p:nvPr/>
        </p:nvSpPr>
        <p:spPr>
          <a:xfrm>
            <a:off x="5943600" y="2651760"/>
            <a:ext cx="2739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64748b"/>
                </a:solidFill>
                <a:latin typeface="Segoe UI"/>
              </a:rPr>
              <a:t>→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Rounded Rectangle 20"/>
          <p:cNvSpPr/>
          <p:nvPr/>
        </p:nvSpPr>
        <p:spPr>
          <a:xfrm>
            <a:off x="6126480" y="2011680"/>
            <a:ext cx="1279800" cy="18284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7" name="TextBox 21"/>
          <p:cNvSpPr/>
          <p:nvPr/>
        </p:nvSpPr>
        <p:spPr>
          <a:xfrm>
            <a:off x="6217920" y="2103120"/>
            <a:ext cx="10969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34d399"/>
                </a:solidFill>
                <a:latin typeface="Segoe UI"/>
              </a:rPr>
              <a:t>Arguidor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TextBox 22"/>
          <p:cNvSpPr/>
          <p:nvPr/>
        </p:nvSpPr>
        <p:spPr>
          <a:xfrm>
            <a:off x="6217920" y="2651760"/>
            <a:ext cx="10969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94a3b8"/>
                </a:solidFill>
                <a:latin typeface="Segoe UI"/>
              </a:rPr>
              <a:t>Gaps e lacunas</a:t>
            </a:r>
            <a:br>
              <a:rPr sz="900"/>
            </a:br>
            <a:r>
              <a:rPr b="0" lang="en-US" sz="900" spc="-1" strike="noStrike">
                <a:solidFill>
                  <a:srgbClr val="94a3b8"/>
                </a:solidFill>
                <a:latin typeface="Segoe UI"/>
              </a:rPr>
              <a:t>altera OCG</a:t>
            </a:r>
            <a:endParaRPr b="0" lang="pt-B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TextBox 23"/>
          <p:cNvSpPr/>
          <p:nvPr/>
        </p:nvSpPr>
        <p:spPr>
          <a:xfrm>
            <a:off x="7360920" y="2651760"/>
            <a:ext cx="2739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64748b"/>
                </a:solidFill>
                <a:latin typeface="Segoe UI"/>
              </a:rPr>
              <a:t>→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Rounded Rectangle 24"/>
          <p:cNvSpPr/>
          <p:nvPr/>
        </p:nvSpPr>
        <p:spPr>
          <a:xfrm>
            <a:off x="7543800" y="2011680"/>
            <a:ext cx="1279800" cy="18284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1" name="TextBox 25"/>
          <p:cNvSpPr/>
          <p:nvPr/>
        </p:nvSpPr>
        <p:spPr>
          <a:xfrm>
            <a:off x="7635240" y="2103120"/>
            <a:ext cx="109692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7c3aed"/>
                </a:solidFill>
                <a:latin typeface="Segoe UI"/>
              </a:rPr>
              <a:t>Geração</a:t>
            </a:r>
            <a:br>
              <a:rPr sz="1100"/>
            </a:br>
            <a:r>
              <a:rPr b="1" lang="en-US" sz="1100" spc="-1" strike="noStrike">
                <a:solidFill>
                  <a:srgbClr val="7c3aed"/>
                </a:solidFill>
                <a:latin typeface="Segoe UI"/>
              </a:rPr>
              <a:t>de Código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TextBox 26"/>
          <p:cNvSpPr/>
          <p:nvPr/>
        </p:nvSpPr>
        <p:spPr>
          <a:xfrm>
            <a:off x="7635240" y="2651760"/>
            <a:ext cx="10969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94a3b8"/>
                </a:solidFill>
                <a:latin typeface="Segoe UI"/>
              </a:rPr>
              <a:t>IA + humano</a:t>
            </a:r>
            <a:br>
              <a:rPr sz="900"/>
            </a:br>
            <a:r>
              <a:rPr b="0" lang="en-US" sz="900" spc="-1" strike="noStrike">
                <a:solidFill>
                  <a:srgbClr val="94a3b8"/>
                </a:solidFill>
                <a:latin typeface="Segoe UI"/>
              </a:rPr>
              <a:t>testes auto</a:t>
            </a:r>
            <a:endParaRPr b="0" lang="pt-B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TextBox 27"/>
          <p:cNvSpPr/>
          <p:nvPr/>
        </p:nvSpPr>
        <p:spPr>
          <a:xfrm>
            <a:off x="8778240" y="2651760"/>
            <a:ext cx="2739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64748b"/>
                </a:solidFill>
                <a:latin typeface="Segoe UI"/>
              </a:rPr>
              <a:t>→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Rounded Rectangle 28"/>
          <p:cNvSpPr/>
          <p:nvPr/>
        </p:nvSpPr>
        <p:spPr>
          <a:xfrm>
            <a:off x="8961120" y="2011680"/>
            <a:ext cx="1279800" cy="18284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5" name="TextBox 29"/>
          <p:cNvSpPr/>
          <p:nvPr/>
        </p:nvSpPr>
        <p:spPr>
          <a:xfrm>
            <a:off x="9052560" y="2103120"/>
            <a:ext cx="10969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60a5fa"/>
                </a:solidFill>
                <a:latin typeface="Segoe UI"/>
              </a:rPr>
              <a:t>Backlog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TextBox 30"/>
          <p:cNvSpPr/>
          <p:nvPr/>
        </p:nvSpPr>
        <p:spPr>
          <a:xfrm>
            <a:off x="9052560" y="2651760"/>
            <a:ext cx="10969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94a3b8"/>
                </a:solidFill>
                <a:latin typeface="Segoe UI"/>
              </a:rPr>
              <a:t>33+ itens</a:t>
            </a:r>
            <a:br>
              <a:rPr sz="900"/>
            </a:br>
            <a:r>
              <a:rPr b="0" lang="en-US" sz="900" spc="-1" strike="noStrike">
                <a:solidFill>
                  <a:srgbClr val="94a3b8"/>
                </a:solidFill>
                <a:latin typeface="Segoe UI"/>
              </a:rPr>
              <a:t>do OCG</a:t>
            </a:r>
            <a:endParaRPr b="0" lang="pt-B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TextBox 31"/>
          <p:cNvSpPr/>
          <p:nvPr/>
        </p:nvSpPr>
        <p:spPr>
          <a:xfrm>
            <a:off x="10195560" y="2651760"/>
            <a:ext cx="2739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64748b"/>
                </a:solidFill>
                <a:latin typeface="Segoe UI"/>
              </a:rPr>
              <a:t>→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Rounded Rectangle 32"/>
          <p:cNvSpPr/>
          <p:nvPr/>
        </p:nvSpPr>
        <p:spPr>
          <a:xfrm>
            <a:off x="10378440" y="2011680"/>
            <a:ext cx="1279800" cy="18284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9" name="TextBox 33"/>
          <p:cNvSpPr/>
          <p:nvPr/>
        </p:nvSpPr>
        <p:spPr>
          <a:xfrm>
            <a:off x="10469880" y="2103120"/>
            <a:ext cx="10969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34d399"/>
                </a:solidFill>
                <a:latin typeface="Segoe UI"/>
              </a:rPr>
              <a:t>Docs Viva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TextBox 34"/>
          <p:cNvSpPr/>
          <p:nvPr/>
        </p:nvSpPr>
        <p:spPr>
          <a:xfrm>
            <a:off x="10469880" y="2651760"/>
            <a:ext cx="10969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94a3b8"/>
                </a:solidFill>
                <a:latin typeface="Segoe UI"/>
              </a:rPr>
              <a:t>Auto-gerada</a:t>
            </a:r>
            <a:br>
              <a:rPr sz="900"/>
            </a:br>
            <a:r>
              <a:rPr b="0" lang="en-US" sz="900" spc="-1" strike="noStrike">
                <a:solidFill>
                  <a:srgbClr val="94a3b8"/>
                </a:solidFill>
                <a:latin typeface="Segoe UI"/>
              </a:rPr>
              <a:t>do OCG</a:t>
            </a:r>
            <a:endParaRPr b="0" lang="pt-B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TextBox 35"/>
          <p:cNvSpPr/>
          <p:nvPr/>
        </p:nvSpPr>
        <p:spPr>
          <a:xfrm>
            <a:off x="731520" y="4206240"/>
            <a:ext cx="105152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94a3b8"/>
                </a:solidFill>
                <a:latin typeface="Segoe UI"/>
              </a:rPr>
              <a:t>O OCG (Objeto de Contexto Global) é a fonte de verdade — expande com boa documentação, contrai com dados ruins.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TextBox 36"/>
          <p:cNvSpPr/>
          <p:nvPr/>
        </p:nvSpPr>
        <p:spPr>
          <a:xfrm>
            <a:off x="731520" y="4846320"/>
            <a:ext cx="10515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f1f5f9"/>
                </a:solidFill>
                <a:latin typeface="Segoe UI"/>
              </a:rPr>
              <a:t>7 Pilares de Avaliação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Rounded Rectangle 37"/>
          <p:cNvSpPr/>
          <p:nvPr/>
        </p:nvSpPr>
        <p:spPr>
          <a:xfrm>
            <a:off x="731520" y="5394960"/>
            <a:ext cx="1371240" cy="73116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4" name="TextBox 38"/>
          <p:cNvSpPr/>
          <p:nvPr/>
        </p:nvSpPr>
        <p:spPr>
          <a:xfrm>
            <a:off x="822960" y="5440680"/>
            <a:ext cx="11883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a78bfa"/>
                </a:solidFill>
                <a:latin typeface="Segoe UI"/>
              </a:rPr>
              <a:t>P1 Negócio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TextBox 39"/>
          <p:cNvSpPr/>
          <p:nvPr/>
        </p:nvSpPr>
        <p:spPr>
          <a:xfrm>
            <a:off x="822960" y="5760720"/>
            <a:ext cx="11883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1f5f9"/>
                </a:solidFill>
                <a:latin typeface="Segoe UI"/>
              </a:rPr>
              <a:t>10%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Rounded Rectangle 40"/>
          <p:cNvSpPr/>
          <p:nvPr/>
        </p:nvSpPr>
        <p:spPr>
          <a:xfrm>
            <a:off x="2286000" y="5394960"/>
            <a:ext cx="1371240" cy="73116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7" name="TextBox 41"/>
          <p:cNvSpPr/>
          <p:nvPr/>
        </p:nvSpPr>
        <p:spPr>
          <a:xfrm>
            <a:off x="2377440" y="5440680"/>
            <a:ext cx="11883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f87171"/>
                </a:solidFill>
                <a:latin typeface="Segoe UI"/>
              </a:rPr>
              <a:t>P2 Compliance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TextBox 42"/>
          <p:cNvSpPr/>
          <p:nvPr/>
        </p:nvSpPr>
        <p:spPr>
          <a:xfrm>
            <a:off x="2377440" y="5760720"/>
            <a:ext cx="11883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1f5f9"/>
                </a:solidFill>
                <a:latin typeface="Segoe UI"/>
              </a:rPr>
              <a:t>15%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Rounded Rectangle 43"/>
          <p:cNvSpPr/>
          <p:nvPr/>
        </p:nvSpPr>
        <p:spPr>
          <a:xfrm>
            <a:off x="3840480" y="5394960"/>
            <a:ext cx="1371240" cy="73116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0" name="TextBox 44"/>
          <p:cNvSpPr/>
          <p:nvPr/>
        </p:nvSpPr>
        <p:spPr>
          <a:xfrm>
            <a:off x="3931920" y="5440680"/>
            <a:ext cx="11883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a78bfa"/>
                </a:solidFill>
                <a:latin typeface="Segoe UI"/>
              </a:rPr>
              <a:t>P3 Escopo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TextBox 45"/>
          <p:cNvSpPr/>
          <p:nvPr/>
        </p:nvSpPr>
        <p:spPr>
          <a:xfrm>
            <a:off x="3931920" y="5760720"/>
            <a:ext cx="11883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1f5f9"/>
                </a:solidFill>
                <a:latin typeface="Segoe UI"/>
              </a:rPr>
              <a:t>20%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Rounded Rectangle 46"/>
          <p:cNvSpPr/>
          <p:nvPr/>
        </p:nvSpPr>
        <p:spPr>
          <a:xfrm>
            <a:off x="5394960" y="5394960"/>
            <a:ext cx="1371240" cy="73116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3" name="TextBox 47"/>
          <p:cNvSpPr/>
          <p:nvPr/>
        </p:nvSpPr>
        <p:spPr>
          <a:xfrm>
            <a:off x="5486400" y="5440680"/>
            <a:ext cx="11883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a78bfa"/>
                </a:solidFill>
                <a:latin typeface="Segoe UI"/>
              </a:rPr>
              <a:t>P4 Performance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TextBox 48"/>
          <p:cNvSpPr/>
          <p:nvPr/>
        </p:nvSpPr>
        <p:spPr>
          <a:xfrm>
            <a:off x="5486400" y="5760720"/>
            <a:ext cx="11883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1f5f9"/>
                </a:solidFill>
                <a:latin typeface="Segoe UI"/>
              </a:rPr>
              <a:t>20%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Rounded Rectangle 49"/>
          <p:cNvSpPr/>
          <p:nvPr/>
        </p:nvSpPr>
        <p:spPr>
          <a:xfrm>
            <a:off x="6949440" y="5394960"/>
            <a:ext cx="1371240" cy="73116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6" name="TextBox 50"/>
          <p:cNvSpPr/>
          <p:nvPr/>
        </p:nvSpPr>
        <p:spPr>
          <a:xfrm>
            <a:off x="7040880" y="5440680"/>
            <a:ext cx="11883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a78bfa"/>
                </a:solidFill>
                <a:latin typeface="Segoe UI"/>
              </a:rPr>
              <a:t>P5 Arquitetura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TextBox 51"/>
          <p:cNvSpPr/>
          <p:nvPr/>
        </p:nvSpPr>
        <p:spPr>
          <a:xfrm>
            <a:off x="7040880" y="5760720"/>
            <a:ext cx="11883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1f5f9"/>
                </a:solidFill>
                <a:latin typeface="Segoe UI"/>
              </a:rPr>
              <a:t>15%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Rounded Rectangle 52"/>
          <p:cNvSpPr/>
          <p:nvPr/>
        </p:nvSpPr>
        <p:spPr>
          <a:xfrm>
            <a:off x="8503920" y="5394960"/>
            <a:ext cx="1371240" cy="73116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9" name="TextBox 53"/>
          <p:cNvSpPr/>
          <p:nvPr/>
        </p:nvSpPr>
        <p:spPr>
          <a:xfrm>
            <a:off x="8595360" y="5440680"/>
            <a:ext cx="11883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a78bfa"/>
                </a:solidFill>
                <a:latin typeface="Segoe UI"/>
              </a:rPr>
              <a:t>P6 Dados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TextBox 54"/>
          <p:cNvSpPr/>
          <p:nvPr/>
        </p:nvSpPr>
        <p:spPr>
          <a:xfrm>
            <a:off x="8595360" y="5760720"/>
            <a:ext cx="11883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1f5f9"/>
                </a:solidFill>
                <a:latin typeface="Segoe UI"/>
              </a:rPr>
              <a:t>10%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Rounded Rectangle 55"/>
          <p:cNvSpPr/>
          <p:nvPr/>
        </p:nvSpPr>
        <p:spPr>
          <a:xfrm>
            <a:off x="10058400" y="5394960"/>
            <a:ext cx="1371240" cy="73116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2" name="TextBox 56"/>
          <p:cNvSpPr/>
          <p:nvPr/>
        </p:nvSpPr>
        <p:spPr>
          <a:xfrm>
            <a:off x="10149840" y="5440680"/>
            <a:ext cx="11883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f87171"/>
                </a:solidFill>
                <a:latin typeface="Segoe UI"/>
              </a:rPr>
              <a:t>P7 Segurança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TextBox 57"/>
          <p:cNvSpPr/>
          <p:nvPr/>
        </p:nvSpPr>
        <p:spPr>
          <a:xfrm>
            <a:off x="10149840" y="5760720"/>
            <a:ext cx="11883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1f5f9"/>
                </a:solidFill>
                <a:latin typeface="Segoe UI"/>
              </a:rPr>
              <a:t>10%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Picture 1" descr="gca-logo-200.png"/>
          <p:cNvPicPr/>
          <p:nvPr/>
        </p:nvPicPr>
        <p:blipFill>
          <a:blip r:embed="rId1"/>
          <a:stretch/>
        </p:blipFill>
        <p:spPr>
          <a:xfrm>
            <a:off x="457200" y="274320"/>
            <a:ext cx="1096920" cy="734760"/>
          </a:xfrm>
          <a:prstGeom prst="rect">
            <a:avLst/>
          </a:prstGeom>
          <a:ln w="0">
            <a:noFill/>
          </a:ln>
        </p:spPr>
      </p:pic>
      <p:sp>
        <p:nvSpPr>
          <p:cNvPr id="165" name="TextBox 2"/>
          <p:cNvSpPr/>
          <p:nvPr/>
        </p:nvSpPr>
        <p:spPr>
          <a:xfrm>
            <a:off x="457200" y="274320"/>
            <a:ext cx="7314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a78bfa"/>
                </a:solidFill>
                <a:latin typeface="Segoe UI"/>
              </a:rPr>
              <a:t>OCG — Objeto de Contexto Global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TextBox 3"/>
          <p:cNvSpPr/>
          <p:nvPr/>
        </p:nvSpPr>
        <p:spPr>
          <a:xfrm>
            <a:off x="731520" y="914400"/>
            <a:ext cx="105152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1f5f9"/>
                </a:solidFill>
                <a:latin typeface="Segoe UI"/>
              </a:rPr>
              <a:t>A inteligência viva do seu projeto</a:t>
            </a:r>
            <a:endParaRPr b="0" lang="pt-BR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TextBox 4"/>
          <p:cNvSpPr/>
          <p:nvPr/>
        </p:nvSpPr>
        <p:spPr>
          <a:xfrm>
            <a:off x="731520" y="1828800"/>
            <a:ext cx="10058040" cy="77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94a3b8"/>
                </a:solidFill>
                <a:latin typeface="Segoe UI"/>
              </a:rPr>
              <a:t>O OCG não é um documento estático. É um objeto de estado evolutivo orientado a eventos. Ele expande com boa ingestão de dados e contrai com dados ruins ou conflitantes. Nenhum módulo opera sem antes ler o OCG.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Rounded Rectangle 5"/>
          <p:cNvSpPr/>
          <p:nvPr/>
        </p:nvSpPr>
        <p:spPr>
          <a:xfrm>
            <a:off x="731520" y="3017520"/>
            <a:ext cx="5028840" cy="6397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9" name="TextBox 6"/>
          <p:cNvSpPr/>
          <p:nvPr/>
        </p:nvSpPr>
        <p:spPr>
          <a:xfrm>
            <a:off x="1005840" y="3108960"/>
            <a:ext cx="22856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a78bfa"/>
                </a:solidFill>
                <a:latin typeface="Segoe UI"/>
              </a:rPr>
              <a:t>Perfil do Projeto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TextBox 7"/>
          <p:cNvSpPr/>
          <p:nvPr/>
        </p:nvSpPr>
        <p:spPr>
          <a:xfrm>
            <a:off x="1005840" y="3364920"/>
            <a:ext cx="43887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Nome, tipo, criticidade, arquitetura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Rounded Rectangle 8"/>
          <p:cNvSpPr/>
          <p:nvPr/>
        </p:nvSpPr>
        <p:spPr>
          <a:xfrm>
            <a:off x="6217920" y="3017520"/>
            <a:ext cx="5028840" cy="6397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2" name="TextBox 9"/>
          <p:cNvSpPr/>
          <p:nvPr/>
        </p:nvSpPr>
        <p:spPr>
          <a:xfrm>
            <a:off x="6492240" y="3108960"/>
            <a:ext cx="22856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a78bfa"/>
                </a:solidFill>
                <a:latin typeface="Segoe UI"/>
              </a:rPr>
              <a:t>Stack Recomendada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TextBox 10"/>
          <p:cNvSpPr/>
          <p:nvPr/>
        </p:nvSpPr>
        <p:spPr>
          <a:xfrm>
            <a:off x="6492240" y="3364920"/>
            <a:ext cx="43887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Frontend, backend, banco, cache, infra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Rounded Rectangle 11"/>
          <p:cNvSpPr/>
          <p:nvPr/>
        </p:nvSpPr>
        <p:spPr>
          <a:xfrm>
            <a:off x="731520" y="3840480"/>
            <a:ext cx="5028840" cy="6397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5" name="TextBox 12"/>
          <p:cNvSpPr/>
          <p:nvPr/>
        </p:nvSpPr>
        <p:spPr>
          <a:xfrm>
            <a:off x="1005840" y="3931920"/>
            <a:ext cx="22856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a78bfa"/>
                </a:solidFill>
                <a:latin typeface="Segoe UI"/>
              </a:rPr>
              <a:t>Scores por Pilar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TextBox 13"/>
          <p:cNvSpPr/>
          <p:nvPr/>
        </p:nvSpPr>
        <p:spPr>
          <a:xfrm>
            <a:off x="1005840" y="4187880"/>
            <a:ext cx="43887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7 pilares com pontuação e findings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Rounded Rectangle 14"/>
          <p:cNvSpPr/>
          <p:nvPr/>
        </p:nvSpPr>
        <p:spPr>
          <a:xfrm>
            <a:off x="6217920" y="3840480"/>
            <a:ext cx="5028840" cy="6397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8" name="TextBox 15"/>
          <p:cNvSpPr/>
          <p:nvPr/>
        </p:nvSpPr>
        <p:spPr>
          <a:xfrm>
            <a:off x="6492240" y="3931920"/>
            <a:ext cx="22856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a78bfa"/>
                </a:solidFill>
                <a:latin typeface="Segoe UI"/>
              </a:rPr>
              <a:t>Compliance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TextBox 16"/>
          <p:cNvSpPr/>
          <p:nvPr/>
        </p:nvSpPr>
        <p:spPr>
          <a:xfrm>
            <a:off x="6492240" y="4187880"/>
            <a:ext cx="43887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LGPD, GDPR, auditoria, PCI-DSS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Rounded Rectangle 17"/>
          <p:cNvSpPr/>
          <p:nvPr/>
        </p:nvSpPr>
        <p:spPr>
          <a:xfrm>
            <a:off x="731520" y="4663440"/>
            <a:ext cx="5028840" cy="6397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1" name="TextBox 18"/>
          <p:cNvSpPr/>
          <p:nvPr/>
        </p:nvSpPr>
        <p:spPr>
          <a:xfrm>
            <a:off x="1005840" y="4754880"/>
            <a:ext cx="22856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a78bfa"/>
                </a:solidFill>
                <a:latin typeface="Segoe UI"/>
              </a:rPr>
              <a:t>Estratégia de Testes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TextBox 19"/>
          <p:cNvSpPr/>
          <p:nvPr/>
        </p:nvSpPr>
        <p:spPr>
          <a:xfrm>
            <a:off x="1005840" y="5010840"/>
            <a:ext cx="43887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Unitários, integração, E2E, segurança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Rounded Rectangle 20"/>
          <p:cNvSpPr/>
          <p:nvPr/>
        </p:nvSpPr>
        <p:spPr>
          <a:xfrm>
            <a:off x="6217920" y="4663440"/>
            <a:ext cx="5028840" cy="6397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4" name="TextBox 21"/>
          <p:cNvSpPr/>
          <p:nvPr/>
        </p:nvSpPr>
        <p:spPr>
          <a:xfrm>
            <a:off x="6492240" y="4754880"/>
            <a:ext cx="22856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a78bfa"/>
                </a:solidFill>
                <a:latin typeface="Segoe UI"/>
              </a:rPr>
              <a:t>Análise de Riscos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TextBox 22"/>
          <p:cNvSpPr/>
          <p:nvPr/>
        </p:nvSpPr>
        <p:spPr>
          <a:xfrm>
            <a:off x="6492240" y="5010840"/>
            <a:ext cx="43887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Alto, médio, baixo com mitigações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Rounded Rectangle 23"/>
          <p:cNvSpPr/>
          <p:nvPr/>
        </p:nvSpPr>
        <p:spPr>
          <a:xfrm>
            <a:off x="731520" y="5486400"/>
            <a:ext cx="5028840" cy="6397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7" name="TextBox 24"/>
          <p:cNvSpPr/>
          <p:nvPr/>
        </p:nvSpPr>
        <p:spPr>
          <a:xfrm>
            <a:off x="1005840" y="5577840"/>
            <a:ext cx="22856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a78bfa"/>
                </a:solidFill>
                <a:latin typeface="Segoe UI"/>
              </a:rPr>
              <a:t>Entregáveis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TextBox 25"/>
          <p:cNvSpPr/>
          <p:nvPr/>
        </p:nvSpPr>
        <p:spPr>
          <a:xfrm>
            <a:off x="1005840" y="5833800"/>
            <a:ext cx="43887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Lista do que o projeto deve entregar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Rounded Rectangle 26"/>
          <p:cNvSpPr/>
          <p:nvPr/>
        </p:nvSpPr>
        <p:spPr>
          <a:xfrm>
            <a:off x="6217920" y="5486400"/>
            <a:ext cx="5028840" cy="6397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0" name="TextBox 27"/>
          <p:cNvSpPr/>
          <p:nvPr/>
        </p:nvSpPr>
        <p:spPr>
          <a:xfrm>
            <a:off x="6492240" y="5577840"/>
            <a:ext cx="22856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a78bfa"/>
                </a:solidFill>
                <a:latin typeface="Segoe UI"/>
              </a:rPr>
              <a:t>Status de Aprovação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TextBox 28"/>
          <p:cNvSpPr/>
          <p:nvPr/>
        </p:nvSpPr>
        <p:spPr>
          <a:xfrm>
            <a:off x="6492240" y="5833800"/>
            <a:ext cx="43887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READY, NEEDS_REVIEW, AT_RISK, BLOCKED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Picture 1" descr="gca-logo-200.png"/>
          <p:cNvPicPr/>
          <p:nvPr/>
        </p:nvPicPr>
        <p:blipFill>
          <a:blip r:embed="rId1"/>
          <a:stretch/>
        </p:blipFill>
        <p:spPr>
          <a:xfrm>
            <a:off x="457200" y="274320"/>
            <a:ext cx="1096920" cy="734760"/>
          </a:xfrm>
          <a:prstGeom prst="rect">
            <a:avLst/>
          </a:prstGeom>
          <a:ln w="0">
            <a:noFill/>
          </a:ln>
        </p:spPr>
      </p:pic>
      <p:sp>
        <p:nvSpPr>
          <p:cNvPr id="193" name="TextBox 2"/>
          <p:cNvSpPr/>
          <p:nvPr/>
        </p:nvSpPr>
        <p:spPr>
          <a:xfrm>
            <a:off x="457200" y="274320"/>
            <a:ext cx="7314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a78bfa"/>
                </a:solidFill>
                <a:latin typeface="Segoe UI"/>
              </a:rPr>
              <a:t>Funcionalidades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TextBox 3"/>
          <p:cNvSpPr/>
          <p:nvPr/>
        </p:nvSpPr>
        <p:spPr>
          <a:xfrm>
            <a:off x="731520" y="914400"/>
            <a:ext cx="105152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f1f5f9"/>
                </a:solidFill>
                <a:latin typeface="Segoe UI"/>
              </a:rPr>
              <a:t>Tudo o que você precisa para governar projetos de software</a:t>
            </a:r>
            <a:endParaRPr b="0" lang="pt-BR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Rounded Rectangle 4"/>
          <p:cNvSpPr/>
          <p:nvPr/>
        </p:nvSpPr>
        <p:spPr>
          <a:xfrm>
            <a:off x="457200" y="1645920"/>
            <a:ext cx="3565800" cy="100548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6" name="TextBox 5"/>
          <p:cNvSpPr/>
          <p:nvPr/>
        </p:nvSpPr>
        <p:spPr>
          <a:xfrm>
            <a:off x="640080" y="1737360"/>
            <a:ext cx="3200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34d399"/>
                </a:solidFill>
                <a:latin typeface="Segoe UI"/>
              </a:rPr>
              <a:t>Questionário Externo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TextBox 6"/>
          <p:cNvSpPr/>
          <p:nvPr/>
        </p:nvSpPr>
        <p:spPr>
          <a:xfrm>
            <a:off x="640080" y="2057400"/>
            <a:ext cx="320004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94a3b8"/>
                </a:solidFill>
                <a:latin typeface="Segoe UI"/>
              </a:rPr>
              <a:t>49 perguntas em 8 blocos com validação automática e score de aderência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Rounded Rectangle 7"/>
          <p:cNvSpPr/>
          <p:nvPr/>
        </p:nvSpPr>
        <p:spPr>
          <a:xfrm>
            <a:off x="4297680" y="1645920"/>
            <a:ext cx="3565800" cy="100548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9" name="TextBox 8"/>
          <p:cNvSpPr/>
          <p:nvPr/>
        </p:nvSpPr>
        <p:spPr>
          <a:xfrm>
            <a:off x="4480560" y="1737360"/>
            <a:ext cx="3200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34d399"/>
                </a:solidFill>
                <a:latin typeface="Segoe UI"/>
              </a:rPr>
              <a:t>Repositório do Projeto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TextBox 9"/>
          <p:cNvSpPr/>
          <p:nvPr/>
        </p:nvSpPr>
        <p:spPr>
          <a:xfrm>
            <a:off x="4480560" y="2057400"/>
            <a:ext cx="320004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94a3b8"/>
                </a:solidFill>
                <a:latin typeface="Segoe UI"/>
              </a:rPr>
              <a:t>Integração Git (GitHub/GitLab/Bitbucket) — bloqueante sem configuração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Rounded Rectangle 10"/>
          <p:cNvSpPr/>
          <p:nvPr/>
        </p:nvSpPr>
        <p:spPr>
          <a:xfrm>
            <a:off x="8138160" y="1645920"/>
            <a:ext cx="3565800" cy="100548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2" name="TextBox 11"/>
          <p:cNvSpPr/>
          <p:nvPr/>
        </p:nvSpPr>
        <p:spPr>
          <a:xfrm>
            <a:off x="8321040" y="1737360"/>
            <a:ext cx="3200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34d399"/>
                </a:solidFill>
                <a:latin typeface="Segoe UI"/>
              </a:rPr>
              <a:t>Repositórios Externos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TextBox 12"/>
          <p:cNvSpPr/>
          <p:nvPr/>
        </p:nvSpPr>
        <p:spPr>
          <a:xfrm>
            <a:off x="8321040" y="2057400"/>
            <a:ext cx="320004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94a3b8"/>
                </a:solidFill>
                <a:latin typeface="Segoe UI"/>
              </a:rPr>
              <a:t>Leitura read-only de repos de terceiros para enriquecer o OCG via IA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Rounded Rectangle 13"/>
          <p:cNvSpPr/>
          <p:nvPr/>
        </p:nvSpPr>
        <p:spPr>
          <a:xfrm>
            <a:off x="457200" y="2834640"/>
            <a:ext cx="3565800" cy="100548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5" name="TextBox 14"/>
          <p:cNvSpPr/>
          <p:nvPr/>
        </p:nvSpPr>
        <p:spPr>
          <a:xfrm>
            <a:off x="640080" y="2926080"/>
            <a:ext cx="3200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34d399"/>
                </a:solidFill>
                <a:latin typeface="Segoe UI"/>
              </a:rPr>
              <a:t>Ingestão de Documentos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TextBox 15"/>
          <p:cNvSpPr/>
          <p:nvPr/>
        </p:nvSpPr>
        <p:spPr>
          <a:xfrm>
            <a:off x="640080" y="3246120"/>
            <a:ext cx="320004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94a3b8"/>
                </a:solidFill>
                <a:latin typeface="Segoe UI"/>
              </a:rPr>
              <a:t>Upload com detecção de PII, quarentena, hash SHA256, categorização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Rounded Rectangle 16"/>
          <p:cNvSpPr/>
          <p:nvPr/>
        </p:nvSpPr>
        <p:spPr>
          <a:xfrm>
            <a:off x="4297680" y="2834640"/>
            <a:ext cx="3565800" cy="100548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8" name="TextBox 17"/>
          <p:cNvSpPr/>
          <p:nvPr/>
        </p:nvSpPr>
        <p:spPr>
          <a:xfrm>
            <a:off x="4480560" y="2926080"/>
            <a:ext cx="3200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34d399"/>
                </a:solidFill>
                <a:latin typeface="Segoe UI"/>
              </a:rPr>
              <a:t>Gatekeeper — 7 Pilares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TextBox 18"/>
          <p:cNvSpPr/>
          <p:nvPr/>
        </p:nvSpPr>
        <p:spPr>
          <a:xfrm>
            <a:off x="4480560" y="3246120"/>
            <a:ext cx="320004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94a3b8"/>
                </a:solidFill>
                <a:latin typeface="Segoe UI"/>
              </a:rPr>
              <a:t>Avaliação automática com radar chart, findings e status bloqueante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Rounded Rectangle 19"/>
          <p:cNvSpPr/>
          <p:nvPr/>
        </p:nvSpPr>
        <p:spPr>
          <a:xfrm>
            <a:off x="8138160" y="2834640"/>
            <a:ext cx="3565800" cy="100548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1" name="TextBox 20"/>
          <p:cNvSpPr/>
          <p:nvPr/>
        </p:nvSpPr>
        <p:spPr>
          <a:xfrm>
            <a:off x="8321040" y="2926080"/>
            <a:ext cx="3200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34d399"/>
                </a:solidFill>
                <a:latin typeface="Segoe UI"/>
              </a:rPr>
              <a:t>Arguidor Técnico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TextBox 21"/>
          <p:cNvSpPr/>
          <p:nvPr/>
        </p:nvSpPr>
        <p:spPr>
          <a:xfrm>
            <a:off x="8321040" y="3246120"/>
            <a:ext cx="320004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94a3b8"/>
                </a:solidFill>
                <a:latin typeface="Segoe UI"/>
              </a:rPr>
              <a:t>Identifica gaps, show-stoppers e lacunas — solicita complementação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Rounded Rectangle 22"/>
          <p:cNvSpPr/>
          <p:nvPr/>
        </p:nvSpPr>
        <p:spPr>
          <a:xfrm>
            <a:off x="457200" y="4023360"/>
            <a:ext cx="3565800" cy="100548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4" name="TextBox 23"/>
          <p:cNvSpPr/>
          <p:nvPr/>
        </p:nvSpPr>
        <p:spPr>
          <a:xfrm>
            <a:off x="640080" y="4114800"/>
            <a:ext cx="3200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34d399"/>
                </a:solidFill>
                <a:latin typeface="Segoe UI"/>
              </a:rPr>
              <a:t>Geração de Código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TextBox 24"/>
          <p:cNvSpPr/>
          <p:nvPr/>
        </p:nvSpPr>
        <p:spPr>
          <a:xfrm>
            <a:off x="640080" y="4434840"/>
            <a:ext cx="320004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94a3b8"/>
                </a:solidFill>
                <a:latin typeface="Segoe UI"/>
              </a:rPr>
              <a:t>IA gera código baseado no OCG, GP revisa e aprova, testes automáticos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Rounded Rectangle 25"/>
          <p:cNvSpPr/>
          <p:nvPr/>
        </p:nvSpPr>
        <p:spPr>
          <a:xfrm>
            <a:off x="4297680" y="4023360"/>
            <a:ext cx="3565800" cy="100548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7" name="TextBox 26"/>
          <p:cNvSpPr/>
          <p:nvPr/>
        </p:nvSpPr>
        <p:spPr>
          <a:xfrm>
            <a:off x="4480560" y="4114800"/>
            <a:ext cx="3200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34d399"/>
                </a:solidFill>
                <a:latin typeface="Segoe UI"/>
              </a:rPr>
              <a:t>Backlog Vivo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TextBox 27"/>
          <p:cNvSpPr/>
          <p:nvPr/>
        </p:nvSpPr>
        <p:spPr>
          <a:xfrm>
            <a:off x="4480560" y="4434840"/>
            <a:ext cx="320004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94a3b8"/>
                </a:solidFill>
                <a:latin typeface="Segoe UI"/>
              </a:rPr>
              <a:t>Derivado do OCG — regenera automaticamente quando o contexto muda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Rounded Rectangle 28"/>
          <p:cNvSpPr/>
          <p:nvPr/>
        </p:nvSpPr>
        <p:spPr>
          <a:xfrm>
            <a:off x="8138160" y="4023360"/>
            <a:ext cx="3565800" cy="100548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0" name="TextBox 29"/>
          <p:cNvSpPr/>
          <p:nvPr/>
        </p:nvSpPr>
        <p:spPr>
          <a:xfrm>
            <a:off x="8321040" y="4114800"/>
            <a:ext cx="3200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34d399"/>
                </a:solidFill>
                <a:latin typeface="Segoe UI"/>
              </a:rPr>
              <a:t>Documentação Viva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TextBox 30"/>
          <p:cNvSpPr/>
          <p:nvPr/>
        </p:nvSpPr>
        <p:spPr>
          <a:xfrm>
            <a:off x="8321040" y="4434840"/>
            <a:ext cx="320004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94a3b8"/>
                </a:solidFill>
                <a:latin typeface="Segoe UI"/>
              </a:rPr>
              <a:t>Gerada e atualizada automaticamente do OCG do projeto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Rounded Rectangle 31"/>
          <p:cNvSpPr/>
          <p:nvPr/>
        </p:nvSpPr>
        <p:spPr>
          <a:xfrm>
            <a:off x="457200" y="5212080"/>
            <a:ext cx="3565800" cy="100548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3" name="TextBox 32"/>
          <p:cNvSpPr/>
          <p:nvPr/>
        </p:nvSpPr>
        <p:spPr>
          <a:xfrm>
            <a:off x="640080" y="5303520"/>
            <a:ext cx="3200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34d399"/>
                </a:solidFill>
                <a:latin typeface="Segoe UI"/>
              </a:rPr>
              <a:t>Billing por Projeto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TextBox 33"/>
          <p:cNvSpPr/>
          <p:nvPr/>
        </p:nvSpPr>
        <p:spPr>
          <a:xfrm>
            <a:off x="640080" y="5623560"/>
            <a:ext cx="320004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94a3b8"/>
                </a:solidFill>
                <a:latin typeface="Segoe UI"/>
              </a:rPr>
              <a:t>Custo de IA em USD por projeto, operação e provedor — transparência total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Rounded Rectangle 34"/>
          <p:cNvSpPr/>
          <p:nvPr/>
        </p:nvSpPr>
        <p:spPr>
          <a:xfrm>
            <a:off x="4297680" y="5212080"/>
            <a:ext cx="3565800" cy="100548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6" name="TextBox 35"/>
          <p:cNvSpPr/>
          <p:nvPr/>
        </p:nvSpPr>
        <p:spPr>
          <a:xfrm>
            <a:off x="4480560" y="5303520"/>
            <a:ext cx="3200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34d399"/>
                </a:solidFill>
                <a:latin typeface="Segoe UI"/>
              </a:rPr>
              <a:t>Auditoria Hash Chain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TextBox 36"/>
          <p:cNvSpPr/>
          <p:nvPr/>
        </p:nvSpPr>
        <p:spPr>
          <a:xfrm>
            <a:off x="4480560" y="5623560"/>
            <a:ext cx="320004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94a3b8"/>
                </a:solidFill>
                <a:latin typeface="Segoe UI"/>
              </a:rPr>
              <a:t>Trilha imutável com hash encadeado, correlation_id, 27 tipos de evento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Rounded Rectangle 37"/>
          <p:cNvSpPr/>
          <p:nvPr/>
        </p:nvSpPr>
        <p:spPr>
          <a:xfrm>
            <a:off x="8138160" y="5212080"/>
            <a:ext cx="3565800" cy="100548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9" name="TextBox 38"/>
          <p:cNvSpPr/>
          <p:nvPr/>
        </p:nvSpPr>
        <p:spPr>
          <a:xfrm>
            <a:off x="8321040" y="5303520"/>
            <a:ext cx="3200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34d399"/>
                </a:solidFill>
                <a:latin typeface="Segoe UI"/>
              </a:rPr>
              <a:t>RBAC Compartimentalizado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TextBox 39"/>
          <p:cNvSpPr/>
          <p:nvPr/>
        </p:nvSpPr>
        <p:spPr>
          <a:xfrm>
            <a:off x="8321040" y="5623560"/>
            <a:ext cx="320004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94a3b8"/>
                </a:solidFill>
                <a:latin typeface="Segoe UI"/>
              </a:rPr>
              <a:t>8 papéis, cada projeto isolado, chaves IA separadas Admin vs Projeto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Picture 1" descr="gca-logo-200.png"/>
          <p:cNvPicPr/>
          <p:nvPr/>
        </p:nvPicPr>
        <p:blipFill>
          <a:blip r:embed="rId1"/>
          <a:stretch/>
        </p:blipFill>
        <p:spPr>
          <a:xfrm>
            <a:off x="457200" y="274320"/>
            <a:ext cx="1096920" cy="734760"/>
          </a:xfrm>
          <a:prstGeom prst="rect">
            <a:avLst/>
          </a:prstGeom>
          <a:ln w="0">
            <a:noFill/>
          </a:ln>
        </p:spPr>
      </p:pic>
      <p:sp>
        <p:nvSpPr>
          <p:cNvPr id="232" name="TextBox 2"/>
          <p:cNvSpPr/>
          <p:nvPr/>
        </p:nvSpPr>
        <p:spPr>
          <a:xfrm>
            <a:off x="457200" y="274320"/>
            <a:ext cx="7314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a78bfa"/>
                </a:solidFill>
                <a:latin typeface="Segoe UI"/>
              </a:rPr>
              <a:t>Stack Tecnológica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TextBox 3"/>
          <p:cNvSpPr/>
          <p:nvPr/>
        </p:nvSpPr>
        <p:spPr>
          <a:xfrm>
            <a:off x="731520" y="914400"/>
            <a:ext cx="105152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f1f5f9"/>
                </a:solidFill>
                <a:latin typeface="Segoe UI"/>
              </a:rPr>
              <a:t>Construído com tecnologias modernas e escaláveis</a:t>
            </a:r>
            <a:endParaRPr b="0" lang="pt-BR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Rounded Rectangle 4"/>
          <p:cNvSpPr/>
          <p:nvPr/>
        </p:nvSpPr>
        <p:spPr>
          <a:xfrm>
            <a:off x="457200" y="1737360"/>
            <a:ext cx="2651400" cy="20113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5" name="TextBox 5"/>
          <p:cNvSpPr/>
          <p:nvPr/>
        </p:nvSpPr>
        <p:spPr>
          <a:xfrm>
            <a:off x="640080" y="1920240"/>
            <a:ext cx="22856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7c3aed"/>
                </a:solidFill>
                <a:latin typeface="Segoe UI"/>
              </a:rPr>
              <a:t>Backend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TextBox 6"/>
          <p:cNvSpPr/>
          <p:nvPr/>
        </p:nvSpPr>
        <p:spPr>
          <a:xfrm>
            <a:off x="640080" y="2377440"/>
            <a:ext cx="228564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Python 3.11 + FastAPI</a:t>
            </a:r>
            <a:br>
              <a:rPr sz="1100"/>
            </a:b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41 serviços, 24 routers</a:t>
            </a:r>
            <a:br>
              <a:rPr sz="1100"/>
            </a:b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SQLAlchemy async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Rounded Rectangle 7"/>
          <p:cNvSpPr/>
          <p:nvPr/>
        </p:nvSpPr>
        <p:spPr>
          <a:xfrm>
            <a:off x="3291840" y="1737360"/>
            <a:ext cx="2651400" cy="20113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8" name="TextBox 8"/>
          <p:cNvSpPr/>
          <p:nvPr/>
        </p:nvSpPr>
        <p:spPr>
          <a:xfrm>
            <a:off x="3474720" y="1920240"/>
            <a:ext cx="22856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60a5fa"/>
                </a:solidFill>
                <a:latin typeface="Segoe UI"/>
              </a:rPr>
              <a:t>Frontend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TextBox 9"/>
          <p:cNvSpPr/>
          <p:nvPr/>
        </p:nvSpPr>
        <p:spPr>
          <a:xfrm>
            <a:off x="3474720" y="2377440"/>
            <a:ext cx="228564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React 18 + TypeScript</a:t>
            </a:r>
            <a:br>
              <a:rPr sz="1100"/>
            </a:b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Vite + Tailwind CSS</a:t>
            </a:r>
            <a:br>
              <a:rPr sz="1100"/>
            </a:b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28 páginas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Rounded Rectangle 10"/>
          <p:cNvSpPr/>
          <p:nvPr/>
        </p:nvSpPr>
        <p:spPr>
          <a:xfrm>
            <a:off x="6126480" y="1737360"/>
            <a:ext cx="2651400" cy="20113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1" name="TextBox 11"/>
          <p:cNvSpPr/>
          <p:nvPr/>
        </p:nvSpPr>
        <p:spPr>
          <a:xfrm>
            <a:off x="6309360" y="1920240"/>
            <a:ext cx="22856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34d399"/>
                </a:solidFill>
                <a:latin typeface="Segoe UI"/>
              </a:rPr>
              <a:t>Banco de Dados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TextBox 12"/>
          <p:cNvSpPr/>
          <p:nvPr/>
        </p:nvSpPr>
        <p:spPr>
          <a:xfrm>
            <a:off x="6309360" y="2377440"/>
            <a:ext cx="228564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PostgreSQL 16</a:t>
            </a:r>
            <a:br>
              <a:rPr sz="1100"/>
            </a:b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50+ tabelas</a:t>
            </a:r>
            <a:br>
              <a:rPr sz="1100"/>
            </a:b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Migrations SQL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Rounded Rectangle 13"/>
          <p:cNvSpPr/>
          <p:nvPr/>
        </p:nvSpPr>
        <p:spPr>
          <a:xfrm>
            <a:off x="8961120" y="1737360"/>
            <a:ext cx="2651400" cy="20113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4" name="TextBox 14"/>
          <p:cNvSpPr/>
          <p:nvPr/>
        </p:nvSpPr>
        <p:spPr>
          <a:xfrm>
            <a:off x="9144000" y="1920240"/>
            <a:ext cx="22856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bbf24"/>
                </a:solidFill>
                <a:latin typeface="Segoe UI"/>
              </a:rPr>
              <a:t>Cache &amp; Mensageria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TextBox 15"/>
          <p:cNvSpPr/>
          <p:nvPr/>
        </p:nvSpPr>
        <p:spPr>
          <a:xfrm>
            <a:off x="9144000" y="2377440"/>
            <a:ext cx="228564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Redis 7</a:t>
            </a:r>
            <a:br>
              <a:rPr sz="1100"/>
            </a:b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Sessões, rate limiting</a:t>
            </a:r>
            <a:br>
              <a:rPr sz="1100"/>
            </a:b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Locks distribuídos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" name="Rounded Rectangle 16"/>
          <p:cNvSpPr/>
          <p:nvPr/>
        </p:nvSpPr>
        <p:spPr>
          <a:xfrm>
            <a:off x="457200" y="4023360"/>
            <a:ext cx="2651400" cy="20113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7" name="TextBox 17"/>
          <p:cNvSpPr/>
          <p:nvPr/>
        </p:nvSpPr>
        <p:spPr>
          <a:xfrm>
            <a:off x="640080" y="4206240"/>
            <a:ext cx="22856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a78bfa"/>
                </a:solidFill>
                <a:latin typeface="Segoe UI"/>
              </a:rPr>
              <a:t>IA Multi-Provider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TextBox 18"/>
          <p:cNvSpPr/>
          <p:nvPr/>
        </p:nvSpPr>
        <p:spPr>
          <a:xfrm>
            <a:off x="640080" y="4663440"/>
            <a:ext cx="228564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DeepSeek, Anthropic</a:t>
            </a:r>
            <a:br>
              <a:rPr sz="1100"/>
            </a:b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OpenAI, Grok, Gemini</a:t>
            </a:r>
            <a:br>
              <a:rPr sz="1100"/>
            </a:b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8 agentes paralelos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Rounded Rectangle 19"/>
          <p:cNvSpPr/>
          <p:nvPr/>
        </p:nvSpPr>
        <p:spPr>
          <a:xfrm>
            <a:off x="3291840" y="4023360"/>
            <a:ext cx="2651400" cy="20113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0" name="TextBox 20"/>
          <p:cNvSpPr/>
          <p:nvPr/>
        </p:nvSpPr>
        <p:spPr>
          <a:xfrm>
            <a:off x="3474720" y="4206240"/>
            <a:ext cx="22856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60a5fa"/>
                </a:solidFill>
                <a:latin typeface="Segoe UI"/>
              </a:rPr>
              <a:t>Automação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TextBox 21"/>
          <p:cNvSpPr/>
          <p:nvPr/>
        </p:nvSpPr>
        <p:spPr>
          <a:xfrm>
            <a:off x="3474720" y="4663440"/>
            <a:ext cx="228564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n8n Workflows</a:t>
            </a:r>
            <a:br>
              <a:rPr sz="1100"/>
            </a:b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4 pipelines</a:t>
            </a:r>
            <a:br>
              <a:rPr sz="1100"/>
            </a:b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Webhooks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Rounded Rectangle 22"/>
          <p:cNvSpPr/>
          <p:nvPr/>
        </p:nvSpPr>
        <p:spPr>
          <a:xfrm>
            <a:off x="6126480" y="4023360"/>
            <a:ext cx="2651400" cy="20113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3" name="TextBox 23"/>
          <p:cNvSpPr/>
          <p:nvPr/>
        </p:nvSpPr>
        <p:spPr>
          <a:xfrm>
            <a:off x="6309360" y="4206240"/>
            <a:ext cx="22856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34d399"/>
                </a:solidFill>
                <a:latin typeface="Segoe UI"/>
              </a:rPr>
              <a:t>Infraestrutura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TextBox 24"/>
          <p:cNvSpPr/>
          <p:nvPr/>
        </p:nvSpPr>
        <p:spPr>
          <a:xfrm>
            <a:off x="6309360" y="4663440"/>
            <a:ext cx="228564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Docker Compose</a:t>
            </a:r>
            <a:br>
              <a:rPr sz="1100"/>
            </a:b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5 serviços</a:t>
            </a:r>
            <a:br>
              <a:rPr sz="1100"/>
            </a:b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Cloudflare Tunnel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" name="Rounded Rectangle 25"/>
          <p:cNvSpPr/>
          <p:nvPr/>
        </p:nvSpPr>
        <p:spPr>
          <a:xfrm>
            <a:off x="8961120" y="4023360"/>
            <a:ext cx="2651400" cy="20113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6" name="TextBox 26"/>
          <p:cNvSpPr/>
          <p:nvPr/>
        </p:nvSpPr>
        <p:spPr>
          <a:xfrm>
            <a:off x="9144000" y="4206240"/>
            <a:ext cx="22856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87171"/>
                </a:solidFill>
                <a:latin typeface="Segoe UI"/>
              </a:rPr>
              <a:t>Segurança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TextBox 27"/>
          <p:cNvSpPr/>
          <p:nvPr/>
        </p:nvSpPr>
        <p:spPr>
          <a:xfrm>
            <a:off x="9144000" y="4663440"/>
            <a:ext cx="228564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JWT RS256, RBAC</a:t>
            </a:r>
            <a:br>
              <a:rPr sz="1100"/>
            </a:b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Vault criptografado</a:t>
            </a:r>
            <a:br>
              <a:rPr sz="1100"/>
            </a:b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Hash chain auditoria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Picture 1" descr="gca-logo-200.png"/>
          <p:cNvPicPr/>
          <p:nvPr/>
        </p:nvPicPr>
        <p:blipFill>
          <a:blip r:embed="rId1"/>
          <a:stretch/>
        </p:blipFill>
        <p:spPr>
          <a:xfrm>
            <a:off x="457200" y="274320"/>
            <a:ext cx="1096920" cy="734760"/>
          </a:xfrm>
          <a:prstGeom prst="rect">
            <a:avLst/>
          </a:prstGeom>
          <a:ln w="0">
            <a:noFill/>
          </a:ln>
        </p:spPr>
      </p:pic>
      <p:sp>
        <p:nvSpPr>
          <p:cNvPr id="259" name="TextBox 2"/>
          <p:cNvSpPr/>
          <p:nvPr/>
        </p:nvSpPr>
        <p:spPr>
          <a:xfrm>
            <a:off x="457200" y="274320"/>
            <a:ext cx="7314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a78bfa"/>
                </a:solidFill>
                <a:latin typeface="Segoe UI"/>
              </a:rPr>
              <a:t>Diferenciais Competitivos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" name="TextBox 3"/>
          <p:cNvSpPr/>
          <p:nvPr/>
        </p:nvSpPr>
        <p:spPr>
          <a:xfrm>
            <a:off x="731520" y="914400"/>
            <a:ext cx="105152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1f5f9"/>
                </a:solidFill>
                <a:latin typeface="Segoe UI"/>
              </a:rPr>
              <a:t>Por que o GCA é diferente</a:t>
            </a:r>
            <a:endParaRPr b="0" lang="pt-BR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Rounded Rectangle 4"/>
          <p:cNvSpPr/>
          <p:nvPr/>
        </p:nvSpPr>
        <p:spPr>
          <a:xfrm>
            <a:off x="731520" y="1645920"/>
            <a:ext cx="10515240" cy="8226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2" name="TextBox 5"/>
          <p:cNvSpPr/>
          <p:nvPr/>
        </p:nvSpPr>
        <p:spPr>
          <a:xfrm>
            <a:off x="1005840" y="1719000"/>
            <a:ext cx="27428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a78bfa"/>
                </a:solidFill>
                <a:latin typeface="Segoe UI"/>
              </a:rPr>
              <a:t>OCG Reativo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TextBox 6"/>
          <p:cNvSpPr/>
          <p:nvPr/>
        </p:nvSpPr>
        <p:spPr>
          <a:xfrm>
            <a:off x="1005840" y="2011680"/>
            <a:ext cx="987516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O contexto do projeto evolui automaticamente com cada documento ingerido. Não é um relatório estático — é inteligência viva que expande ou contrai baseado na qualidade dos dados.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4" name="Rounded Rectangle 7"/>
          <p:cNvSpPr/>
          <p:nvPr/>
        </p:nvSpPr>
        <p:spPr>
          <a:xfrm>
            <a:off x="731520" y="2606040"/>
            <a:ext cx="10515240" cy="8226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5" name="TextBox 8"/>
          <p:cNvSpPr/>
          <p:nvPr/>
        </p:nvSpPr>
        <p:spPr>
          <a:xfrm>
            <a:off x="1005840" y="2679120"/>
            <a:ext cx="27428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60a5fa"/>
                </a:solidFill>
                <a:latin typeface="Segoe UI"/>
              </a:rPr>
              <a:t>IA Agnóstica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TextBox 9"/>
          <p:cNvSpPr/>
          <p:nvPr/>
        </p:nvSpPr>
        <p:spPr>
          <a:xfrm>
            <a:off x="1005840" y="2971800"/>
            <a:ext cx="987516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Suporte a 5 provedores de IA (DeepSeek, Anthropic, OpenAI, Grok, Gemini). O cliente escolhe o provider e modelo. Billing transparente por chamada.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" name="Rounded Rectangle 10"/>
          <p:cNvSpPr/>
          <p:nvPr/>
        </p:nvSpPr>
        <p:spPr>
          <a:xfrm>
            <a:off x="731520" y="3566160"/>
            <a:ext cx="10515240" cy="8226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8" name="TextBox 11"/>
          <p:cNvSpPr/>
          <p:nvPr/>
        </p:nvSpPr>
        <p:spPr>
          <a:xfrm>
            <a:off x="1005840" y="3639240"/>
            <a:ext cx="27428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34d399"/>
                </a:solidFill>
                <a:latin typeface="Segoe UI"/>
              </a:rPr>
              <a:t>Compartimentalização Total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TextBox 12"/>
          <p:cNvSpPr/>
          <p:nvPr/>
        </p:nvSpPr>
        <p:spPr>
          <a:xfrm>
            <a:off x="1005840" y="3931920"/>
            <a:ext cx="98751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Cada projeto é isolado: repositório próprio, chaves IA próprias, equipe própria, OCG próprio. Dados de um projeto nunca afetam outro.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Rounded Rectangle 13"/>
          <p:cNvSpPr/>
          <p:nvPr/>
        </p:nvSpPr>
        <p:spPr>
          <a:xfrm>
            <a:off x="731520" y="4526280"/>
            <a:ext cx="10515240" cy="8226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1" name="TextBox 14"/>
          <p:cNvSpPr/>
          <p:nvPr/>
        </p:nvSpPr>
        <p:spPr>
          <a:xfrm>
            <a:off x="1005840" y="4599360"/>
            <a:ext cx="27428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bbf24"/>
                </a:solidFill>
                <a:latin typeface="Segoe UI"/>
              </a:rPr>
              <a:t>Governança End-to-End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TextBox 15"/>
          <p:cNvSpPr/>
          <p:nvPr/>
        </p:nvSpPr>
        <p:spPr>
          <a:xfrm>
            <a:off x="1005840" y="4892040"/>
            <a:ext cx="98751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Do questionário inicial ao código gerado e testado — cada etapa é rastreada, auditada e versionada com hash chain imutável.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Rounded Rectangle 16"/>
          <p:cNvSpPr/>
          <p:nvPr/>
        </p:nvSpPr>
        <p:spPr>
          <a:xfrm>
            <a:off x="731520" y="5486400"/>
            <a:ext cx="10515240" cy="8226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4" name="TextBox 17"/>
          <p:cNvSpPr/>
          <p:nvPr/>
        </p:nvSpPr>
        <p:spPr>
          <a:xfrm>
            <a:off x="1005840" y="5559480"/>
            <a:ext cx="27428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87171"/>
                </a:solidFill>
                <a:latin typeface="Segoe UI"/>
              </a:rPr>
              <a:t>Código Aberto ao Humano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" name="TextBox 18"/>
          <p:cNvSpPr/>
          <p:nvPr/>
        </p:nvSpPr>
        <p:spPr>
          <a:xfrm>
            <a:off x="1005840" y="5852160"/>
            <a:ext cx="98751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4a3b8"/>
                </a:solidFill>
                <a:latin typeface="Segoe UI"/>
              </a:rPr>
              <a:t>A IA gera, mas o humano decide. Cada módulo de código passa por revisão do GP antes de ser commitado. IA + Humano = qualidade.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Picture 1" descr="gca-logo-200.png"/>
          <p:cNvPicPr/>
          <p:nvPr/>
        </p:nvPicPr>
        <p:blipFill>
          <a:blip r:embed="rId1"/>
          <a:stretch/>
        </p:blipFill>
        <p:spPr>
          <a:xfrm>
            <a:off x="457200" y="274320"/>
            <a:ext cx="1096920" cy="734760"/>
          </a:xfrm>
          <a:prstGeom prst="rect">
            <a:avLst/>
          </a:prstGeom>
          <a:ln w="0">
            <a:noFill/>
          </a:ln>
        </p:spPr>
      </p:pic>
      <p:sp>
        <p:nvSpPr>
          <p:cNvPr id="277" name="TextBox 2"/>
          <p:cNvSpPr/>
          <p:nvPr/>
        </p:nvSpPr>
        <p:spPr>
          <a:xfrm>
            <a:off x="457200" y="274320"/>
            <a:ext cx="7314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a78bfa"/>
                </a:solidFill>
                <a:latin typeface="Segoe UI"/>
              </a:rPr>
              <a:t>Entregáveis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TextBox 3"/>
          <p:cNvSpPr/>
          <p:nvPr/>
        </p:nvSpPr>
        <p:spPr>
          <a:xfrm>
            <a:off x="731520" y="914400"/>
            <a:ext cx="105152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f1f5f9"/>
                </a:solidFill>
                <a:latin typeface="Segoe UI"/>
              </a:rPr>
              <a:t>O que o cliente recebe ao usar o GCA</a:t>
            </a:r>
            <a:endParaRPr b="0" lang="pt-BR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Rounded Rectangle 4"/>
          <p:cNvSpPr/>
          <p:nvPr/>
        </p:nvSpPr>
        <p:spPr>
          <a:xfrm>
            <a:off x="731520" y="1645920"/>
            <a:ext cx="72720" cy="72720"/>
          </a:xfrm>
          <a:prstGeom prst="roundRect">
            <a:avLst>
              <a:gd name="adj" fmla="val 16667"/>
            </a:avLst>
          </a:prstGeom>
          <a:solidFill>
            <a:srgbClr val="34d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1240" bIns="212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0" name="TextBox 5"/>
          <p:cNvSpPr/>
          <p:nvPr/>
        </p:nvSpPr>
        <p:spPr>
          <a:xfrm>
            <a:off x="1005840" y="1572840"/>
            <a:ext cx="502884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94a3b8"/>
                </a:solidFill>
                <a:latin typeface="Segoe UI"/>
              </a:rPr>
              <a:t>OCG completo do projeto com scores de 7 pilares e status de aprovação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Rounded Rectangle 6"/>
          <p:cNvSpPr/>
          <p:nvPr/>
        </p:nvSpPr>
        <p:spPr>
          <a:xfrm>
            <a:off x="6217920" y="1645920"/>
            <a:ext cx="72720" cy="72720"/>
          </a:xfrm>
          <a:prstGeom prst="roundRect">
            <a:avLst>
              <a:gd name="adj" fmla="val 16667"/>
            </a:avLst>
          </a:prstGeom>
          <a:solidFill>
            <a:srgbClr val="34d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1240" bIns="212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2" name="TextBox 7"/>
          <p:cNvSpPr/>
          <p:nvPr/>
        </p:nvSpPr>
        <p:spPr>
          <a:xfrm>
            <a:off x="6492240" y="1572840"/>
            <a:ext cx="502884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94a3b8"/>
                </a:solidFill>
                <a:latin typeface="Segoe UI"/>
              </a:rPr>
              <a:t>Análise de stack tecnológica recomendada com justificativa por camada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" name="Rounded Rectangle 8"/>
          <p:cNvSpPr/>
          <p:nvPr/>
        </p:nvSpPr>
        <p:spPr>
          <a:xfrm>
            <a:off x="731520" y="2514600"/>
            <a:ext cx="72720" cy="72720"/>
          </a:xfrm>
          <a:prstGeom prst="roundRect">
            <a:avLst>
              <a:gd name="adj" fmla="val 16667"/>
            </a:avLst>
          </a:prstGeom>
          <a:solidFill>
            <a:srgbClr val="34d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1240" bIns="212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4" name="TextBox 9"/>
          <p:cNvSpPr/>
          <p:nvPr/>
        </p:nvSpPr>
        <p:spPr>
          <a:xfrm>
            <a:off x="1005840" y="2441520"/>
            <a:ext cx="502884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94a3b8"/>
                </a:solidFill>
                <a:latin typeface="Segoe UI"/>
              </a:rPr>
              <a:t>Checklist de conformidade (LGPD, GDPR, PCI-DSS) com responsáveis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Rounded Rectangle 10"/>
          <p:cNvSpPr/>
          <p:nvPr/>
        </p:nvSpPr>
        <p:spPr>
          <a:xfrm>
            <a:off x="6217920" y="2514600"/>
            <a:ext cx="72720" cy="72720"/>
          </a:xfrm>
          <a:prstGeom prst="roundRect">
            <a:avLst>
              <a:gd name="adj" fmla="val 16667"/>
            </a:avLst>
          </a:prstGeom>
          <a:solidFill>
            <a:srgbClr val="34d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1240" bIns="212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6" name="TextBox 11"/>
          <p:cNvSpPr/>
          <p:nvPr/>
        </p:nvSpPr>
        <p:spPr>
          <a:xfrm>
            <a:off x="6492240" y="2441520"/>
            <a:ext cx="50288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94a3b8"/>
                </a:solidFill>
                <a:latin typeface="Segoe UI"/>
              </a:rPr>
              <a:t>Análise de riscos com mitigações e responsáveis atribuídos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" name="Rounded Rectangle 12"/>
          <p:cNvSpPr/>
          <p:nvPr/>
        </p:nvSpPr>
        <p:spPr>
          <a:xfrm>
            <a:off x="731520" y="3383280"/>
            <a:ext cx="72720" cy="72720"/>
          </a:xfrm>
          <a:prstGeom prst="roundRect">
            <a:avLst>
              <a:gd name="adj" fmla="val 16667"/>
            </a:avLst>
          </a:prstGeom>
          <a:solidFill>
            <a:srgbClr val="34d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1240" bIns="212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8" name="TextBox 13"/>
          <p:cNvSpPr/>
          <p:nvPr/>
        </p:nvSpPr>
        <p:spPr>
          <a:xfrm>
            <a:off x="1005840" y="3310200"/>
            <a:ext cx="502884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94a3b8"/>
                </a:solidFill>
                <a:latin typeface="Segoe UI"/>
              </a:rPr>
              <a:t>Backlog vivo com itens priorizados por categoria (módulos, testes, compliance)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Rounded Rectangle 14"/>
          <p:cNvSpPr/>
          <p:nvPr/>
        </p:nvSpPr>
        <p:spPr>
          <a:xfrm>
            <a:off x="6217920" y="3383280"/>
            <a:ext cx="72720" cy="72720"/>
          </a:xfrm>
          <a:prstGeom prst="roundRect">
            <a:avLst>
              <a:gd name="adj" fmla="val 16667"/>
            </a:avLst>
          </a:prstGeom>
          <a:solidFill>
            <a:srgbClr val="34d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1240" bIns="212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0" name="TextBox 15"/>
          <p:cNvSpPr/>
          <p:nvPr/>
        </p:nvSpPr>
        <p:spPr>
          <a:xfrm>
            <a:off x="6492240" y="3310200"/>
            <a:ext cx="502884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94a3b8"/>
                </a:solidFill>
                <a:latin typeface="Segoe UI"/>
              </a:rPr>
              <a:t>Código gerado por IA, revisado pelo GP, com testes unitários automáticos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" name="Rounded Rectangle 16"/>
          <p:cNvSpPr/>
          <p:nvPr/>
        </p:nvSpPr>
        <p:spPr>
          <a:xfrm>
            <a:off x="731520" y="4251960"/>
            <a:ext cx="72720" cy="72720"/>
          </a:xfrm>
          <a:prstGeom prst="roundRect">
            <a:avLst>
              <a:gd name="adj" fmla="val 16667"/>
            </a:avLst>
          </a:prstGeom>
          <a:solidFill>
            <a:srgbClr val="34d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1240" bIns="212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2" name="TextBox 17"/>
          <p:cNvSpPr/>
          <p:nvPr/>
        </p:nvSpPr>
        <p:spPr>
          <a:xfrm>
            <a:off x="1005840" y="4178880"/>
            <a:ext cx="502884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94a3b8"/>
                </a:solidFill>
                <a:latin typeface="Segoe UI"/>
              </a:rPr>
              <a:t>Documentação viva que se atualiza automaticamente com o OCG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" name="Rounded Rectangle 18"/>
          <p:cNvSpPr/>
          <p:nvPr/>
        </p:nvSpPr>
        <p:spPr>
          <a:xfrm>
            <a:off x="6217920" y="4251960"/>
            <a:ext cx="72720" cy="72720"/>
          </a:xfrm>
          <a:prstGeom prst="roundRect">
            <a:avLst>
              <a:gd name="adj" fmla="val 16667"/>
            </a:avLst>
          </a:prstGeom>
          <a:solidFill>
            <a:srgbClr val="34d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1240" bIns="212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4" name="TextBox 19"/>
          <p:cNvSpPr/>
          <p:nvPr/>
        </p:nvSpPr>
        <p:spPr>
          <a:xfrm>
            <a:off x="6492240" y="4178880"/>
            <a:ext cx="502884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94a3b8"/>
                </a:solidFill>
                <a:latin typeface="Segoe UI"/>
              </a:rPr>
              <a:t>Trilha de auditoria completa com hash chain (rastreabilidade total)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" name="Rounded Rectangle 20"/>
          <p:cNvSpPr/>
          <p:nvPr/>
        </p:nvSpPr>
        <p:spPr>
          <a:xfrm>
            <a:off x="731520" y="5120640"/>
            <a:ext cx="72720" cy="72720"/>
          </a:xfrm>
          <a:prstGeom prst="roundRect">
            <a:avLst>
              <a:gd name="adj" fmla="val 16667"/>
            </a:avLst>
          </a:prstGeom>
          <a:solidFill>
            <a:srgbClr val="34d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1240" bIns="212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6" name="TextBox 21"/>
          <p:cNvSpPr/>
          <p:nvPr/>
        </p:nvSpPr>
        <p:spPr>
          <a:xfrm>
            <a:off x="1005840" y="5047560"/>
            <a:ext cx="502884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94a3b8"/>
                </a:solidFill>
                <a:latin typeface="Segoe UI"/>
              </a:rPr>
              <a:t>Billing detalhado de uso de IA por projeto (custo, tokens, operações)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" name="Rounded Rectangle 22"/>
          <p:cNvSpPr/>
          <p:nvPr/>
        </p:nvSpPr>
        <p:spPr>
          <a:xfrm>
            <a:off x="6217920" y="5120640"/>
            <a:ext cx="72720" cy="72720"/>
          </a:xfrm>
          <a:prstGeom prst="roundRect">
            <a:avLst>
              <a:gd name="adj" fmla="val 16667"/>
            </a:avLst>
          </a:prstGeom>
          <a:solidFill>
            <a:srgbClr val="34d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1240" bIns="212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8" name="TextBox 23"/>
          <p:cNvSpPr/>
          <p:nvPr/>
        </p:nvSpPr>
        <p:spPr>
          <a:xfrm>
            <a:off x="6492240" y="5047560"/>
            <a:ext cx="502884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94a3b8"/>
                </a:solidFill>
                <a:latin typeface="Segoe UI"/>
              </a:rPr>
              <a:t>Dashboard executivo com radar de pilares, health do contexto e status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Picture 1" descr="gca-logo-200.png"/>
          <p:cNvPicPr/>
          <p:nvPr/>
        </p:nvPicPr>
        <p:blipFill>
          <a:blip r:embed="rId1"/>
          <a:stretch/>
        </p:blipFill>
        <p:spPr>
          <a:xfrm>
            <a:off x="5029200" y="1371600"/>
            <a:ext cx="2102760" cy="1408680"/>
          </a:xfrm>
          <a:prstGeom prst="rect">
            <a:avLst/>
          </a:prstGeom>
          <a:ln w="0">
            <a:noFill/>
          </a:ln>
        </p:spPr>
      </p:pic>
      <p:sp>
        <p:nvSpPr>
          <p:cNvPr id="300" name="TextBox 2"/>
          <p:cNvSpPr/>
          <p:nvPr/>
        </p:nvSpPr>
        <p:spPr>
          <a:xfrm>
            <a:off x="1828800" y="3200400"/>
            <a:ext cx="82292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800" spc="-1" strike="noStrike">
                <a:solidFill>
                  <a:srgbClr val="a78bfa"/>
                </a:solidFill>
                <a:latin typeface="Segoe UI"/>
              </a:rPr>
              <a:t>GCA</a:t>
            </a:r>
            <a:endParaRPr b="0" lang="pt-BR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1" name="TextBox 3"/>
          <p:cNvSpPr/>
          <p:nvPr/>
        </p:nvSpPr>
        <p:spPr>
          <a:xfrm>
            <a:off x="1828800" y="3840480"/>
            <a:ext cx="82292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f1f5f9"/>
                </a:solidFill>
                <a:latin typeface="Segoe UI"/>
              </a:rPr>
              <a:t>Gestão de Codificação Assistida</a:t>
            </a:r>
            <a:endParaRPr b="0" lang="pt-BR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" name="TextBox 4"/>
          <p:cNvSpPr/>
          <p:nvPr/>
        </p:nvSpPr>
        <p:spPr>
          <a:xfrm>
            <a:off x="1828800" y="4572000"/>
            <a:ext cx="82292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94a3b8"/>
                </a:solidFill>
                <a:latin typeface="Segoe UI"/>
              </a:rPr>
              <a:t>Governança inteligente. IA assistida. Código rastreável.</a:t>
            </a:r>
            <a:endParaRPr b="0" lang="pt-B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3" name="TextBox 6"/>
          <p:cNvSpPr/>
          <p:nvPr/>
        </p:nvSpPr>
        <p:spPr>
          <a:xfrm>
            <a:off x="1828800" y="5669280"/>
            <a:ext cx="82292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Segoe UI"/>
              </a:rPr>
              <a:t>GCA Software  •  Luiz Carlos Pielak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TextBox 7"/>
          <p:cNvSpPr/>
          <p:nvPr/>
        </p:nvSpPr>
        <p:spPr>
          <a:xfrm>
            <a:off x="1828800" y="6035040"/>
            <a:ext cx="82292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64748b"/>
                </a:solidFill>
                <a:latin typeface="Segoe UI"/>
              </a:rPr>
              <a:t>pielak.ctba@gmail.com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pt-BR</dc:language>
  <cp:lastModifiedBy/>
  <cp:lastPrinted>2026-04-10T13:07:44Z</cp:lastPrinted>
  <dcterms:modified xsi:type="dcterms:W3CDTF">2026-04-10T13:08:51Z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